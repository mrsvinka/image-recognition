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6"/>
  </p:notesMasterIdLst>
  <p:handoutMasterIdLst>
    <p:handoutMasterId r:id="rId57"/>
  </p:handoutMasterIdLst>
  <p:sldIdLst>
    <p:sldId id="256" r:id="rId5"/>
    <p:sldId id="273" r:id="rId6"/>
    <p:sldId id="371" r:id="rId7"/>
    <p:sldId id="372" r:id="rId8"/>
    <p:sldId id="415" r:id="rId9"/>
    <p:sldId id="416" r:id="rId10"/>
    <p:sldId id="422" r:id="rId11"/>
    <p:sldId id="423" r:id="rId12"/>
    <p:sldId id="417" r:id="rId13"/>
    <p:sldId id="373" r:id="rId14"/>
    <p:sldId id="418" r:id="rId15"/>
    <p:sldId id="419" r:id="rId16"/>
    <p:sldId id="420" r:id="rId17"/>
    <p:sldId id="421" r:id="rId18"/>
    <p:sldId id="374" r:id="rId19"/>
    <p:sldId id="375" r:id="rId20"/>
    <p:sldId id="376" r:id="rId21"/>
    <p:sldId id="424" r:id="rId22"/>
    <p:sldId id="377" r:id="rId23"/>
    <p:sldId id="425" r:id="rId24"/>
    <p:sldId id="426" r:id="rId25"/>
    <p:sldId id="379" r:id="rId26"/>
    <p:sldId id="427" r:id="rId27"/>
    <p:sldId id="428" r:id="rId28"/>
    <p:sldId id="429" r:id="rId29"/>
    <p:sldId id="430" r:id="rId30"/>
    <p:sldId id="380" r:id="rId31"/>
    <p:sldId id="431" r:id="rId32"/>
    <p:sldId id="432" r:id="rId33"/>
    <p:sldId id="435" r:id="rId34"/>
    <p:sldId id="436" r:id="rId35"/>
    <p:sldId id="433" r:id="rId36"/>
    <p:sldId id="437" r:id="rId37"/>
    <p:sldId id="438" r:id="rId38"/>
    <p:sldId id="434" r:id="rId39"/>
    <p:sldId id="439" r:id="rId40"/>
    <p:sldId id="440" r:id="rId41"/>
    <p:sldId id="441" r:id="rId42"/>
    <p:sldId id="442" r:id="rId43"/>
    <p:sldId id="443" r:id="rId44"/>
    <p:sldId id="445" r:id="rId45"/>
    <p:sldId id="446" r:id="rId46"/>
    <p:sldId id="444" r:id="rId47"/>
    <p:sldId id="447" r:id="rId48"/>
    <p:sldId id="449" r:id="rId49"/>
    <p:sldId id="448" r:id="rId50"/>
    <p:sldId id="450" r:id="rId51"/>
    <p:sldId id="413" r:id="rId52"/>
    <p:sldId id="451" r:id="rId53"/>
    <p:sldId id="414" r:id="rId54"/>
    <p:sldId id="452" r:id="rId55"/>
  </p:sldIdLst>
  <p:sldSz cx="12192000" cy="6858000"/>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5294" autoAdjust="0"/>
  </p:normalViewPr>
  <p:slideViewPr>
    <p:cSldViewPr snapToGrid="0">
      <p:cViewPr varScale="1">
        <p:scale>
          <a:sx n="111" d="100"/>
          <a:sy n="111" d="100"/>
        </p:scale>
        <p:origin x="456" y="114"/>
      </p:cViewPr>
      <p:guideLst>
        <p:guide pos="3840"/>
        <p:guide orient="horz" pos="2160"/>
      </p:guideLst>
    </p:cSldViewPr>
  </p:slideViewPr>
  <p:notesTextViewPr>
    <p:cViewPr>
      <p:scale>
        <a:sx n="1" d="1"/>
        <a:sy n="1" d="1"/>
      </p:scale>
      <p:origin x="0" y="0"/>
    </p:cViewPr>
  </p:notesTextViewPr>
  <p:notesViewPr>
    <p:cSldViewPr snapToGrid="0">
      <p:cViewPr varScale="1">
        <p:scale>
          <a:sx n="89" d="100"/>
          <a:sy n="89" d="100"/>
        </p:scale>
        <p:origin x="279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dirty="0"/>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6E5D075-ABA8-4C7E-84CB-BCB64A05DF7B}" type="datetime1">
              <a:rPr lang="ru-RU" smtClean="0"/>
              <a:t>25.07.2026</a:t>
            </a:fld>
            <a:endParaRPr lang="ru-RU" dirty="0"/>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dirty="0"/>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BAE14B8-3CC9-472D-9BC5-A84D80684DE2}" type="slidenum">
              <a:rPr lang="ru-RU" smtClean="0"/>
              <a:t>‹#›</a:t>
            </a:fld>
            <a:endParaRPr lang="ru-RU" dirty="0"/>
          </a:p>
        </p:txBody>
      </p:sp>
    </p:spTree>
    <p:extLst>
      <p:ext uri="{BB962C8B-B14F-4D97-AF65-F5344CB8AC3E}">
        <p14:creationId xmlns:p14="http://schemas.microsoft.com/office/powerpoint/2010/main" val="2577827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836B297E-E64E-45A1-B633-5E623F46F5D1}" type="datetime1">
              <a:rPr lang="ru-RU" noProof="0" smtClean="0"/>
              <a:t>25.07.2026</a:t>
            </a:fld>
            <a:endParaRPr lang="ru-RU" noProof="0"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dirty="0"/>
          </a:p>
        </p:txBody>
      </p:sp>
      <p:sp>
        <p:nvSpPr>
          <p:cNvPr id="5" name="Заметки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u-RU" noProof="0" dirty="0" smtClean="0"/>
              <a:t>Образец текста</a:t>
            </a:r>
          </a:p>
          <a:p>
            <a:pPr lvl="1" rtl="0"/>
            <a:r>
              <a:rPr lang="ru-RU" noProof="0" dirty="0" smtClean="0"/>
              <a:t>Второй уровень</a:t>
            </a:r>
          </a:p>
          <a:p>
            <a:pPr lvl="2" rtl="0"/>
            <a:r>
              <a:rPr lang="ru-RU" noProof="0" dirty="0" smtClean="0"/>
              <a:t>Третий уровень</a:t>
            </a:r>
          </a:p>
          <a:p>
            <a:pPr lvl="3" rtl="0"/>
            <a:r>
              <a:rPr lang="ru-RU" noProof="0" dirty="0" smtClean="0"/>
              <a:t>Четвертый уровень</a:t>
            </a:r>
          </a:p>
          <a:p>
            <a:pPr lvl="4" rtl="0"/>
            <a:r>
              <a:rPr lang="ru-RU" noProof="0" dirty="0" smtClean="0"/>
              <a:t>Пятый уровень</a:t>
            </a:r>
            <a:endParaRPr lang="ru-RU" noProof="0" dirty="0"/>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FB667E1-E601-4AAF-B95C-B25720D70A60}" type="slidenum">
              <a:rPr lang="ru-RU" noProof="0" smtClean="0"/>
              <a:t>‹#›</a:t>
            </a:fld>
            <a:endParaRPr lang="ru-RU" noProof="0" dirty="0"/>
          </a:p>
        </p:txBody>
      </p:sp>
    </p:spTree>
    <p:extLst>
      <p:ext uri="{BB962C8B-B14F-4D97-AF65-F5344CB8AC3E}">
        <p14:creationId xmlns:p14="http://schemas.microsoft.com/office/powerpoint/2010/main" val="7111367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rtl="0"/>
            <a:fld id="{7FB667E1-E601-4AAF-B95C-B25720D70A60}" type="slidenum">
              <a:rPr lang="ru-RU" noProof="0" smtClean="0"/>
              <a:t>1</a:t>
            </a:fld>
            <a:endParaRPr lang="ru-RU" noProof="0" dirty="0"/>
          </a:p>
        </p:txBody>
      </p:sp>
    </p:spTree>
    <p:extLst>
      <p:ext uri="{BB962C8B-B14F-4D97-AF65-F5344CB8AC3E}">
        <p14:creationId xmlns:p14="http://schemas.microsoft.com/office/powerpoint/2010/main" val="2175291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8" name="Прямоугольник 7"/>
          <p:cNvSpPr/>
          <p:nvPr/>
        </p:nvSpPr>
        <p:spPr>
          <a:xfrm>
            <a:off x="-1" y="0"/>
            <a:ext cx="12188826" cy="1905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rtl="0"/>
            <a:endParaRPr lang="ru-RU" noProof="0" dirty="0"/>
          </a:p>
        </p:txBody>
      </p:sp>
      <p:sp>
        <p:nvSpPr>
          <p:cNvPr id="9" name="Прямоугольник 8"/>
          <p:cNvSpPr/>
          <p:nvPr/>
        </p:nvSpPr>
        <p:spPr>
          <a:xfrm>
            <a:off x="-1" y="5102352"/>
            <a:ext cx="12188826" cy="17556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rtl="0"/>
            <a:endParaRPr lang="ru-RU" noProof="0" dirty="0"/>
          </a:p>
        </p:txBody>
      </p:sp>
      <p:sp>
        <p:nvSpPr>
          <p:cNvPr id="2" name="Заголовок 1"/>
          <p:cNvSpPr>
            <a:spLocks noGrp="1"/>
          </p:cNvSpPr>
          <p:nvPr>
            <p:ph type="ctrTitle"/>
          </p:nvPr>
        </p:nvSpPr>
        <p:spPr>
          <a:xfrm>
            <a:off x="1295400" y="2286000"/>
            <a:ext cx="9601200" cy="1517904"/>
          </a:xfrm>
        </p:spPr>
        <p:txBody>
          <a:bodyPr rtlCol="0" anchor="b"/>
          <a:lstStyle>
            <a:lvl1pPr algn="ctr">
              <a:defRPr sz="5400"/>
            </a:lvl1pPr>
          </a:lstStyle>
          <a:p>
            <a:pPr rtl="0"/>
            <a:r>
              <a:rPr lang="ru-RU" noProof="0" smtClean="0"/>
              <a:t>Образец заголовка</a:t>
            </a:r>
            <a:endParaRPr lang="ru-RU" noProof="0" dirty="0"/>
          </a:p>
        </p:txBody>
      </p:sp>
      <p:sp>
        <p:nvSpPr>
          <p:cNvPr id="3" name="Подзаголовок 2"/>
          <p:cNvSpPr>
            <a:spLocks noGrp="1"/>
          </p:cNvSpPr>
          <p:nvPr>
            <p:ph type="subTitle" idx="1"/>
          </p:nvPr>
        </p:nvSpPr>
        <p:spPr>
          <a:xfrm>
            <a:off x="1295400" y="3959352"/>
            <a:ext cx="9601200" cy="914400"/>
          </a:xfrm>
        </p:spPr>
        <p:txBody>
          <a:bodyPr rtlCol="0">
            <a:normAutofit/>
          </a:bodyPr>
          <a:lstStyle>
            <a:lvl1pPr marL="0" indent="0" algn="ctr">
              <a:spcBef>
                <a:spcPts val="0"/>
              </a:spcBef>
              <a:buNone/>
              <a:defRPr sz="2000" cap="all" baseline="0"/>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ru-RU" noProof="0" smtClean="0"/>
              <a:t>Образец подзаголовка</a:t>
            </a:r>
            <a:endParaRPr lang="ru-RU" noProof="0" dirty="0"/>
          </a:p>
        </p:txBody>
      </p:sp>
    </p:spTree>
    <p:extLst>
      <p:ext uri="{BB962C8B-B14F-4D97-AF65-F5344CB8AC3E}">
        <p14:creationId xmlns:p14="http://schemas.microsoft.com/office/powerpoint/2010/main" val="338288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7487" y="467360"/>
            <a:ext cx="10579693" cy="549590"/>
          </a:xfrm>
        </p:spPr>
        <p:txBody>
          <a:bodyPr rtlCol="0"/>
          <a:lstStyle/>
          <a:p>
            <a:pPr rtl="0"/>
            <a:r>
              <a:rPr lang="ru-RU" noProof="0" dirty="0" smtClean="0"/>
              <a:t>Образец заголовка</a:t>
            </a:r>
            <a:endParaRPr lang="ru-RU" noProof="0" dirty="0"/>
          </a:p>
        </p:txBody>
      </p:sp>
      <p:sp>
        <p:nvSpPr>
          <p:cNvPr id="3" name="Объект 2"/>
          <p:cNvSpPr>
            <a:spLocks noGrp="1"/>
          </p:cNvSpPr>
          <p:nvPr>
            <p:ph idx="1"/>
          </p:nvPr>
        </p:nvSpPr>
        <p:spPr>
          <a:xfrm>
            <a:off x="581114" y="1179320"/>
            <a:ext cx="11058258" cy="4850259"/>
          </a:xfrm>
        </p:spPr>
        <p:txBody>
          <a:bodyPr rtlCol="0"/>
          <a:lstStyle>
            <a:lvl1pPr marL="45720" indent="0">
              <a:lnSpc>
                <a:spcPct val="100000"/>
              </a:lnSpc>
              <a:spcBef>
                <a:spcPts val="0"/>
              </a:spcBef>
              <a:buNone/>
              <a:defRPr sz="2400"/>
            </a:lvl1pPr>
            <a:lvl2pPr>
              <a:defRPr sz="2400"/>
            </a:lvl2pPr>
          </a:lstStyle>
          <a:p>
            <a:pPr lvl="0" rtl="0"/>
            <a:r>
              <a:rPr lang="ru-RU" noProof="0" dirty="0" smtClean="0"/>
              <a:t>Образец текста</a:t>
            </a:r>
          </a:p>
          <a:p>
            <a:pPr lvl="1" rtl="0"/>
            <a:r>
              <a:rPr lang="ru-RU" noProof="0" dirty="0" smtClean="0"/>
              <a:t>Второй уровень</a:t>
            </a:r>
          </a:p>
          <a:p>
            <a:pPr lvl="2" rtl="0"/>
            <a:r>
              <a:rPr lang="ru-RU" noProof="0" dirty="0" smtClean="0"/>
              <a:t>Третий уровень</a:t>
            </a:r>
          </a:p>
          <a:p>
            <a:pPr lvl="3" rtl="0"/>
            <a:r>
              <a:rPr lang="ru-RU" noProof="0" dirty="0" smtClean="0"/>
              <a:t>Четвертый уровень</a:t>
            </a:r>
          </a:p>
          <a:p>
            <a:pPr lvl="4" rtl="0"/>
            <a:r>
              <a:rPr lang="ru-RU" noProof="0" dirty="0" smtClean="0"/>
              <a:t>Пятый уровень</a:t>
            </a:r>
            <a:endParaRPr lang="ru-RU" noProof="0" dirty="0"/>
          </a:p>
        </p:txBody>
      </p:sp>
      <p:sp>
        <p:nvSpPr>
          <p:cNvPr id="5" name="Нижний колонтитул 4"/>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4" name="Дата 3"/>
          <p:cNvSpPr>
            <a:spLocks noGrp="1"/>
          </p:cNvSpPr>
          <p:nvPr>
            <p:ph type="dt" sz="half" idx="10"/>
          </p:nvPr>
        </p:nvSpPr>
        <p:spPr/>
        <p:txBody>
          <a:bodyPr rtlCol="0"/>
          <a:lstStyle/>
          <a:p>
            <a:pPr rtl="0"/>
            <a:fld id="{2675F84F-F23A-4559-8AD5-0957D7B63ED4}" type="datetime1">
              <a:rPr lang="ru-RU" noProof="0" smtClean="0"/>
              <a:t>25.07.2026</a:t>
            </a:fld>
            <a:endParaRPr lang="ru-RU" noProof="0" dirty="0"/>
          </a:p>
        </p:txBody>
      </p:sp>
      <p:sp>
        <p:nvSpPr>
          <p:cNvPr id="6" name="Номер слайда 5"/>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41593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7" name="Прямоугольник 6"/>
          <p:cNvSpPr/>
          <p:nvPr/>
        </p:nvSpPr>
        <p:spPr>
          <a:xfrm>
            <a:off x="0" y="274320"/>
            <a:ext cx="12192000" cy="6309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2" name="Заголовок 1"/>
          <p:cNvSpPr>
            <a:spLocks noGrp="1"/>
          </p:cNvSpPr>
          <p:nvPr>
            <p:ph type="title"/>
          </p:nvPr>
        </p:nvSpPr>
        <p:spPr>
          <a:xfrm>
            <a:off x="1295400" y="2130552"/>
            <a:ext cx="9601200" cy="2359152"/>
          </a:xfrm>
        </p:spPr>
        <p:txBody>
          <a:bodyPr rtlCol="0" anchor="b">
            <a:normAutofit/>
          </a:bodyPr>
          <a:lstStyle>
            <a:lvl1pPr algn="ctr">
              <a:defRPr sz="5400" b="0" baseline="0">
                <a:solidFill>
                  <a:schemeClr val="bg1">
                    <a:lumMod val="75000"/>
                  </a:schemeClr>
                </a:solidFill>
              </a:defRPr>
            </a:lvl1pPr>
          </a:lstStyle>
          <a:p>
            <a:pPr rtl="0"/>
            <a:r>
              <a:rPr lang="ru-RU" noProof="0" smtClean="0"/>
              <a:t>Образец заголовка</a:t>
            </a:r>
            <a:endParaRPr lang="ru-RU" noProof="0" dirty="0"/>
          </a:p>
        </p:txBody>
      </p:sp>
      <p:sp>
        <p:nvSpPr>
          <p:cNvPr id="3" name="Текст 2"/>
          <p:cNvSpPr>
            <a:spLocks noGrp="1"/>
          </p:cNvSpPr>
          <p:nvPr>
            <p:ph type="body" idx="1"/>
          </p:nvPr>
        </p:nvSpPr>
        <p:spPr>
          <a:xfrm>
            <a:off x="1295400" y="4572000"/>
            <a:ext cx="9601200" cy="841248"/>
          </a:xfrm>
        </p:spPr>
        <p:txBody>
          <a:bodyPr rtlCol="0" anchor="t"/>
          <a:lstStyle>
            <a:lvl1pPr marL="0" indent="0" algn="ctr">
              <a:spcBef>
                <a:spcPts val="0"/>
              </a:spcBef>
              <a:buNone/>
              <a:defRPr sz="2000" cap="all" baseline="0">
                <a:solidFill>
                  <a:schemeClr val="bg1">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ru-RU" noProof="0" smtClean="0"/>
              <a:t>Образец текста</a:t>
            </a:r>
          </a:p>
        </p:txBody>
      </p:sp>
      <p:sp>
        <p:nvSpPr>
          <p:cNvPr id="5" name="Нижний колонтитул 4"/>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4" name="Дата 3"/>
          <p:cNvSpPr>
            <a:spLocks noGrp="1"/>
          </p:cNvSpPr>
          <p:nvPr>
            <p:ph type="dt" sz="half" idx="10"/>
          </p:nvPr>
        </p:nvSpPr>
        <p:spPr/>
        <p:txBody>
          <a:bodyPr rtlCol="0"/>
          <a:lstStyle/>
          <a:p>
            <a:pPr rtl="0"/>
            <a:fld id="{32A8351B-C5B2-4962-9672-191E18DBB102}" type="datetime1">
              <a:rPr lang="ru-RU" noProof="0" smtClean="0"/>
              <a:t>25.07.2026</a:t>
            </a:fld>
            <a:endParaRPr lang="ru-RU" noProof="0" dirty="0"/>
          </a:p>
        </p:txBody>
      </p:sp>
      <p:sp>
        <p:nvSpPr>
          <p:cNvPr id="6" name="Номер слайда 5"/>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2715843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типа объектов">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32498"/>
          </a:xfrm>
        </p:spPr>
        <p:txBody>
          <a:bodyPr rtlCol="0"/>
          <a:lstStyle/>
          <a:p>
            <a:pPr rtl="0"/>
            <a:r>
              <a:rPr lang="ru-RU" noProof="0" dirty="0" smtClean="0"/>
              <a:t>Образец заголовка</a:t>
            </a:r>
            <a:endParaRPr lang="ru-RU" noProof="0" dirty="0"/>
          </a:p>
        </p:txBody>
      </p:sp>
      <p:sp>
        <p:nvSpPr>
          <p:cNvPr id="3" name="Объект 2"/>
          <p:cNvSpPr>
            <a:spLocks noGrp="1"/>
          </p:cNvSpPr>
          <p:nvPr>
            <p:ph sz="half" idx="1"/>
          </p:nvPr>
        </p:nvSpPr>
        <p:spPr>
          <a:xfrm>
            <a:off x="1341120" y="1901952"/>
            <a:ext cx="4572000" cy="4123944"/>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Объект 3"/>
          <p:cNvSpPr>
            <a:spLocks noGrp="1"/>
          </p:cNvSpPr>
          <p:nvPr>
            <p:ph sz="half" idx="2"/>
          </p:nvPr>
        </p:nvSpPr>
        <p:spPr>
          <a:xfrm>
            <a:off x="6278880" y="1901952"/>
            <a:ext cx="4572000" cy="4123944"/>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6" name="Нижний колонтитул 5"/>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5" name="Дата 4"/>
          <p:cNvSpPr>
            <a:spLocks noGrp="1"/>
          </p:cNvSpPr>
          <p:nvPr>
            <p:ph type="dt" sz="half" idx="10"/>
          </p:nvPr>
        </p:nvSpPr>
        <p:spPr/>
        <p:txBody>
          <a:bodyPr rtlCol="0"/>
          <a:lstStyle/>
          <a:p>
            <a:pPr rtl="0"/>
            <a:fld id="{F625883A-FDC3-4CD9-95EB-A5983C2ACA0E}" type="datetime1">
              <a:rPr lang="ru-RU" noProof="0" smtClean="0"/>
              <a:t>25.07.2026</a:t>
            </a:fld>
            <a:endParaRPr lang="ru-RU" noProof="0" dirty="0"/>
          </a:p>
        </p:txBody>
      </p:sp>
      <p:sp>
        <p:nvSpPr>
          <p:cNvPr id="7" name="Номер слайда 6"/>
          <p:cNvSpPr>
            <a:spLocks noGrp="1"/>
          </p:cNvSpPr>
          <p:nvPr>
            <p:ph type="sldNum" sz="quarter" idx="12"/>
          </p:nvPr>
        </p:nvSpPr>
        <p:spPr/>
        <p:txBody>
          <a:bodyPr rtlCol="0"/>
          <a:lstStyle/>
          <a:p>
            <a:pPr rtl="0"/>
            <a:fld id="{0D06EF73-9DB8-4763-865F-2F88181A4732}" type="slidenum">
              <a:rPr lang="ru-RU" noProof="0" smtClean="0"/>
              <a:t>‹#›</a:t>
            </a:fld>
            <a:endParaRPr lang="ru-RU" noProof="0" dirty="0"/>
          </a:p>
        </p:txBody>
      </p:sp>
    </p:spTree>
    <p:extLst>
      <p:ext uri="{BB962C8B-B14F-4D97-AF65-F5344CB8AC3E}">
        <p14:creationId xmlns:p14="http://schemas.microsoft.com/office/powerpoint/2010/main" val="292305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15406"/>
          </a:xfrm>
        </p:spPr>
        <p:txBody>
          <a:bodyPr rtlCol="0"/>
          <a:lstStyle/>
          <a:p>
            <a:pPr rtl="0"/>
            <a:r>
              <a:rPr lang="ru-RU" noProof="0" smtClean="0"/>
              <a:t>Образец заголовка</a:t>
            </a:r>
            <a:endParaRPr lang="ru-RU" noProof="0" dirty="0"/>
          </a:p>
        </p:txBody>
      </p:sp>
      <p:sp>
        <p:nvSpPr>
          <p:cNvPr id="3" name="Текст 2"/>
          <p:cNvSpPr>
            <a:spLocks noGrp="1"/>
          </p:cNvSpPr>
          <p:nvPr>
            <p:ph type="body" idx="1"/>
          </p:nvPr>
        </p:nvSpPr>
        <p:spPr>
          <a:xfrm>
            <a:off x="1341120" y="1837464"/>
            <a:ext cx="4572000" cy="766588"/>
          </a:xfrm>
        </p:spPr>
        <p:txBody>
          <a:bodyPr rtlCol="0" anchor="ctr">
            <a:normAutofit/>
          </a:bodyPr>
          <a:lstStyle>
            <a:lvl1pPr marL="0" indent="0">
              <a:spcBef>
                <a:spcPts val="0"/>
              </a:spcBef>
              <a:buNone/>
              <a:defRPr sz="20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4" name="Объект 3"/>
          <p:cNvSpPr>
            <a:spLocks noGrp="1"/>
          </p:cNvSpPr>
          <p:nvPr>
            <p:ph sz="half" idx="2"/>
          </p:nvPr>
        </p:nvSpPr>
        <p:spPr>
          <a:xfrm>
            <a:off x="1341120" y="2740732"/>
            <a:ext cx="4572000" cy="3288847"/>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Текст 4"/>
          <p:cNvSpPr>
            <a:spLocks noGrp="1"/>
          </p:cNvSpPr>
          <p:nvPr>
            <p:ph type="body" sz="quarter" idx="3"/>
          </p:nvPr>
        </p:nvSpPr>
        <p:spPr>
          <a:xfrm>
            <a:off x="6278880" y="1837464"/>
            <a:ext cx="4572000" cy="766588"/>
          </a:xfrm>
        </p:spPr>
        <p:txBody>
          <a:bodyPr rtlCol="0" anchor="ctr">
            <a:normAutofit/>
          </a:bodyPr>
          <a:lstStyle>
            <a:lvl1pPr marL="0" indent="0">
              <a:spcBef>
                <a:spcPts val="0"/>
              </a:spcBef>
              <a:buNone/>
              <a:defRPr sz="20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6" name="Объект 5"/>
          <p:cNvSpPr>
            <a:spLocks noGrp="1"/>
          </p:cNvSpPr>
          <p:nvPr>
            <p:ph sz="quarter" idx="4"/>
          </p:nvPr>
        </p:nvSpPr>
        <p:spPr>
          <a:xfrm>
            <a:off x="6278880" y="2740732"/>
            <a:ext cx="4572000" cy="3288847"/>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8" name="Нижний колонтитул 7"/>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7" name="Дата 6"/>
          <p:cNvSpPr>
            <a:spLocks noGrp="1"/>
          </p:cNvSpPr>
          <p:nvPr>
            <p:ph type="dt" sz="half" idx="10"/>
          </p:nvPr>
        </p:nvSpPr>
        <p:spPr/>
        <p:txBody>
          <a:bodyPr rtlCol="0"/>
          <a:lstStyle/>
          <a:p>
            <a:pPr rtl="0"/>
            <a:fld id="{A8802A47-3994-4721-BB8C-5D1988D6D667}" type="datetime1">
              <a:rPr lang="ru-RU" noProof="0" smtClean="0"/>
              <a:t>25.07.2026</a:t>
            </a:fld>
            <a:endParaRPr lang="ru-RU" noProof="0" dirty="0"/>
          </a:p>
        </p:txBody>
      </p:sp>
      <p:sp>
        <p:nvSpPr>
          <p:cNvPr id="9" name="Номер слайда 8"/>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4057080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41044"/>
          </a:xfrm>
        </p:spPr>
        <p:txBody>
          <a:bodyPr rtlCol="0"/>
          <a:lstStyle/>
          <a:p>
            <a:pPr rtl="0"/>
            <a:r>
              <a:rPr lang="ru-RU" noProof="0" smtClean="0"/>
              <a:t>Образец заголовка</a:t>
            </a:r>
            <a:endParaRPr lang="ru-RU" noProof="0" dirty="0"/>
          </a:p>
        </p:txBody>
      </p:sp>
      <p:sp>
        <p:nvSpPr>
          <p:cNvPr id="4" name="Нижний колонтитул 3"/>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3" name="Дата 2"/>
          <p:cNvSpPr>
            <a:spLocks noGrp="1"/>
          </p:cNvSpPr>
          <p:nvPr>
            <p:ph type="dt" sz="half" idx="10"/>
          </p:nvPr>
        </p:nvSpPr>
        <p:spPr/>
        <p:txBody>
          <a:bodyPr rtlCol="0"/>
          <a:lstStyle/>
          <a:p>
            <a:pPr rtl="0"/>
            <a:fld id="{37016468-5B71-45B9-A742-593D86E67B80}" type="datetime1">
              <a:rPr lang="ru-RU" noProof="0" smtClean="0"/>
              <a:t>25.07.2026</a:t>
            </a:fld>
            <a:endParaRPr lang="ru-RU" noProof="0" dirty="0"/>
          </a:p>
        </p:txBody>
      </p:sp>
      <p:sp>
        <p:nvSpPr>
          <p:cNvPr id="5" name="Номер слайда 4"/>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8420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5" name="Прямоугольник 4"/>
          <p:cNvSpPr/>
          <p:nvPr/>
        </p:nvSpPr>
        <p:spPr>
          <a:xfrm>
            <a:off x="0" y="0"/>
            <a:ext cx="12188826"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rtl="0"/>
            <a:endParaRPr lang="ru-RU" noProof="0" dirty="0"/>
          </a:p>
        </p:txBody>
      </p:sp>
      <p:sp>
        <p:nvSpPr>
          <p:cNvPr id="3" name="Нижний колонтитул 2"/>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2" name="Дата 1"/>
          <p:cNvSpPr>
            <a:spLocks noGrp="1"/>
          </p:cNvSpPr>
          <p:nvPr>
            <p:ph type="dt" sz="half" idx="10"/>
          </p:nvPr>
        </p:nvSpPr>
        <p:spPr/>
        <p:txBody>
          <a:bodyPr rtlCol="0"/>
          <a:lstStyle/>
          <a:p>
            <a:pPr rtl="0"/>
            <a:fld id="{E6C9301C-4F5A-41D7-B5DF-F74C403F3355}" type="datetime1">
              <a:rPr lang="ru-RU" noProof="0" smtClean="0"/>
              <a:t>25.07.2026</a:t>
            </a:fld>
            <a:endParaRPr lang="ru-RU" noProof="0" dirty="0"/>
          </a:p>
        </p:txBody>
      </p:sp>
      <p:sp>
        <p:nvSpPr>
          <p:cNvPr id="4" name="Номер слайда 3"/>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255900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470648" y="2350008"/>
            <a:ext cx="4206240" cy="1993392"/>
          </a:xfrm>
        </p:spPr>
        <p:txBody>
          <a:bodyPr rtlCol="0" anchor="b">
            <a:normAutofit/>
          </a:bodyPr>
          <a:lstStyle>
            <a:lvl1pPr>
              <a:defRPr sz="3400" b="0"/>
            </a:lvl1pPr>
          </a:lstStyle>
          <a:p>
            <a:pPr rtl="0"/>
            <a:r>
              <a:rPr lang="ru-RU" noProof="0" smtClean="0"/>
              <a:t>Образец заголовка</a:t>
            </a:r>
            <a:endParaRPr lang="ru-RU" noProof="0" dirty="0"/>
          </a:p>
        </p:txBody>
      </p:sp>
      <p:sp>
        <p:nvSpPr>
          <p:cNvPr id="3" name="Объект 2"/>
          <p:cNvSpPr>
            <a:spLocks noGrp="1"/>
          </p:cNvSpPr>
          <p:nvPr>
            <p:ph idx="1"/>
          </p:nvPr>
        </p:nvSpPr>
        <p:spPr>
          <a:xfrm>
            <a:off x="457200" y="758952"/>
            <a:ext cx="6629400" cy="533095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Текст 3"/>
          <p:cNvSpPr>
            <a:spLocks noGrp="1"/>
          </p:cNvSpPr>
          <p:nvPr>
            <p:ph type="body" sz="half" idx="2"/>
          </p:nvPr>
        </p:nvSpPr>
        <p:spPr>
          <a:xfrm>
            <a:off x="7470648" y="4361688"/>
            <a:ext cx="4206240" cy="1728216"/>
          </a:xfrm>
        </p:spPr>
        <p:txBody>
          <a:bodyPr rtlCol="0">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smtClean="0"/>
              <a:t>Образец текста</a:t>
            </a:r>
          </a:p>
        </p:txBody>
      </p:sp>
      <p:sp>
        <p:nvSpPr>
          <p:cNvPr id="6" name="Нижний колонтитул 5"/>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5" name="Дата 4"/>
          <p:cNvSpPr>
            <a:spLocks noGrp="1"/>
          </p:cNvSpPr>
          <p:nvPr>
            <p:ph type="dt" sz="half" idx="10"/>
          </p:nvPr>
        </p:nvSpPr>
        <p:spPr/>
        <p:txBody>
          <a:bodyPr rtlCol="0"/>
          <a:lstStyle/>
          <a:p>
            <a:pPr rtl="0"/>
            <a:fld id="{826585C5-E142-42DC-8E17-9800035DFB5C}" type="datetime1">
              <a:rPr lang="ru-RU" noProof="0" smtClean="0"/>
              <a:t>25.07.2026</a:t>
            </a:fld>
            <a:endParaRPr lang="ru-RU" noProof="0" dirty="0"/>
          </a:p>
        </p:txBody>
      </p:sp>
      <p:sp>
        <p:nvSpPr>
          <p:cNvPr id="7" name="Номер слайда 6"/>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143594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470648" y="2350008"/>
            <a:ext cx="4206240" cy="1993392"/>
          </a:xfrm>
        </p:spPr>
        <p:txBody>
          <a:bodyPr rtlCol="0" anchor="b">
            <a:normAutofit/>
          </a:bodyPr>
          <a:lstStyle>
            <a:lvl1pPr>
              <a:defRPr sz="3400" b="0"/>
            </a:lvl1pPr>
          </a:lstStyle>
          <a:p>
            <a:pPr rtl="0"/>
            <a:r>
              <a:rPr lang="ru-RU" noProof="0" smtClean="0"/>
              <a:t>Образец заголовка</a:t>
            </a:r>
            <a:endParaRPr lang="ru-RU" noProof="0" dirty="0"/>
          </a:p>
        </p:txBody>
      </p:sp>
      <p:sp>
        <p:nvSpPr>
          <p:cNvPr id="3" name="Рисунок 2" descr="Пустой заполнитель, вместо которого можно добавить изображение. Щелкните заполнитель и выберите изображение, которое требуется добавить"/>
          <p:cNvSpPr>
            <a:spLocks noGrp="1"/>
          </p:cNvSpPr>
          <p:nvPr>
            <p:ph type="pic" idx="1"/>
          </p:nvPr>
        </p:nvSpPr>
        <p:spPr>
          <a:xfrm>
            <a:off x="301752" y="502920"/>
            <a:ext cx="6702552" cy="5843016"/>
          </a:xfrm>
          <a:solidFill>
            <a:schemeClr val="accent1">
              <a:lumMod val="40000"/>
              <a:lumOff val="60000"/>
            </a:schemeClr>
          </a:solidFill>
        </p:spPr>
        <p:txBody>
          <a:bodyPr rtlCol="0"/>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ru-RU" noProof="0" smtClean="0"/>
              <a:t>Вставка рисунка</a:t>
            </a:r>
            <a:endParaRPr lang="ru-RU" noProof="0" dirty="0"/>
          </a:p>
        </p:txBody>
      </p:sp>
      <p:sp>
        <p:nvSpPr>
          <p:cNvPr id="4" name="Текст 3"/>
          <p:cNvSpPr>
            <a:spLocks noGrp="1"/>
          </p:cNvSpPr>
          <p:nvPr>
            <p:ph type="body" sz="half" idx="2"/>
          </p:nvPr>
        </p:nvSpPr>
        <p:spPr>
          <a:xfrm>
            <a:off x="7470648" y="4361688"/>
            <a:ext cx="4206240" cy="1728216"/>
          </a:xfrm>
        </p:spPr>
        <p:txBody>
          <a:bodyPr rtlCol="0">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smtClean="0"/>
              <a:t>Образец текста</a:t>
            </a:r>
          </a:p>
        </p:txBody>
      </p:sp>
      <p:sp>
        <p:nvSpPr>
          <p:cNvPr id="6" name="Нижний колонтитул 5"/>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5" name="Дата 4"/>
          <p:cNvSpPr>
            <a:spLocks noGrp="1"/>
          </p:cNvSpPr>
          <p:nvPr>
            <p:ph type="dt" sz="half" idx="10"/>
          </p:nvPr>
        </p:nvSpPr>
        <p:spPr/>
        <p:txBody>
          <a:bodyPr rtlCol="0"/>
          <a:lstStyle/>
          <a:p>
            <a:pPr rtl="0"/>
            <a:fld id="{B5D2A3B7-AF95-41C1-A6AB-C19ED7F5464C}" type="datetime1">
              <a:rPr lang="ru-RU" noProof="0" smtClean="0"/>
              <a:t>25.07.2026</a:t>
            </a:fld>
            <a:endParaRPr lang="ru-RU" noProof="0" dirty="0"/>
          </a:p>
        </p:txBody>
      </p:sp>
      <p:sp>
        <p:nvSpPr>
          <p:cNvPr id="7" name="Номер слайда 6"/>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137173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23952"/>
          </a:xfrm>
        </p:spPr>
        <p:txBody>
          <a:bodyPr rtlCol="0"/>
          <a:lstStyle/>
          <a:p>
            <a:pPr rtl="0"/>
            <a:r>
              <a:rPr lang="ru-RU" noProof="0" smtClean="0"/>
              <a:t>Образец заголовка</a:t>
            </a:r>
            <a:endParaRPr lang="ru-RU" noProof="0" dirty="0"/>
          </a:p>
        </p:txBody>
      </p:sp>
      <p:sp>
        <p:nvSpPr>
          <p:cNvPr id="3" name="Вертикальный текст 2"/>
          <p:cNvSpPr>
            <a:spLocks noGrp="1"/>
          </p:cNvSpPr>
          <p:nvPr>
            <p:ph type="body" orient="vert" idx="1"/>
          </p:nvPr>
        </p:nvSpPr>
        <p:spPr/>
        <p:txBody>
          <a:bodyPr vert="eaVert"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Нижний колонтитул 4"/>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4" name="Дата 3"/>
          <p:cNvSpPr>
            <a:spLocks noGrp="1"/>
          </p:cNvSpPr>
          <p:nvPr>
            <p:ph type="dt" sz="half" idx="10"/>
          </p:nvPr>
        </p:nvSpPr>
        <p:spPr/>
        <p:txBody>
          <a:bodyPr rtlCol="0"/>
          <a:lstStyle/>
          <a:p>
            <a:pPr rtl="0"/>
            <a:fld id="{06C48E98-A324-45B5-B75E-58518888E80F}" type="datetime1">
              <a:rPr lang="ru-RU" noProof="0" smtClean="0"/>
              <a:t>25.07.2026</a:t>
            </a:fld>
            <a:endParaRPr lang="ru-RU" noProof="0" dirty="0"/>
          </a:p>
        </p:txBody>
      </p:sp>
      <p:sp>
        <p:nvSpPr>
          <p:cNvPr id="6" name="Номер слайда 5"/>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33385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274638"/>
            <a:ext cx="2628900" cy="5897562"/>
          </a:xfrm>
        </p:spPr>
        <p:txBody>
          <a:bodyPr vert="eaVert" rtlCol="0"/>
          <a:lstStyle/>
          <a:p>
            <a:pPr rtl="0"/>
            <a:r>
              <a:rPr lang="ru-RU" noProof="0" smtClean="0"/>
              <a:t>Образец заголовка</a:t>
            </a:r>
            <a:endParaRPr lang="ru-RU" noProof="0" dirty="0"/>
          </a:p>
        </p:txBody>
      </p:sp>
      <p:sp>
        <p:nvSpPr>
          <p:cNvPr id="3" name="Вертикальный текст 2"/>
          <p:cNvSpPr>
            <a:spLocks noGrp="1"/>
          </p:cNvSpPr>
          <p:nvPr>
            <p:ph type="body" orient="vert" idx="1"/>
          </p:nvPr>
        </p:nvSpPr>
        <p:spPr>
          <a:xfrm>
            <a:off x="838200" y="274638"/>
            <a:ext cx="7734300" cy="5897562"/>
          </a:xfrm>
        </p:spPr>
        <p:txBody>
          <a:bodyPr vert="eaVert"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Нижний колонтитул 4"/>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4" name="Дата 3"/>
          <p:cNvSpPr>
            <a:spLocks noGrp="1"/>
          </p:cNvSpPr>
          <p:nvPr>
            <p:ph type="dt" sz="half" idx="10"/>
          </p:nvPr>
        </p:nvSpPr>
        <p:spPr/>
        <p:txBody>
          <a:bodyPr rtlCol="0"/>
          <a:lstStyle/>
          <a:p>
            <a:pPr rtl="0"/>
            <a:fld id="{A586FC24-964D-46E1-9401-22426D49172E}" type="datetime1">
              <a:rPr lang="ru-RU" noProof="0" smtClean="0"/>
              <a:t>25.07.2026</a:t>
            </a:fld>
            <a:endParaRPr lang="ru-RU" noProof="0" dirty="0"/>
          </a:p>
        </p:txBody>
      </p:sp>
      <p:sp>
        <p:nvSpPr>
          <p:cNvPr id="6" name="Номер слайда 5"/>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275155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Прямоугольник 6"/>
          <p:cNvSpPr/>
          <p:nvPr/>
        </p:nvSpPr>
        <p:spPr>
          <a:xfrm>
            <a:off x="0" y="6583680"/>
            <a:ext cx="12188826"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rtl="0"/>
            <a:endParaRPr lang="ru-RU" noProof="0" dirty="0"/>
          </a:p>
        </p:txBody>
      </p:sp>
      <p:sp>
        <p:nvSpPr>
          <p:cNvPr id="2" name="Заголовок 1"/>
          <p:cNvSpPr>
            <a:spLocks noGrp="1"/>
          </p:cNvSpPr>
          <p:nvPr>
            <p:ph type="title"/>
          </p:nvPr>
        </p:nvSpPr>
        <p:spPr>
          <a:xfrm>
            <a:off x="1341120" y="467360"/>
            <a:ext cx="9509760" cy="575227"/>
          </a:xfrm>
          <a:prstGeom prst="rect">
            <a:avLst/>
          </a:prstGeom>
        </p:spPr>
        <p:txBody>
          <a:bodyPr vert="horz" lIns="91440" tIns="45720" rIns="91440" bIns="45720" rtlCol="0" anchor="b">
            <a:normAutofit/>
          </a:bodyPr>
          <a:lstStyle/>
          <a:p>
            <a:pPr rtl="0"/>
            <a:r>
              <a:rPr lang="ru-RU" noProof="0" dirty="0" smtClean="0"/>
              <a:t>Образец заголовка</a:t>
            </a:r>
            <a:endParaRPr lang="ru-RU" noProof="0" dirty="0"/>
          </a:p>
        </p:txBody>
      </p:sp>
      <p:sp>
        <p:nvSpPr>
          <p:cNvPr id="3" name="Текст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rtl="0"/>
            <a:r>
              <a:rPr lang="ru-RU" noProof="0" dirty="0" smtClean="0"/>
              <a:t>Образец текста</a:t>
            </a:r>
          </a:p>
          <a:p>
            <a:pPr lvl="1" rtl="0"/>
            <a:r>
              <a:rPr lang="ru-RU" noProof="0" dirty="0" smtClean="0"/>
              <a:t>Второй уровень</a:t>
            </a:r>
          </a:p>
          <a:p>
            <a:pPr lvl="2" rtl="0"/>
            <a:r>
              <a:rPr lang="ru-RU" noProof="0" dirty="0" smtClean="0"/>
              <a:t>Третий уровень</a:t>
            </a:r>
          </a:p>
          <a:p>
            <a:pPr lvl="3" rtl="0"/>
            <a:r>
              <a:rPr lang="ru-RU" noProof="0" dirty="0" smtClean="0"/>
              <a:t>Четвертый уровень</a:t>
            </a:r>
          </a:p>
          <a:p>
            <a:pPr lvl="4" rtl="0"/>
            <a:r>
              <a:rPr lang="ru-RU" noProof="0" dirty="0" smtClean="0"/>
              <a:t>Пятый уровень</a:t>
            </a:r>
            <a:endParaRPr lang="ru-RU" noProof="0" dirty="0"/>
          </a:p>
        </p:txBody>
      </p:sp>
      <p:sp>
        <p:nvSpPr>
          <p:cNvPr id="5" name="Нижний колонтитул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bg1">
                    <a:lumMod val="75000"/>
                  </a:schemeClr>
                </a:solidFill>
              </a:defRPr>
            </a:lvl1pPr>
          </a:lstStyle>
          <a:p>
            <a:pPr rtl="0"/>
            <a:r>
              <a:rPr lang="ru-RU" noProof="0" dirty="0" smtClean="0"/>
              <a:t>Добавить нижний колонтитул</a:t>
            </a:r>
            <a:endParaRPr lang="ru-RU" noProof="0" dirty="0"/>
          </a:p>
        </p:txBody>
      </p:sp>
      <p:sp>
        <p:nvSpPr>
          <p:cNvPr id="4" name="Дата 3"/>
          <p:cNvSpPr>
            <a:spLocks noGrp="1"/>
          </p:cNvSpPr>
          <p:nvPr>
            <p:ph type="dt" sz="half" idx="2"/>
          </p:nvPr>
        </p:nvSpPr>
        <p:spPr>
          <a:xfrm>
            <a:off x="8875776" y="6614000"/>
            <a:ext cx="960120" cy="237744"/>
          </a:xfrm>
          <a:prstGeom prst="rect">
            <a:avLst/>
          </a:prstGeom>
        </p:spPr>
        <p:txBody>
          <a:bodyPr vert="horz" lIns="91440" tIns="45720" rIns="91440" bIns="45720" rtlCol="0" anchor="ctr"/>
          <a:lstStyle>
            <a:lvl1pPr algn="r">
              <a:defRPr sz="1100" baseline="0">
                <a:solidFill>
                  <a:schemeClr val="bg1">
                    <a:lumMod val="75000"/>
                  </a:schemeClr>
                </a:solidFill>
              </a:defRPr>
            </a:lvl1pPr>
          </a:lstStyle>
          <a:p>
            <a:pPr rtl="0"/>
            <a:fld id="{8A5C2E86-A2F8-4ED0-A740-2D6B3F8A43D6}" type="datetime1">
              <a:rPr lang="ru-RU" noProof="0" smtClean="0"/>
              <a:t>25.07.2026</a:t>
            </a:fld>
            <a:endParaRPr lang="ru-RU" noProof="0" dirty="0"/>
          </a:p>
        </p:txBody>
      </p:sp>
      <p:sp>
        <p:nvSpPr>
          <p:cNvPr id="6" name="Номер слайда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baseline="0">
                <a:solidFill>
                  <a:schemeClr val="bg1">
                    <a:lumMod val="75000"/>
                  </a:schemeClr>
                </a:solidFill>
              </a:defRPr>
            </a:lvl1pPr>
          </a:lstStyle>
          <a:p>
            <a:pPr rtl="0"/>
            <a:fld id="{CA8D9AD5-F248-4919-864A-CFD76CC027D6}" type="slidenum">
              <a:rPr lang="ru-RU" noProof="0" smtClean="0"/>
              <a:pPr/>
              <a:t>‹#›</a:t>
            </a:fld>
            <a:endParaRPr lang="ru-RU" noProof="0" dirty="0"/>
          </a:p>
        </p:txBody>
      </p:sp>
    </p:spTree>
    <p:extLst>
      <p:ext uri="{BB962C8B-B14F-4D97-AF65-F5344CB8AC3E}">
        <p14:creationId xmlns:p14="http://schemas.microsoft.com/office/powerpoint/2010/main" val="256376095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marL="0" indent="0" algn="l" defTabSz="914400" rtl="0" eaLnBrk="1" latinLnBrk="0" hangingPunct="1">
        <a:lnSpc>
          <a:spcPct val="90000"/>
        </a:lnSpc>
        <a:spcBef>
          <a:spcPct val="0"/>
        </a:spcBef>
        <a:buFont typeface="Arial" pitchFamily="34" charset="0"/>
        <a:buNone/>
        <a:defRPr sz="3400" kern="1200">
          <a:solidFill>
            <a:schemeClr val="tx1"/>
          </a:solidFill>
          <a:latin typeface="+mj-lt"/>
          <a:ea typeface="+mj-ea"/>
          <a:cs typeface="+mj-cs"/>
        </a:defRPr>
      </a:lvl1pPr>
    </p:titleStyle>
    <p:bodyStyle>
      <a:lvl1pPr marL="274320" indent="-228600" algn="l" defTabSz="914400" rtl="0" eaLnBrk="1" latinLnBrk="0" hangingPunct="1">
        <a:lnSpc>
          <a:spcPct val="90000"/>
        </a:lnSpc>
        <a:spcBef>
          <a:spcPts val="1800"/>
        </a:spcBef>
        <a:buSzPct val="80000"/>
        <a:buFont typeface="Arial" pitchFamily="34" charset="0"/>
        <a:buChar char="•"/>
        <a:defRPr sz="2000" kern="1200">
          <a:solidFill>
            <a:schemeClr val="tx1"/>
          </a:solidFill>
          <a:latin typeface="+mn-lt"/>
          <a:ea typeface="+mn-ea"/>
          <a:cs typeface="+mn-cs"/>
        </a:defRPr>
      </a:lvl1pPr>
      <a:lvl2pPr marL="594360" indent="-228600" algn="l" defTabSz="914400" rtl="0" eaLnBrk="1" latinLnBrk="0" hangingPunct="1">
        <a:lnSpc>
          <a:spcPct val="90000"/>
        </a:lnSpc>
        <a:spcBef>
          <a:spcPts val="1000"/>
        </a:spcBef>
        <a:buSzPct val="80000"/>
        <a:buFont typeface="Arial"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90000"/>
        </a:lnSpc>
        <a:spcBef>
          <a:spcPts val="800"/>
        </a:spcBef>
        <a:buSzPct val="80000"/>
        <a:buFont typeface="Arial" pitchFamily="34" charset="0"/>
        <a:buChar char="•"/>
        <a:defRPr sz="1600" kern="1200">
          <a:solidFill>
            <a:schemeClr val="tx1"/>
          </a:solidFill>
          <a:latin typeface="+mn-lt"/>
          <a:ea typeface="+mn-ea"/>
          <a:cs typeface="+mn-cs"/>
        </a:defRPr>
      </a:lvl3pPr>
      <a:lvl4pPr marL="1234440" indent="-228600" algn="l" defTabSz="914400" rtl="0" eaLnBrk="1" latinLnBrk="0" hangingPunct="1">
        <a:lnSpc>
          <a:spcPct val="90000"/>
        </a:lnSpc>
        <a:spcBef>
          <a:spcPts val="800"/>
        </a:spcBef>
        <a:buSzPct val="80000"/>
        <a:buFont typeface="Arial" pitchFamily="34" charset="0"/>
        <a:buChar char="•"/>
        <a:defRPr sz="1400" kern="1200">
          <a:solidFill>
            <a:schemeClr val="tx1"/>
          </a:solidFill>
          <a:latin typeface="+mn-lt"/>
          <a:ea typeface="+mn-ea"/>
          <a:cs typeface="+mn-cs"/>
        </a:defRPr>
      </a:lvl4pPr>
      <a:lvl5pPr marL="1554480" indent="-228600" algn="l" defTabSz="914400" rtl="0" eaLnBrk="1" latinLnBrk="0" hangingPunct="1">
        <a:lnSpc>
          <a:spcPct val="90000"/>
        </a:lnSpc>
        <a:spcBef>
          <a:spcPts val="800"/>
        </a:spcBef>
        <a:buSzPct val="80000"/>
        <a:buFont typeface="Arial" pitchFamily="34" charset="0"/>
        <a:buChar char="•"/>
        <a:defRPr sz="1400" kern="1200">
          <a:solidFill>
            <a:schemeClr val="tx1"/>
          </a:solidFill>
          <a:latin typeface="+mn-lt"/>
          <a:ea typeface="+mn-ea"/>
          <a:cs typeface="+mn-cs"/>
        </a:defRPr>
      </a:lvl5pPr>
      <a:lvl6pPr marL="1874520" indent="-228600" algn="l" defTabSz="914400" rtl="0" eaLnBrk="1" latinLnBrk="0" hangingPunct="1">
        <a:lnSpc>
          <a:spcPct val="90000"/>
        </a:lnSpc>
        <a:spcBef>
          <a:spcPts val="800"/>
        </a:spcBef>
        <a:buFont typeface="Arial" pitchFamily="34" charset="0"/>
        <a:buChar char="•"/>
        <a:defRPr sz="1400" kern="1200">
          <a:solidFill>
            <a:schemeClr val="tx1"/>
          </a:solidFill>
          <a:latin typeface="+mn-lt"/>
          <a:ea typeface="+mn-ea"/>
          <a:cs typeface="+mn-cs"/>
        </a:defRPr>
      </a:lvl6pPr>
      <a:lvl7pPr marL="2194560" indent="-228600" algn="l" defTabSz="914400" rtl="0" eaLnBrk="1" latinLnBrk="0" hangingPunct="1">
        <a:lnSpc>
          <a:spcPct val="90000"/>
        </a:lnSpc>
        <a:spcBef>
          <a:spcPts val="800"/>
        </a:spcBef>
        <a:buFont typeface="Arial" pitchFamily="34" charset="0"/>
        <a:buChar char="•"/>
        <a:defRPr sz="1400" kern="1200" baseline="0">
          <a:solidFill>
            <a:schemeClr val="tx1"/>
          </a:solidFill>
          <a:latin typeface="+mn-lt"/>
          <a:ea typeface="+mn-ea"/>
          <a:cs typeface="+mn-cs"/>
        </a:defRPr>
      </a:lvl7pPr>
      <a:lvl8pPr marL="2514600" indent="-228600" algn="l" defTabSz="914400" rtl="0" eaLnBrk="1" latinLnBrk="0" hangingPunct="1">
        <a:lnSpc>
          <a:spcPct val="90000"/>
        </a:lnSpc>
        <a:spcBef>
          <a:spcPts val="800"/>
        </a:spcBef>
        <a:buFont typeface="Arial" pitchFamily="34" charset="0"/>
        <a:buChar char="•"/>
        <a:defRPr sz="1400" kern="1200" baseline="0">
          <a:solidFill>
            <a:schemeClr val="tx1"/>
          </a:solidFill>
          <a:latin typeface="+mn-lt"/>
          <a:ea typeface="+mn-ea"/>
          <a:cs typeface="+mn-cs"/>
        </a:defRPr>
      </a:lvl8pPr>
      <a:lvl9pPr marL="2834640" indent="-228600" algn="l" defTabSz="914400" rtl="0" eaLnBrk="1" latinLnBrk="0" hangingPunct="1">
        <a:lnSpc>
          <a:spcPct val="90000"/>
        </a:lnSpc>
        <a:spcBef>
          <a:spcPts val="800"/>
        </a:spcBef>
        <a:buFont typeface="Arial" pitchFamily="34" charset="0"/>
        <a:buChar char="•"/>
        <a:defRPr sz="14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rtlCol="0">
            <a:normAutofit/>
          </a:bodyPr>
          <a:lstStyle/>
          <a:p>
            <a:r>
              <a:rPr lang="ru-RU" dirty="0"/>
              <a:t>Многослойные нейронные сети</a:t>
            </a:r>
            <a:endParaRPr lang="ru-RU" dirty="0"/>
          </a:p>
        </p:txBody>
      </p:sp>
      <p:sp>
        <p:nvSpPr>
          <p:cNvPr id="3" name="Подзаголовок 2"/>
          <p:cNvSpPr>
            <a:spLocks noGrp="1"/>
          </p:cNvSpPr>
          <p:nvPr>
            <p:ph type="subTitle" idx="1"/>
          </p:nvPr>
        </p:nvSpPr>
        <p:spPr/>
        <p:txBody>
          <a:bodyPr rtlCol="0"/>
          <a:lstStyle/>
          <a:p>
            <a:pPr rtl="0"/>
            <a:r>
              <a:rPr lang="ru-RU" dirty="0" smtClean="0"/>
              <a:t>Лекция №</a:t>
            </a:r>
            <a:r>
              <a:rPr lang="ru-RU" dirty="0" smtClean="0"/>
              <a:t>04</a:t>
            </a:r>
            <a:endParaRPr lang="ru-RU" dirty="0" smtClean="0"/>
          </a:p>
          <a:p>
            <a:r>
              <a:rPr lang="ru-RU" dirty="0"/>
              <a:t>Методы обработки и распознавания изображений</a:t>
            </a:r>
          </a:p>
        </p:txBody>
      </p:sp>
    </p:spTree>
    <p:extLst>
      <p:ext uri="{BB962C8B-B14F-4D97-AF65-F5344CB8AC3E}">
        <p14:creationId xmlns:p14="http://schemas.microsoft.com/office/powerpoint/2010/main" val="3250670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План лекции</a:t>
            </a:r>
            <a:endParaRPr lang="ru-RU" dirty="0"/>
          </a:p>
        </p:txBody>
      </p:sp>
      <p:sp>
        <p:nvSpPr>
          <p:cNvPr id="3" name="Объект 2"/>
          <p:cNvSpPr>
            <a:spLocks noGrp="1"/>
          </p:cNvSpPr>
          <p:nvPr>
            <p:ph idx="1"/>
          </p:nvPr>
        </p:nvSpPr>
        <p:spPr/>
        <p:txBody>
          <a:bodyPr>
            <a:normAutofit/>
          </a:bodyPr>
          <a:lstStyle/>
          <a:p>
            <a:pPr marL="502920" lvl="0" indent="-457200">
              <a:buFont typeface="+mj-lt"/>
              <a:buAutoNum type="arabicPeriod"/>
            </a:pPr>
            <a:r>
              <a:rPr lang="ru-RU" dirty="0"/>
              <a:t>Переход от однослойных к многослойным сетям.</a:t>
            </a:r>
          </a:p>
          <a:p>
            <a:pPr marL="502920" lvl="0" indent="-457200">
              <a:buFont typeface="+mj-lt"/>
              <a:buAutoNum type="arabicPeriod"/>
            </a:pPr>
            <a:r>
              <a:rPr lang="ru-RU" dirty="0"/>
              <a:t>Формальная модель MLP.</a:t>
            </a:r>
          </a:p>
          <a:p>
            <a:pPr marL="502920" lvl="0" indent="-457200">
              <a:buFont typeface="+mj-lt"/>
              <a:buAutoNum type="arabicPeriod"/>
            </a:pPr>
            <a:r>
              <a:rPr lang="ru-RU" dirty="0"/>
              <a:t>Прямое распространение сигнала.</a:t>
            </a:r>
          </a:p>
          <a:p>
            <a:pPr marL="502920" lvl="0" indent="-457200">
              <a:buFont typeface="+mj-lt"/>
              <a:buAutoNum type="arabicPeriod"/>
            </a:pPr>
            <a:r>
              <a:rPr lang="ru-RU" dirty="0"/>
              <a:t>Функция ошибки и задача обучения.</a:t>
            </a:r>
          </a:p>
          <a:p>
            <a:pPr marL="502920" lvl="0" indent="-457200">
              <a:buFont typeface="+mj-lt"/>
              <a:buAutoNum type="arabicPeriod"/>
            </a:pPr>
            <a:r>
              <a:rPr lang="ru-RU" dirty="0"/>
              <a:t>Обратное распространение ошибки.</a:t>
            </a:r>
          </a:p>
          <a:p>
            <a:pPr marL="502920" indent="-457200">
              <a:buFont typeface="+mj-lt"/>
              <a:buAutoNum type="arabicPeriod"/>
            </a:pPr>
            <a:r>
              <a:rPr lang="ru-RU" dirty="0"/>
              <a:t>Переобучение и методы борьбы</a:t>
            </a:r>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2</a:t>
            </a:fld>
            <a:endParaRPr lang="ru-RU" noProof="0" dirty="0"/>
          </a:p>
        </p:txBody>
      </p:sp>
    </p:spTree>
    <p:extLst>
      <p:ext uri="{BB962C8B-B14F-4D97-AF65-F5344CB8AC3E}">
        <p14:creationId xmlns:p14="http://schemas.microsoft.com/office/powerpoint/2010/main" val="1014111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Ограничения однослойного персептрона</a:t>
            </a:r>
            <a:endParaRPr lang="ru-RU" dirty="0"/>
          </a:p>
        </p:txBody>
      </p:sp>
      <p:sp>
        <p:nvSpPr>
          <p:cNvPr id="3" name="Объект 2"/>
          <p:cNvSpPr>
            <a:spLocks noGrp="1"/>
          </p:cNvSpPr>
          <p:nvPr>
            <p:ph idx="1"/>
          </p:nvPr>
        </p:nvSpPr>
        <p:spPr/>
        <p:txBody>
          <a:bodyPr>
            <a:normAutofit/>
          </a:bodyPr>
          <a:lstStyle/>
          <a:p>
            <a:r>
              <a:rPr lang="ru-RU" dirty="0"/>
              <a:t>О</a:t>
            </a:r>
            <a:r>
              <a:rPr lang="ru-RU" dirty="0" smtClean="0"/>
              <a:t>днослойный </a:t>
            </a:r>
            <a:r>
              <a:rPr lang="ru-RU" dirty="0"/>
              <a:t>персептрон решает только линейно разделимые </a:t>
            </a:r>
            <a:r>
              <a:rPr lang="ru-RU" dirty="0" smtClean="0"/>
              <a:t>задачи.</a:t>
            </a:r>
          </a:p>
          <a:p>
            <a:r>
              <a:rPr lang="ru-RU" dirty="0"/>
              <a:t>Д</a:t>
            </a:r>
            <a:r>
              <a:rPr lang="ru-RU" dirty="0" smtClean="0"/>
              <a:t>ля </a:t>
            </a:r>
            <a:r>
              <a:rPr lang="ru-RU" dirty="0"/>
              <a:t>сложных зависимостей нужен хотя бы один скрытый </a:t>
            </a:r>
            <a:r>
              <a:rPr lang="ru-RU" dirty="0" smtClean="0"/>
              <a:t>слой.</a:t>
            </a:r>
          </a:p>
          <a:p>
            <a:endParaRPr lang="ru-RU" dirty="0"/>
          </a:p>
          <a:p>
            <a:r>
              <a:rPr lang="ru-RU" b="1" i="1" dirty="0" smtClean="0"/>
              <a:t>Слой</a:t>
            </a:r>
            <a:r>
              <a:rPr lang="ru-RU" dirty="0" smtClean="0"/>
              <a:t> </a:t>
            </a:r>
            <a:r>
              <a:rPr lang="ru-RU" dirty="0"/>
              <a:t>- один или несколько нейронов, на входы которых подается один и тот же общий сигнал. </a:t>
            </a:r>
          </a:p>
          <a:p>
            <a:r>
              <a:rPr lang="ru-RU" b="1" i="1" dirty="0"/>
              <a:t>Слоистые нейронные сети </a:t>
            </a:r>
            <a:r>
              <a:rPr lang="ru-RU" dirty="0"/>
              <a:t>- сети, в которых нейроны разбиты на отдельные группы (слои) так, что обработка информации осуществляется послойно.</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3</a:t>
            </a:fld>
            <a:endParaRPr lang="ru-RU" noProof="0" dirty="0"/>
          </a:p>
        </p:txBody>
      </p:sp>
    </p:spTree>
    <p:extLst>
      <p:ext uri="{BB962C8B-B14F-4D97-AF65-F5344CB8AC3E}">
        <p14:creationId xmlns:p14="http://schemas.microsoft.com/office/powerpoint/2010/main" val="3146981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Переход к многослойной сети</a:t>
            </a:r>
            <a:endParaRPr lang="ru-RU" dirty="0"/>
          </a:p>
        </p:txBody>
      </p:sp>
      <p:sp>
        <p:nvSpPr>
          <p:cNvPr id="3" name="Объект 2"/>
          <p:cNvSpPr>
            <a:spLocks noGrp="1"/>
          </p:cNvSpPr>
          <p:nvPr>
            <p:ph idx="1"/>
          </p:nvPr>
        </p:nvSpPr>
        <p:spPr/>
        <p:txBody>
          <a:bodyPr>
            <a:normAutofit/>
          </a:bodyPr>
          <a:lstStyle/>
          <a:p>
            <a:r>
              <a:rPr lang="ru-RU" dirty="0"/>
              <a:t>В слоистых сетях нейроны i-</a:t>
            </a:r>
            <a:r>
              <a:rPr lang="ru-RU" dirty="0" err="1"/>
              <a:t>го</a:t>
            </a:r>
            <a:r>
              <a:rPr lang="ru-RU" dirty="0"/>
              <a:t> слоя получают входные сигналы, преобразуют их и через точки ветвления передают нейронам (i+1) слоя. И так до k-</a:t>
            </a:r>
            <a:r>
              <a:rPr lang="ru-RU" dirty="0" err="1"/>
              <a:t>го</a:t>
            </a:r>
            <a:r>
              <a:rPr lang="ru-RU" dirty="0"/>
              <a:t> слоя, который выдает выходные сигналы для интерпретатора и пользователя. Число нейронов в каждом слое не связано с количеством нейронов в других слоях, может быть произвольным.</a:t>
            </a:r>
          </a:p>
          <a:p>
            <a:r>
              <a:rPr lang="ru-RU" dirty="0"/>
              <a:t>В рамках одного слоя данные обрабатываются параллельно, а в масштабах всей сети обработка ведется последовательно - от слоя к слою</a:t>
            </a:r>
            <a:r>
              <a:rPr lang="ru-RU" dirty="0" smtClean="0"/>
              <a:t>.</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4</a:t>
            </a:fld>
            <a:endParaRPr lang="ru-RU" noProof="0" dirty="0"/>
          </a:p>
        </p:txBody>
      </p:sp>
    </p:spTree>
    <p:extLst>
      <p:ext uri="{BB962C8B-B14F-4D97-AF65-F5344CB8AC3E}">
        <p14:creationId xmlns:p14="http://schemas.microsoft.com/office/powerpoint/2010/main" val="2649148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Переход к многослойной сети</a:t>
            </a:r>
            <a:endParaRPr lang="ru-RU" dirty="0"/>
          </a:p>
        </p:txBody>
      </p:sp>
      <p:sp>
        <p:nvSpPr>
          <p:cNvPr id="3" name="Объект 2"/>
          <p:cNvSpPr>
            <a:spLocks noGrp="1"/>
          </p:cNvSpPr>
          <p:nvPr>
            <p:ph idx="1"/>
          </p:nvPr>
        </p:nvSpPr>
        <p:spPr/>
        <p:txBody>
          <a:bodyPr>
            <a:normAutofit/>
          </a:bodyPr>
          <a:lstStyle/>
          <a:p>
            <a:r>
              <a:rPr lang="ru-RU" dirty="0"/>
              <a:t>В многослойной сети первый слой называется входным, последующие - внутренними или скрытыми, последний слой - выходным. </a:t>
            </a:r>
          </a:p>
          <a:p>
            <a:r>
              <a:rPr lang="ru-RU" dirty="0"/>
              <a:t>Входной слой сети реализует связь с входными данными, выходной - с выходными. Таким образом, нейроны могут быть входными, выходными и скрытыми. Входной слой организован из входных нейронов (</a:t>
            </a:r>
            <a:r>
              <a:rPr lang="ru-RU" dirty="0" err="1"/>
              <a:t>input</a:t>
            </a:r>
            <a:r>
              <a:rPr lang="ru-RU" dirty="0"/>
              <a:t> </a:t>
            </a:r>
            <a:r>
              <a:rPr lang="ru-RU" dirty="0" err="1"/>
              <a:t>neuron</a:t>
            </a:r>
            <a:r>
              <a:rPr lang="ru-RU" dirty="0"/>
              <a:t>), которые получают данные и распространяют их на входы нейронов скрытого слоя сети. Скрытый нейрон (</a:t>
            </a:r>
            <a:r>
              <a:rPr lang="ru-RU" dirty="0" err="1"/>
              <a:t>hidden</a:t>
            </a:r>
            <a:r>
              <a:rPr lang="ru-RU" dirty="0"/>
              <a:t> </a:t>
            </a:r>
            <a:r>
              <a:rPr lang="ru-RU" dirty="0" err="1"/>
              <a:t>neuron</a:t>
            </a:r>
            <a:r>
              <a:rPr lang="ru-RU" dirty="0"/>
              <a:t>) - это нейрон, находящийся в скрытом слое нейронной сети.</a:t>
            </a:r>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5</a:t>
            </a:fld>
            <a:endParaRPr lang="ru-RU" noProof="0" dirty="0"/>
          </a:p>
        </p:txBody>
      </p:sp>
    </p:spTree>
    <p:extLst>
      <p:ext uri="{BB962C8B-B14F-4D97-AF65-F5344CB8AC3E}">
        <p14:creationId xmlns:p14="http://schemas.microsoft.com/office/powerpoint/2010/main" val="4115213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Переход к многослойной сети</a:t>
            </a:r>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6</a:t>
            </a:fld>
            <a:endParaRPr lang="ru-RU" noProof="0" dirty="0"/>
          </a:p>
        </p:txBody>
      </p:sp>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216063" y="1179513"/>
            <a:ext cx="9788448" cy="4849812"/>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70707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Переход к многослойной сети</a:t>
            </a:r>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7</a:t>
            </a:fld>
            <a:endParaRPr lang="ru-RU" noProof="0" dirty="0"/>
          </a:p>
        </p:txBody>
      </p:sp>
      <p:pic>
        <p:nvPicPr>
          <p:cNvPr id="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062287" y="1523206"/>
            <a:ext cx="6096000" cy="4162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29632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Переход к многослойной сети</a:t>
            </a:r>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8</a:t>
            </a:fld>
            <a:endParaRPr lang="ru-RU" noProof="0" dirty="0"/>
          </a:p>
        </p:txBody>
      </p:sp>
      <p:sp>
        <p:nvSpPr>
          <p:cNvPr id="3" name="Объект 2"/>
          <p:cNvSpPr>
            <a:spLocks noGrp="1"/>
          </p:cNvSpPr>
          <p:nvPr>
            <p:ph idx="1"/>
          </p:nvPr>
        </p:nvSpPr>
        <p:spPr/>
        <p:txBody>
          <a:bodyPr/>
          <a:lstStyle/>
          <a:p>
            <a:r>
              <a:rPr lang="ru-RU" dirty="0"/>
              <a:t>Сеть, изображенная на рисунке на предыдущем слайде, имеет n входов. На них поступают сигналы, идущие далее по синапсам на 3 нейрона, которые образуют первый слой. Выходные сигналы первого слоя передаются двум нейронам второго слоя. Последние, в свою очередь, выдают два выходных сигнала.</a:t>
            </a:r>
          </a:p>
          <a:p>
            <a:endParaRPr lang="ru-RU" dirty="0"/>
          </a:p>
        </p:txBody>
      </p:sp>
    </p:spTree>
    <p:extLst>
      <p:ext uri="{BB962C8B-B14F-4D97-AF65-F5344CB8AC3E}">
        <p14:creationId xmlns:p14="http://schemas.microsoft.com/office/powerpoint/2010/main" val="195000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Переход к многослойной сети</a:t>
            </a:r>
            <a:endParaRPr lang="ru-RU" dirty="0"/>
          </a:p>
        </p:txBody>
      </p:sp>
      <p:sp>
        <p:nvSpPr>
          <p:cNvPr id="3" name="Объект 2"/>
          <p:cNvSpPr>
            <a:spLocks noGrp="1"/>
          </p:cNvSpPr>
          <p:nvPr>
            <p:ph idx="1"/>
          </p:nvPr>
        </p:nvSpPr>
        <p:spPr/>
        <p:txBody>
          <a:bodyPr>
            <a:normAutofit/>
          </a:bodyPr>
          <a:lstStyle/>
          <a:p>
            <a:r>
              <a:rPr lang="ru-RU" dirty="0"/>
              <a:t>В полносвязных сетях каждый нейрон передает свой выходной сигнал остальным нейронам, включая самого себя. Выходными сигналами сети могут быть все или некоторые выходные сигналы нейронов после нескольких тактов функционирования сети. Все входные сигналы подаются всем нейронам.</a:t>
            </a:r>
          </a:p>
          <a:p>
            <a:r>
              <a:rPr lang="ru-RU" dirty="0"/>
              <a:t>Процесс обучения нейронной сети заключается в подстройке ее внутренних параметров под конкретную задачу. </a:t>
            </a:r>
          </a:p>
          <a:p>
            <a:r>
              <a:rPr lang="ru-RU" dirty="0"/>
              <a:t>Алгоритм работы нейронной сети является итеративным, его шаги называют эпохами или циклами. </a:t>
            </a:r>
          </a:p>
          <a:p>
            <a:r>
              <a:rPr lang="ru-RU" dirty="0"/>
              <a:t>Эпоха - одна итерация в процессе обучения, включающая предъявление всех примеров из обучающего множества и, возможно, проверку качества обучения на контрольном множестве.</a:t>
            </a:r>
          </a:p>
          <a:p>
            <a:r>
              <a:rPr lang="ru-RU" dirty="0"/>
              <a:t>В ходе обучения нейронная сеть находит некие зависимости выходных полей от входных. </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9</a:t>
            </a:fld>
            <a:endParaRPr lang="ru-RU" noProof="0" dirty="0"/>
          </a:p>
        </p:txBody>
      </p:sp>
    </p:spTree>
    <p:extLst>
      <p:ext uri="{BB962C8B-B14F-4D97-AF65-F5344CB8AC3E}">
        <p14:creationId xmlns:p14="http://schemas.microsoft.com/office/powerpoint/2010/main" val="2173903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Формальная запись нейрона слоя</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r>
                  <a:rPr lang="ru-RU" dirty="0" smtClean="0"/>
                  <a:t>Введем </a:t>
                </a:r>
                <a:r>
                  <a:rPr lang="ru-RU" dirty="0"/>
                  <a:t>базовый вычислительный блок многослойной сети: нейрон как преобразователь </a:t>
                </a:r>
                <a:r>
                  <a:rPr lang="ru-RU" dirty="0" smtClean="0"/>
                  <a:t>входного </a:t>
                </a:r>
                <a:r>
                  <a:rPr lang="ru-RU" dirty="0"/>
                  <a:t>вектора в одно число на выходе</a:t>
                </a:r>
                <a:r>
                  <a:rPr lang="ru-RU" dirty="0" smtClean="0"/>
                  <a:t>. Формула нейрона:</a:t>
                </a:r>
              </a:p>
              <a:p>
                <a14:m>
                  <m:oMathPara xmlns:m="http://schemas.openxmlformats.org/officeDocument/2006/math">
                    <m:oMathParaPr>
                      <m:jc m:val="centerGroup"/>
                    </m:oMathParaPr>
                    <m:oMath xmlns:m="http://schemas.openxmlformats.org/officeDocument/2006/math">
                      <m:sSub>
                        <m:sSubPr>
                          <m:ctrlPr>
                            <a:rPr lang="ru-RU" i="1"/>
                          </m:ctrlPr>
                        </m:sSubPr>
                        <m:e>
                          <m:r>
                            <a:rPr lang="ru-RU" i="1"/>
                            <m:t>𝑧</m:t>
                          </m:r>
                        </m:e>
                        <m:sub>
                          <m:r>
                            <a:rPr lang="ru-RU" i="1"/>
                            <m:t>𝑗</m:t>
                          </m:r>
                        </m:sub>
                      </m:sSub>
                      <m:r>
                        <a:rPr lang="ru-RU"/>
                        <m:t>=</m:t>
                      </m:r>
                      <m:nary>
                        <m:naryPr>
                          <m:chr m:val="∑"/>
                          <m:limLoc m:val="undOvr"/>
                          <m:grow m:val="on"/>
                          <m:ctrlPr>
                            <a:rPr lang="ru-RU" i="1"/>
                          </m:ctrlPr>
                        </m:naryPr>
                        <m:sub>
                          <m:r>
                            <a:rPr lang="ru-RU" i="1"/>
                            <m:t>𝑖</m:t>
                          </m:r>
                          <m:r>
                            <a:rPr lang="ru-RU"/>
                            <m:t>=1</m:t>
                          </m:r>
                        </m:sub>
                        <m:sup>
                          <m:r>
                            <a:rPr lang="ru-RU" i="1"/>
                            <m:t>𝑛</m:t>
                          </m:r>
                        </m:sup>
                        <m:e>
                          <m:r>
                            <a:rPr lang="ru-RU"/>
                            <m:t> </m:t>
                          </m:r>
                        </m:e>
                      </m:nary>
                      <m:sSub>
                        <m:sSubPr>
                          <m:ctrlPr>
                            <a:rPr lang="ru-RU" i="1"/>
                          </m:ctrlPr>
                        </m:sSubPr>
                        <m:e>
                          <m:r>
                            <a:rPr lang="ru-RU" i="1"/>
                            <m:t>𝑤</m:t>
                          </m:r>
                        </m:e>
                        <m:sub>
                          <m:r>
                            <a:rPr lang="ru-RU" i="1"/>
                            <m:t>𝑗𝑖</m:t>
                          </m:r>
                        </m:sub>
                      </m:sSub>
                      <m:sSub>
                        <m:sSubPr>
                          <m:ctrlPr>
                            <a:rPr lang="ru-RU" i="1"/>
                          </m:ctrlPr>
                        </m:sSubPr>
                        <m:e>
                          <m:r>
                            <a:rPr lang="ru-RU" i="1"/>
                            <m:t>𝑥</m:t>
                          </m:r>
                        </m:e>
                        <m:sub>
                          <m:r>
                            <a:rPr lang="ru-RU" i="1"/>
                            <m:t>𝑖</m:t>
                          </m:r>
                        </m:sub>
                      </m:sSub>
                      <m:r>
                        <a:rPr lang="ru-RU"/>
                        <m:t>+</m:t>
                      </m:r>
                      <m:sSub>
                        <m:sSubPr>
                          <m:ctrlPr>
                            <a:rPr lang="ru-RU" i="1"/>
                          </m:ctrlPr>
                        </m:sSubPr>
                        <m:e>
                          <m:r>
                            <a:rPr lang="ru-RU" i="1"/>
                            <m:t>𝑏</m:t>
                          </m:r>
                        </m:e>
                        <m:sub>
                          <m:r>
                            <a:rPr lang="ru-RU" i="1"/>
                            <m:t>𝑗</m:t>
                          </m:r>
                        </m:sub>
                      </m:sSub>
                    </m:oMath>
                  </m:oMathPara>
                </a14:m>
                <a:endParaRPr lang="ru-RU" dirty="0"/>
              </a:p>
              <a:p>
                <a14:m>
                  <m:oMathPara xmlns:m="http://schemas.openxmlformats.org/officeDocument/2006/math">
                    <m:oMathParaPr>
                      <m:jc m:val="centerGroup"/>
                    </m:oMathParaPr>
                    <m:oMath xmlns:m="http://schemas.openxmlformats.org/officeDocument/2006/math">
                      <m:sSub>
                        <m:sSubPr>
                          <m:ctrlPr>
                            <a:rPr lang="ru-RU" i="1"/>
                          </m:ctrlPr>
                        </m:sSubPr>
                        <m:e>
                          <m:r>
                            <a:rPr lang="ru-RU" i="1"/>
                            <m:t>h</m:t>
                          </m:r>
                        </m:e>
                        <m:sub>
                          <m:r>
                            <a:rPr lang="ru-RU" i="1"/>
                            <m:t>𝑗</m:t>
                          </m:r>
                        </m:sub>
                      </m:sSub>
                      <m:r>
                        <a:rPr lang="ru-RU"/>
                        <m:t>=</m:t>
                      </m:r>
                      <m:r>
                        <a:rPr lang="ru-RU" i="1"/>
                        <m:t>𝑓</m:t>
                      </m:r>
                      <m:r>
                        <a:rPr lang="ru-RU"/>
                        <m:t>(</m:t>
                      </m:r>
                      <m:sSub>
                        <m:sSubPr>
                          <m:ctrlPr>
                            <a:rPr lang="ru-RU" i="1"/>
                          </m:ctrlPr>
                        </m:sSubPr>
                        <m:e>
                          <m:r>
                            <a:rPr lang="ru-RU" i="1"/>
                            <m:t>𝑧</m:t>
                          </m:r>
                        </m:e>
                        <m:sub>
                          <m:r>
                            <a:rPr lang="ru-RU" i="1"/>
                            <m:t>𝑗</m:t>
                          </m:r>
                        </m:sub>
                      </m:sSub>
                      <m:r>
                        <a:rPr lang="ru-RU"/>
                        <m:t>)</m:t>
                      </m:r>
                    </m:oMath>
                  </m:oMathPara>
                </a14:m>
                <a:endParaRPr lang="ru-RU" dirty="0"/>
              </a:p>
              <a:p>
                <a:pPr lvl="0"/>
                <a14:m>
                  <m:oMath xmlns:m="http://schemas.openxmlformats.org/officeDocument/2006/math">
                    <m:sSub>
                      <m:sSubPr>
                        <m:ctrlPr>
                          <a:rPr lang="ru-RU" i="1"/>
                        </m:ctrlPr>
                      </m:sSubPr>
                      <m:e>
                        <m:r>
                          <a:rPr lang="ru-RU" i="1"/>
                          <m:t>𝑥</m:t>
                        </m:r>
                      </m:e>
                      <m:sub>
                        <m:r>
                          <a:rPr lang="ru-RU" i="1"/>
                          <m:t>𝑖</m:t>
                        </m:r>
                      </m:sub>
                    </m:sSub>
                  </m:oMath>
                </a14:m>
                <a:r>
                  <a:rPr lang="ru-RU" dirty="0"/>
                  <a:t> — входные сигналы;</a:t>
                </a:r>
              </a:p>
              <a:p>
                <a:pPr lvl="0"/>
                <a14:m>
                  <m:oMath xmlns:m="http://schemas.openxmlformats.org/officeDocument/2006/math">
                    <m:sSub>
                      <m:sSubPr>
                        <m:ctrlPr>
                          <a:rPr lang="ru-RU" i="1"/>
                        </m:ctrlPr>
                      </m:sSubPr>
                      <m:e>
                        <m:r>
                          <a:rPr lang="ru-RU" i="1"/>
                          <m:t>𝑤</m:t>
                        </m:r>
                      </m:e>
                      <m:sub>
                        <m:r>
                          <a:rPr lang="ru-RU" i="1"/>
                          <m:t>𝑗𝑖</m:t>
                        </m:r>
                      </m:sub>
                    </m:sSub>
                  </m:oMath>
                </a14:m>
                <a:r>
                  <a:rPr lang="ru-RU" dirty="0"/>
                  <a:t> — веса связей;</a:t>
                </a:r>
              </a:p>
              <a:p>
                <a:pPr lvl="0"/>
                <a14:m>
                  <m:oMath xmlns:m="http://schemas.openxmlformats.org/officeDocument/2006/math">
                    <m:sSub>
                      <m:sSubPr>
                        <m:ctrlPr>
                          <a:rPr lang="ru-RU" i="1"/>
                        </m:ctrlPr>
                      </m:sSubPr>
                      <m:e>
                        <m:r>
                          <a:rPr lang="ru-RU" i="1"/>
                          <m:t>𝑏</m:t>
                        </m:r>
                      </m:e>
                      <m:sub>
                        <m:r>
                          <a:rPr lang="ru-RU" i="1"/>
                          <m:t>𝑗</m:t>
                        </m:r>
                      </m:sub>
                    </m:sSub>
                  </m:oMath>
                </a14:m>
                <a:r>
                  <a:rPr lang="ru-RU" dirty="0"/>
                  <a:t> — смещение нейрона;</a:t>
                </a:r>
              </a:p>
              <a:p>
                <a:pPr lvl="0"/>
                <a14:m>
                  <m:oMath xmlns:m="http://schemas.openxmlformats.org/officeDocument/2006/math">
                    <m:sSub>
                      <m:sSubPr>
                        <m:ctrlPr>
                          <a:rPr lang="ru-RU" i="1"/>
                        </m:ctrlPr>
                      </m:sSubPr>
                      <m:e>
                        <m:r>
                          <a:rPr lang="ru-RU" i="1"/>
                          <m:t>𝑧</m:t>
                        </m:r>
                      </m:e>
                      <m:sub>
                        <m:r>
                          <a:rPr lang="ru-RU" i="1"/>
                          <m:t>𝑗</m:t>
                        </m:r>
                      </m:sub>
                    </m:sSub>
                  </m:oMath>
                </a14:m>
                <a:r>
                  <a:rPr lang="ru-RU" dirty="0"/>
                  <a:t> — взвешенная сумма на входе активационной функции;</a:t>
                </a:r>
              </a:p>
              <a:p>
                <a:pPr lvl="0"/>
                <a14:m>
                  <m:oMath xmlns:m="http://schemas.openxmlformats.org/officeDocument/2006/math">
                    <m:sSub>
                      <m:sSubPr>
                        <m:ctrlPr>
                          <a:rPr lang="ru-RU" i="1"/>
                        </m:ctrlPr>
                      </m:sSubPr>
                      <m:e>
                        <m:r>
                          <a:rPr lang="ru-RU" i="1"/>
                          <m:t>h</m:t>
                        </m:r>
                      </m:e>
                      <m:sub>
                        <m:r>
                          <a:rPr lang="ru-RU" i="1"/>
                          <m:t>𝑗</m:t>
                        </m:r>
                      </m:sub>
                    </m:sSub>
                  </m:oMath>
                </a14:m>
                <a:r>
                  <a:rPr lang="ru-RU" dirty="0"/>
                  <a:t> — выход нейрона;</a:t>
                </a:r>
              </a:p>
              <a:p>
                <a14:m>
                  <m:oMath xmlns:m="http://schemas.openxmlformats.org/officeDocument/2006/math">
                    <m:r>
                      <a:rPr lang="ru-RU" i="1"/>
                      <m:t>𝑓</m:t>
                    </m:r>
                    <m:r>
                      <a:rPr lang="ru-RU"/>
                      <m:t>(⋅)</m:t>
                    </m:r>
                  </m:oMath>
                </a14:m>
                <a:r>
                  <a:rPr lang="ru-RU" dirty="0"/>
                  <a:t> — функция активации.</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10</a:t>
            </a:fld>
            <a:endParaRPr lang="ru-RU" noProof="0" dirty="0"/>
          </a:p>
        </p:txBody>
      </p:sp>
    </p:spTree>
    <p:extLst>
      <p:ext uri="{BB962C8B-B14F-4D97-AF65-F5344CB8AC3E}">
        <p14:creationId xmlns:p14="http://schemas.microsoft.com/office/powerpoint/2010/main" val="3952049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Формальная запись нейрона слоя</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r>
                  <a:rPr lang="ru-RU" dirty="0"/>
                  <a:t>Каждый нейрон получает несколько входных сигналов, умножает каждый вход на свой вес, затем все результаты складываются, добавляется смещение, и после этого к полученной величине применяется функция </a:t>
                </a:r>
                <a:r>
                  <a:rPr lang="ru-RU" dirty="0" smtClean="0"/>
                  <a:t>активации.</a:t>
                </a:r>
              </a:p>
              <a:p>
                <a:r>
                  <a:rPr lang="ru-RU" b="1" dirty="0"/>
                  <a:t>1. Входы </a:t>
                </a:r>
                <a14:m>
                  <m:oMath xmlns:m="http://schemas.openxmlformats.org/officeDocument/2006/math">
                    <m:sSub>
                      <m:sSubPr>
                        <m:ctrlPr>
                          <a:rPr lang="ru-RU" i="1"/>
                        </m:ctrlPr>
                      </m:sSubPr>
                      <m:e>
                        <m:r>
                          <a:rPr lang="ru-RU" i="1"/>
                          <m:t>𝑥</m:t>
                        </m:r>
                      </m:e>
                      <m:sub>
                        <m:r>
                          <a:rPr lang="ru-RU" i="1"/>
                          <m:t>𝑖</m:t>
                        </m:r>
                      </m:sub>
                    </m:sSub>
                  </m:oMath>
                </a14:m>
                <a:endParaRPr lang="ru-RU" dirty="0"/>
              </a:p>
              <a:p>
                <a:r>
                  <a:rPr lang="ru-RU" dirty="0"/>
                  <a:t>Это компоненты входного вектора, которые приходят на данный нейрон из предыдущего слоя или непосредственно из входных данных. Если речь идёт об изображении, то такими входами могут быть либо значения пикселей, либо признаки, уже вычисленные предыдущим скрытым </a:t>
                </a:r>
                <a:r>
                  <a:rPr lang="ru-RU" dirty="0" smtClean="0"/>
                  <a:t>слоем.</a:t>
                </a:r>
              </a:p>
              <a:p>
                <a:r>
                  <a:rPr lang="ru-RU" b="1" dirty="0"/>
                  <a:t>2. Веса </a:t>
                </a:r>
                <a14:m>
                  <m:oMath xmlns:m="http://schemas.openxmlformats.org/officeDocument/2006/math">
                    <m:sSub>
                      <m:sSubPr>
                        <m:ctrlPr>
                          <a:rPr lang="ru-RU" i="1"/>
                        </m:ctrlPr>
                      </m:sSubPr>
                      <m:e>
                        <m:r>
                          <a:rPr lang="ru-RU" i="1"/>
                          <m:t>𝑤</m:t>
                        </m:r>
                      </m:e>
                      <m:sub>
                        <m:r>
                          <a:rPr lang="ru-RU" i="1"/>
                          <m:t>𝑗𝑖</m:t>
                        </m:r>
                      </m:sub>
                    </m:sSub>
                  </m:oMath>
                </a14:m>
                <a:endParaRPr lang="ru-RU" dirty="0"/>
              </a:p>
              <a:p>
                <a:r>
                  <a:rPr lang="ru-RU" dirty="0"/>
                  <a:t>Вес показывает, насколько сильно </a:t>
                </a:r>
                <a14:m>
                  <m:oMath xmlns:m="http://schemas.openxmlformats.org/officeDocument/2006/math">
                    <m:r>
                      <a:rPr lang="ru-RU" i="1"/>
                      <m:t>𝑖</m:t>
                    </m:r>
                  </m:oMath>
                </a14:m>
                <a:r>
                  <a:rPr lang="ru-RU" dirty="0"/>
                  <a:t>-й вход влияет на </a:t>
                </a:r>
                <a14:m>
                  <m:oMath xmlns:m="http://schemas.openxmlformats.org/officeDocument/2006/math">
                    <m:r>
                      <a:rPr lang="ru-RU" i="1"/>
                      <m:t>𝑗</m:t>
                    </m:r>
                  </m:oMath>
                </a14:m>
                <a:r>
                  <a:rPr lang="ru-RU" dirty="0"/>
                  <a:t>-й нейрон текущего слоя. Большой положительный вес усиливает влияние входа, отрицательный — подавляет, а малый по модулю означает слабое влияние</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r="-221"/>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11</a:t>
            </a:fld>
            <a:endParaRPr lang="ru-RU" noProof="0" dirty="0"/>
          </a:p>
        </p:txBody>
      </p:sp>
    </p:spTree>
    <p:extLst>
      <p:ext uri="{BB962C8B-B14F-4D97-AF65-F5344CB8AC3E}">
        <p14:creationId xmlns:p14="http://schemas.microsoft.com/office/powerpoint/2010/main" val="694014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Формальная запись нейрона слоя</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r>
                  <a:rPr lang="ru-RU" b="1" dirty="0"/>
                  <a:t>3. Смещение </a:t>
                </a:r>
                <a14:m>
                  <m:oMath xmlns:m="http://schemas.openxmlformats.org/officeDocument/2006/math">
                    <m:sSub>
                      <m:sSubPr>
                        <m:ctrlPr>
                          <a:rPr lang="ru-RU" i="1"/>
                        </m:ctrlPr>
                      </m:sSubPr>
                      <m:e>
                        <m:r>
                          <a:rPr lang="ru-RU" i="1"/>
                          <m:t>𝑏</m:t>
                        </m:r>
                      </m:e>
                      <m:sub>
                        <m:r>
                          <a:rPr lang="ru-RU" i="1"/>
                          <m:t>𝑗</m:t>
                        </m:r>
                      </m:sub>
                    </m:sSub>
                  </m:oMath>
                </a14:m>
                <a:endParaRPr lang="ru-RU" dirty="0"/>
              </a:p>
              <a:p>
                <a:r>
                  <a:rPr lang="ru-RU" dirty="0"/>
                  <a:t>Смещение — это добавка к сумме входов, которая позволяет сдвигать границу принятия решения нейрона. Без смещения нейрон был бы слишком жёстко привязан к началу координат, а со смещением модель становится </a:t>
                </a:r>
                <a:r>
                  <a:rPr lang="ru-RU" dirty="0" smtClean="0"/>
                  <a:t>более гибкой.</a:t>
                </a:r>
              </a:p>
              <a:p>
                <a:r>
                  <a:rPr lang="ru-RU" b="1" dirty="0"/>
                  <a:t>4. Линейная комбинация </a:t>
                </a:r>
                <a14:m>
                  <m:oMath xmlns:m="http://schemas.openxmlformats.org/officeDocument/2006/math">
                    <m:sSub>
                      <m:sSubPr>
                        <m:ctrlPr>
                          <a:rPr lang="ru-RU" i="1"/>
                        </m:ctrlPr>
                      </m:sSubPr>
                      <m:e>
                        <m:r>
                          <a:rPr lang="ru-RU" i="1"/>
                          <m:t>𝑧</m:t>
                        </m:r>
                      </m:e>
                      <m:sub>
                        <m:r>
                          <a:rPr lang="ru-RU" i="1"/>
                          <m:t>𝑗</m:t>
                        </m:r>
                      </m:sub>
                    </m:sSub>
                  </m:oMath>
                </a14:m>
                <a:endParaRPr lang="ru-RU" dirty="0"/>
              </a:p>
              <a:p>
                <a:r>
                  <a:rPr lang="ru-RU" dirty="0"/>
                  <a:t>Величина</a:t>
                </a:r>
              </a:p>
              <a:p>
                <a14:m>
                  <m:oMathPara xmlns:m="http://schemas.openxmlformats.org/officeDocument/2006/math">
                    <m:oMathParaPr>
                      <m:jc m:val="centerGroup"/>
                    </m:oMathParaPr>
                    <m:oMath xmlns:m="http://schemas.openxmlformats.org/officeDocument/2006/math">
                      <m:sSub>
                        <m:sSubPr>
                          <m:ctrlPr>
                            <a:rPr lang="ru-RU" i="1"/>
                          </m:ctrlPr>
                        </m:sSubPr>
                        <m:e>
                          <m:r>
                            <a:rPr lang="ru-RU" i="1"/>
                            <m:t>𝑧</m:t>
                          </m:r>
                        </m:e>
                        <m:sub>
                          <m:r>
                            <a:rPr lang="ru-RU" i="1"/>
                            <m:t>𝑗</m:t>
                          </m:r>
                        </m:sub>
                      </m:sSub>
                      <m:r>
                        <a:rPr lang="ru-RU"/>
                        <m:t>=</m:t>
                      </m:r>
                      <m:nary>
                        <m:naryPr>
                          <m:chr m:val="∑"/>
                          <m:limLoc m:val="undOvr"/>
                          <m:grow m:val="on"/>
                          <m:ctrlPr>
                            <a:rPr lang="ru-RU" i="1"/>
                          </m:ctrlPr>
                        </m:naryPr>
                        <m:sub>
                          <m:r>
                            <a:rPr lang="ru-RU" i="1"/>
                            <m:t>𝑖</m:t>
                          </m:r>
                          <m:r>
                            <a:rPr lang="ru-RU"/>
                            <m:t>=1</m:t>
                          </m:r>
                        </m:sub>
                        <m:sup>
                          <m:r>
                            <a:rPr lang="ru-RU" i="1"/>
                            <m:t>𝑛</m:t>
                          </m:r>
                        </m:sup>
                        <m:e>
                          <m:r>
                            <a:rPr lang="ru-RU"/>
                            <m:t> </m:t>
                          </m:r>
                        </m:e>
                      </m:nary>
                      <m:sSub>
                        <m:sSubPr>
                          <m:ctrlPr>
                            <a:rPr lang="ru-RU" i="1"/>
                          </m:ctrlPr>
                        </m:sSubPr>
                        <m:e>
                          <m:r>
                            <a:rPr lang="ru-RU" i="1"/>
                            <m:t>𝑤</m:t>
                          </m:r>
                        </m:e>
                        <m:sub>
                          <m:r>
                            <a:rPr lang="ru-RU" i="1"/>
                            <m:t>𝑗𝑖</m:t>
                          </m:r>
                        </m:sub>
                      </m:sSub>
                      <m:sSub>
                        <m:sSubPr>
                          <m:ctrlPr>
                            <a:rPr lang="ru-RU" i="1"/>
                          </m:ctrlPr>
                        </m:sSubPr>
                        <m:e>
                          <m:r>
                            <a:rPr lang="ru-RU" i="1"/>
                            <m:t>𝑥</m:t>
                          </m:r>
                        </m:e>
                        <m:sub>
                          <m:r>
                            <a:rPr lang="ru-RU" i="1"/>
                            <m:t>𝑖</m:t>
                          </m:r>
                        </m:sub>
                      </m:sSub>
                      <m:r>
                        <a:rPr lang="ru-RU"/>
                        <m:t>+</m:t>
                      </m:r>
                      <m:sSub>
                        <m:sSubPr>
                          <m:ctrlPr>
                            <a:rPr lang="ru-RU" i="1"/>
                          </m:ctrlPr>
                        </m:sSubPr>
                        <m:e>
                          <m:r>
                            <a:rPr lang="ru-RU" i="1"/>
                            <m:t>𝑏</m:t>
                          </m:r>
                        </m:e>
                        <m:sub>
                          <m:r>
                            <a:rPr lang="ru-RU" i="1"/>
                            <m:t>𝑗</m:t>
                          </m:r>
                        </m:sub>
                      </m:sSub>
                    </m:oMath>
                  </m:oMathPara>
                </a14:m>
                <a:endParaRPr lang="ru-RU" dirty="0"/>
              </a:p>
              <a:p>
                <a:r>
                  <a:rPr lang="ru-RU" dirty="0"/>
                  <a:t>называется индуцированным локальным полем, суммарным входом или просто линейной комбинацией. Это ещё не окончательный выход нейрона, а только промежуточный результат перед нелинейным </a:t>
                </a:r>
                <a:r>
                  <a:rPr lang="ru-RU" dirty="0" smtClean="0"/>
                  <a:t>преобразованием.</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879"/>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12</a:t>
            </a:fld>
            <a:endParaRPr lang="ru-RU" noProof="0" dirty="0"/>
          </a:p>
        </p:txBody>
      </p:sp>
    </p:spTree>
    <p:extLst>
      <p:ext uri="{BB962C8B-B14F-4D97-AF65-F5344CB8AC3E}">
        <p14:creationId xmlns:p14="http://schemas.microsoft.com/office/powerpoint/2010/main" val="2062769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Формальная запись нейрона слоя</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r>
                  <a:rPr lang="ru-RU" b="1" dirty="0"/>
                  <a:t>5. Активация </a:t>
                </a:r>
                <a14:m>
                  <m:oMath xmlns:m="http://schemas.openxmlformats.org/officeDocument/2006/math">
                    <m:sSub>
                      <m:sSubPr>
                        <m:ctrlPr>
                          <a:rPr lang="ru-RU" i="1"/>
                        </m:ctrlPr>
                      </m:sSubPr>
                      <m:e>
                        <m:r>
                          <a:rPr lang="ru-RU" i="1"/>
                          <m:t>h</m:t>
                        </m:r>
                      </m:e>
                      <m:sub>
                        <m:r>
                          <a:rPr lang="ru-RU" i="1"/>
                          <m:t>𝑗</m:t>
                        </m:r>
                      </m:sub>
                    </m:sSub>
                    <m:r>
                      <a:rPr lang="ru-RU"/>
                      <m:t>=</m:t>
                    </m:r>
                    <m:r>
                      <a:rPr lang="ru-RU" i="1"/>
                      <m:t>𝑓</m:t>
                    </m:r>
                    <m:r>
                      <a:rPr lang="ru-RU"/>
                      <m:t>(</m:t>
                    </m:r>
                    <m:sSub>
                      <m:sSubPr>
                        <m:ctrlPr>
                          <a:rPr lang="ru-RU" i="1"/>
                        </m:ctrlPr>
                      </m:sSubPr>
                      <m:e>
                        <m:r>
                          <a:rPr lang="ru-RU" i="1"/>
                          <m:t>𝑧</m:t>
                        </m:r>
                      </m:e>
                      <m:sub>
                        <m:r>
                          <a:rPr lang="ru-RU" i="1"/>
                          <m:t>𝑗</m:t>
                        </m:r>
                      </m:sub>
                    </m:sSub>
                    <m:r>
                      <a:rPr lang="ru-RU"/>
                      <m:t>)</m:t>
                    </m:r>
                  </m:oMath>
                </a14:m>
                <a:endParaRPr lang="ru-RU" dirty="0"/>
              </a:p>
              <a:p>
                <a:r>
                  <a:rPr lang="ru-RU" dirty="0"/>
                  <a:t>После вычисления суммы </a:t>
                </a:r>
                <a14:m>
                  <m:oMath xmlns:m="http://schemas.openxmlformats.org/officeDocument/2006/math">
                    <m:sSub>
                      <m:sSubPr>
                        <m:ctrlPr>
                          <a:rPr lang="ru-RU" i="1"/>
                        </m:ctrlPr>
                      </m:sSubPr>
                      <m:e>
                        <m:r>
                          <a:rPr lang="ru-RU" i="1"/>
                          <m:t>𝑧</m:t>
                        </m:r>
                      </m:e>
                      <m:sub>
                        <m:r>
                          <a:rPr lang="ru-RU" i="1"/>
                          <m:t>𝑗</m:t>
                        </m:r>
                      </m:sub>
                    </m:sSub>
                  </m:oMath>
                </a14:m>
                <a:r>
                  <a:rPr lang="ru-RU" dirty="0"/>
                  <a:t> нейрон применяет к ней функцию активации </a:t>
                </a:r>
                <a14:m>
                  <m:oMath xmlns:m="http://schemas.openxmlformats.org/officeDocument/2006/math">
                    <m:r>
                      <a:rPr lang="ru-RU" i="1"/>
                      <m:t>𝑓</m:t>
                    </m:r>
                  </m:oMath>
                </a14:m>
                <a:r>
                  <a:rPr lang="ru-RU" dirty="0"/>
                  <a:t>. Именно эта функция делает нейронную сеть нелинейной, а значит, способной описывать сложные зависимости, недоступные простой линейной модели</a:t>
                </a:r>
                <a:r>
                  <a:rPr lang="ru-RU" dirty="0" smtClean="0"/>
                  <a:t>.</a:t>
                </a:r>
                <a:endParaRPr lang="ru-RU" dirty="0"/>
              </a:p>
              <a:p>
                <a:r>
                  <a:rPr lang="ru-RU" dirty="0"/>
                  <a:t>Здесь можно дать краткий комментарий:</a:t>
                </a:r>
              </a:p>
              <a:p>
                <a:pPr lvl="0"/>
                <a:r>
                  <a:rPr lang="ru-RU" dirty="0"/>
                  <a:t>если </a:t>
                </a:r>
                <a14:m>
                  <m:oMath xmlns:m="http://schemas.openxmlformats.org/officeDocument/2006/math">
                    <m:r>
                      <a:rPr lang="ru-RU" i="1"/>
                      <m:t>𝑓</m:t>
                    </m:r>
                    <m:r>
                      <a:rPr lang="ru-RU"/>
                      <m:t>(</m:t>
                    </m:r>
                    <m:r>
                      <a:rPr lang="ru-RU" i="1"/>
                      <m:t>𝑧</m:t>
                    </m:r>
                    <m:r>
                      <a:rPr lang="ru-RU"/>
                      <m:t>)=</m:t>
                    </m:r>
                    <m:r>
                      <a:rPr lang="ru-RU" i="1"/>
                      <m:t>𝑧</m:t>
                    </m:r>
                  </m:oMath>
                </a14:m>
                <a:r>
                  <a:rPr lang="ru-RU" dirty="0"/>
                  <a:t>, нейрон линейный;</a:t>
                </a:r>
              </a:p>
              <a:p>
                <a:r>
                  <a:rPr lang="ru-RU" dirty="0"/>
                  <a:t>если </a:t>
                </a:r>
                <a14:m>
                  <m:oMath xmlns:m="http://schemas.openxmlformats.org/officeDocument/2006/math">
                    <m:r>
                      <a:rPr lang="ru-RU" i="1"/>
                      <m:t>𝑓</m:t>
                    </m:r>
                  </m:oMath>
                </a14:m>
                <a:r>
                  <a:rPr lang="ru-RU" dirty="0"/>
                  <a:t> — </a:t>
                </a:r>
                <a:r>
                  <a:rPr lang="ru-RU" dirty="0" err="1"/>
                  <a:t>sigmoid</a:t>
                </a:r>
                <a:r>
                  <a:rPr lang="ru-RU" dirty="0"/>
                  <a:t>, </a:t>
                </a:r>
                <a:r>
                  <a:rPr lang="ru-RU" dirty="0" err="1"/>
                  <a:t>tanh</a:t>
                </a:r>
                <a:r>
                  <a:rPr lang="ru-RU" dirty="0"/>
                  <a:t> или </a:t>
                </a:r>
                <a:r>
                  <a:rPr lang="ru-RU" dirty="0" err="1"/>
                  <a:t>ReLU</a:t>
                </a:r>
                <a:r>
                  <a:rPr lang="ru-RU" dirty="0"/>
                  <a:t>, сеть получает нелинейные свойства.</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879"/>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13</a:t>
            </a:fld>
            <a:endParaRPr lang="ru-RU" noProof="0" dirty="0"/>
          </a:p>
        </p:txBody>
      </p:sp>
    </p:spTree>
    <p:extLst>
      <p:ext uri="{BB962C8B-B14F-4D97-AF65-F5344CB8AC3E}">
        <p14:creationId xmlns:p14="http://schemas.microsoft.com/office/powerpoint/2010/main" val="3377330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Формальная запись нейрона слоя</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r>
                  <a:rPr lang="ru-RU" dirty="0" smtClean="0"/>
                  <a:t>Схема работы нейрона:</a:t>
                </a:r>
              </a:p>
              <a:p>
                <a14:m>
                  <m:oMathPara xmlns:m="http://schemas.openxmlformats.org/officeDocument/2006/math">
                    <m:oMathParaPr>
                      <m:jc m:val="centerGroup"/>
                    </m:oMathParaPr>
                    <m:oMath xmlns:m="http://schemas.openxmlformats.org/officeDocument/2006/math">
                      <m:m>
                        <m:mPr>
                          <m:mcs>
                            <m:mc>
                              <m:mcPr>
                                <m:count m:val="1"/>
                                <m:mcJc m:val="center"/>
                              </m:mcPr>
                            </m:mc>
                          </m:mcs>
                          <m:ctrlPr>
                            <a:rPr lang="ru-RU" i="1" smtClean="0">
                              <a:latin typeface="Cambria Math" panose="02040503050406030204" pitchFamily="18" charset="0"/>
                            </a:rPr>
                          </m:ctrlPr>
                        </m:mPr>
                        <m:mr>
                          <m:e>
                            <m:sSub>
                              <m:sSubPr>
                                <m:ctrlPr>
                                  <a:rPr lang="ru-RU" i="1">
                                    <a:latin typeface="Cambria Math" panose="02040503050406030204" pitchFamily="18" charset="0"/>
                                  </a:rPr>
                                </m:ctrlPr>
                              </m:sSubPr>
                              <m:e>
                                <m:r>
                                  <a:rPr lang="ru-RU" i="1">
                                    <a:latin typeface="Cambria Math" panose="02040503050406030204" pitchFamily="18" charset="0"/>
                                  </a:rPr>
                                  <m:t>𝑥</m:t>
                                </m:r>
                              </m:e>
                              <m:sub>
                                <m:r>
                                  <a:rPr lang="ru-RU">
                                    <a:latin typeface="Cambria Math" panose="02040503050406030204" pitchFamily="18" charset="0"/>
                                  </a:rPr>
                                  <m:t>1</m:t>
                                </m:r>
                              </m:sub>
                            </m:sSub>
                            <m:limUpp>
                              <m:limUppPr>
                                <m:ctrlPr>
                                  <a:rPr lang="ru-RU" i="1">
                                    <a:latin typeface="Cambria Math" panose="02040503050406030204" pitchFamily="18" charset="0"/>
                                  </a:rPr>
                                </m:ctrlPr>
                              </m:limUppPr>
                              <m:e>
                                <m:r>
                                  <a:rPr lang="ru-RU">
                                    <a:latin typeface="Cambria Math" panose="02040503050406030204" pitchFamily="18" charset="0"/>
                                  </a:rPr>
                                  <m:t>→</m:t>
                                </m:r>
                              </m:e>
                              <m:lim>
                                <m:phant>
                                  <m:phantPr>
                                    <m:ctrlPr>
                                      <a:rPr lang="ru-RU" i="1">
                                        <a:latin typeface="Cambria Math" panose="02040503050406030204" pitchFamily="18" charset="0"/>
                                      </a:rPr>
                                    </m:ctrlPr>
                                  </m:phantPr>
                                  <m:e>
                                    <m:sSub>
                                      <m:sSubPr>
                                        <m:ctrlPr>
                                          <a:rPr lang="ru-RU" i="1">
                                            <a:latin typeface="Cambria Math" panose="02040503050406030204" pitchFamily="18" charset="0"/>
                                          </a:rPr>
                                        </m:ctrlPr>
                                      </m:sSubPr>
                                      <m:e>
                                        <m:r>
                                          <a:rPr lang="ru-RU" i="1">
                                            <a:latin typeface="Cambria Math" panose="02040503050406030204" pitchFamily="18" charset="0"/>
                                          </a:rPr>
                                          <m:t>𝑤</m:t>
                                        </m:r>
                                      </m:e>
                                      <m:sub>
                                        <m:r>
                                          <a:rPr lang="ru-RU" i="1">
                                            <a:latin typeface="Cambria Math" panose="02040503050406030204" pitchFamily="18" charset="0"/>
                                          </a:rPr>
                                          <m:t>𝑗</m:t>
                                        </m:r>
                                        <m:r>
                                          <a:rPr lang="ru-RU">
                                            <a:latin typeface="Cambria Math" panose="02040503050406030204" pitchFamily="18" charset="0"/>
                                          </a:rPr>
                                          <m:t>1</m:t>
                                        </m:r>
                                      </m:sub>
                                    </m:sSub>
                                    <m:r>
                                      <a:rPr lang="ru-RU">
                                        <a:latin typeface="Cambria Math" panose="02040503050406030204" pitchFamily="18" charset="0"/>
                                      </a:rPr>
                                      <m:t> </m:t>
                                    </m:r>
                                  </m:e>
                                </m:phant>
                              </m:lim>
                            </m:limUpp>
                          </m:e>
                        </m:mr>
                        <m:mr>
                          <m:e>
                            <m:sSub>
                              <m:sSubPr>
                                <m:ctrlPr>
                                  <a:rPr lang="ru-RU" i="1">
                                    <a:latin typeface="Cambria Math" panose="02040503050406030204" pitchFamily="18" charset="0"/>
                                  </a:rPr>
                                </m:ctrlPr>
                              </m:sSubPr>
                              <m:e>
                                <m:r>
                                  <a:rPr lang="ru-RU" i="1">
                                    <a:latin typeface="Cambria Math" panose="02040503050406030204" pitchFamily="18" charset="0"/>
                                  </a:rPr>
                                  <m:t>𝑥</m:t>
                                </m:r>
                              </m:e>
                              <m:sub>
                                <m:r>
                                  <a:rPr lang="ru-RU">
                                    <a:latin typeface="Cambria Math" panose="02040503050406030204" pitchFamily="18" charset="0"/>
                                  </a:rPr>
                                  <m:t>2</m:t>
                                </m:r>
                              </m:sub>
                            </m:sSub>
                            <m:limUpp>
                              <m:limUppPr>
                                <m:ctrlPr>
                                  <a:rPr lang="ru-RU" i="1">
                                    <a:latin typeface="Cambria Math" panose="02040503050406030204" pitchFamily="18" charset="0"/>
                                  </a:rPr>
                                </m:ctrlPr>
                              </m:limUppPr>
                              <m:e>
                                <m:r>
                                  <a:rPr lang="ru-RU">
                                    <a:latin typeface="Cambria Math" panose="02040503050406030204" pitchFamily="18" charset="0"/>
                                  </a:rPr>
                                  <m:t>→</m:t>
                                </m:r>
                              </m:e>
                              <m:lim>
                                <m:phant>
                                  <m:phantPr>
                                    <m:ctrlPr>
                                      <a:rPr lang="ru-RU" i="1">
                                        <a:latin typeface="Cambria Math" panose="02040503050406030204" pitchFamily="18" charset="0"/>
                                      </a:rPr>
                                    </m:ctrlPr>
                                  </m:phantPr>
                                  <m:e>
                                    <m:sSub>
                                      <m:sSubPr>
                                        <m:ctrlPr>
                                          <a:rPr lang="ru-RU" i="1">
                                            <a:latin typeface="Cambria Math" panose="02040503050406030204" pitchFamily="18" charset="0"/>
                                          </a:rPr>
                                        </m:ctrlPr>
                                      </m:sSubPr>
                                      <m:e>
                                        <m:r>
                                          <a:rPr lang="ru-RU" i="1">
                                            <a:latin typeface="Cambria Math" panose="02040503050406030204" pitchFamily="18" charset="0"/>
                                          </a:rPr>
                                          <m:t>𝑤</m:t>
                                        </m:r>
                                      </m:e>
                                      <m:sub>
                                        <m:r>
                                          <a:rPr lang="ru-RU" i="1">
                                            <a:latin typeface="Cambria Math" panose="02040503050406030204" pitchFamily="18" charset="0"/>
                                          </a:rPr>
                                          <m:t>𝑗</m:t>
                                        </m:r>
                                        <m:r>
                                          <a:rPr lang="ru-RU">
                                            <a:latin typeface="Cambria Math" panose="02040503050406030204" pitchFamily="18" charset="0"/>
                                          </a:rPr>
                                          <m:t>2</m:t>
                                        </m:r>
                                      </m:sub>
                                    </m:sSub>
                                    <m:r>
                                      <a:rPr lang="ru-RU">
                                        <a:latin typeface="Cambria Math" panose="02040503050406030204" pitchFamily="18" charset="0"/>
                                      </a:rPr>
                                      <m:t> </m:t>
                                    </m:r>
                                  </m:e>
                                </m:phant>
                              </m:lim>
                            </m:limUpp>
                          </m:e>
                        </m:mr>
                      </m:m>
                      <m:borderBox>
                        <m:borderBoxPr>
                          <m:hideTop m:val="on"/>
                          <m:hideBot m:val="on"/>
                          <m:hideLeft m:val="on"/>
                          <m:hideRight m:val="on"/>
                          <m:ctrlPr>
                            <a:rPr lang="ru-RU" i="1"/>
                          </m:ctrlPr>
                        </m:borderBoxPr>
                        <m:e>
                          <m:nary>
                            <m:naryPr>
                              <m:chr m:val="∑"/>
                              <m:limLoc m:val="undOvr"/>
                              <m:subHide m:val="on"/>
                              <m:supHide m:val="on"/>
                              <m:ctrlPr>
                                <a:rPr lang="ru-RU" i="1"/>
                              </m:ctrlPr>
                            </m:naryPr>
                            <m:sub/>
                            <m:sup/>
                            <m:e/>
                          </m:nary>
                          <m:r>
                            <a:rPr lang="ru-RU"/>
                            <m:t>+</m:t>
                          </m:r>
                          <m:sSub>
                            <m:sSubPr>
                              <m:ctrlPr>
                                <a:rPr lang="ru-RU" i="1"/>
                              </m:ctrlPr>
                            </m:sSubPr>
                            <m:e>
                              <m:r>
                                <a:rPr lang="ru-RU" i="1"/>
                                <m:t>𝑏</m:t>
                              </m:r>
                            </m:e>
                            <m:sub>
                              <m:r>
                                <a:rPr lang="ru-RU" i="1"/>
                                <m:t>𝑗</m:t>
                              </m:r>
                            </m:sub>
                          </m:sSub>
                        </m:e>
                      </m:borderBox>
                      <m:r>
                        <a:rPr lang="ru-RU"/>
                        <m:t>→</m:t>
                      </m:r>
                      <m:r>
                        <a:rPr lang="ru-RU" i="1"/>
                        <m:t>𝑓</m:t>
                      </m:r>
                      <m:r>
                        <a:rPr lang="ru-RU"/>
                        <m:t>(⋅)→</m:t>
                      </m:r>
                      <m:sSub>
                        <m:sSubPr>
                          <m:ctrlPr>
                            <a:rPr lang="ru-RU" i="1"/>
                          </m:ctrlPr>
                        </m:sSubPr>
                        <m:e>
                          <m:r>
                            <a:rPr lang="ru-RU" i="1"/>
                            <m:t>h</m:t>
                          </m:r>
                        </m:e>
                        <m:sub>
                          <m:r>
                            <a:rPr lang="ru-RU" i="1"/>
                            <m:t>𝑗</m:t>
                          </m:r>
                        </m:sub>
                      </m:sSub>
                    </m:oMath>
                  </m:oMathPara>
                </a14:m>
                <a:endParaRPr lang="ru-RU" dirty="0"/>
              </a:p>
              <a:p>
                <a:endParaRPr lang="ru-RU" dirty="0" smtClean="0"/>
              </a:p>
              <a:p>
                <a:endParaRPr lang="ru-RU" dirty="0"/>
              </a:p>
              <a:p>
                <a:pPr marL="388620" indent="-342900">
                  <a:buFont typeface="Arial" panose="020B0604020202020204" pitchFamily="34" charset="0"/>
                  <a:buChar char="•"/>
                </a:pPr>
                <a:r>
                  <a:rPr lang="ru-RU" dirty="0" smtClean="0"/>
                  <a:t>нейрон </a:t>
                </a:r>
                <a:r>
                  <a:rPr lang="ru-RU" dirty="0"/>
                  <a:t>вычисляет взвешенную сумму входов</a:t>
                </a:r>
                <a:r>
                  <a:rPr lang="ru-RU" dirty="0" smtClean="0"/>
                  <a:t>;</a:t>
                </a:r>
              </a:p>
              <a:p>
                <a:pPr marL="388620" indent="-342900">
                  <a:buFont typeface="Arial" panose="020B0604020202020204" pitchFamily="34" charset="0"/>
                  <a:buChar char="•"/>
                </a:pPr>
                <a:r>
                  <a:rPr lang="ru-RU" dirty="0" smtClean="0"/>
                  <a:t>затем </a:t>
                </a:r>
                <a:r>
                  <a:rPr lang="ru-RU" dirty="0"/>
                  <a:t>применяет нелинейную функцию активации</a:t>
                </a:r>
                <a:r>
                  <a:rPr lang="ru-RU" dirty="0" smtClean="0"/>
                  <a:t>;</a:t>
                </a:r>
              </a:p>
              <a:p>
                <a:pPr marL="388620" indent="-342900">
                  <a:buFont typeface="Arial" panose="020B0604020202020204" pitchFamily="34" charset="0"/>
                  <a:buChar char="•"/>
                </a:pPr>
                <a:r>
                  <a:rPr lang="ru-RU" dirty="0" smtClean="0"/>
                  <a:t>веса </a:t>
                </a:r>
                <a:r>
                  <a:rPr lang="ru-RU" dirty="0"/>
                  <a:t>и смещение настраиваются в процессе обучения.</a:t>
                </a:r>
                <a:endParaRPr lang="ru-RU" dirty="0" smtClean="0"/>
              </a:p>
              <a:p>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14</a:t>
            </a:fld>
            <a:endParaRPr lang="ru-RU" noProof="0" dirty="0"/>
          </a:p>
        </p:txBody>
      </p:sp>
    </p:spTree>
    <p:extLst>
      <p:ext uri="{BB962C8B-B14F-4D97-AF65-F5344CB8AC3E}">
        <p14:creationId xmlns:p14="http://schemas.microsoft.com/office/powerpoint/2010/main" val="184361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Формальная запись нейрона слоя</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r>
                  <a:rPr lang="ru-RU" dirty="0"/>
                  <a:t>Пусть нейрон получает два входа: </a:t>
                </a:r>
                <a14:m>
                  <m:oMath xmlns:m="http://schemas.openxmlformats.org/officeDocument/2006/math">
                    <m:sSub>
                      <m:sSubPr>
                        <m:ctrlPr>
                          <a:rPr lang="ru-RU" i="1"/>
                        </m:ctrlPr>
                      </m:sSubPr>
                      <m:e>
                        <m:r>
                          <a:rPr lang="ru-RU" i="1"/>
                          <m:t>𝑥</m:t>
                        </m:r>
                      </m:e>
                      <m:sub>
                        <m:r>
                          <a:rPr lang="ru-RU"/>
                          <m:t>1</m:t>
                        </m:r>
                      </m:sub>
                    </m:sSub>
                    <m:r>
                      <a:rPr lang="ru-RU"/>
                      <m:t>=0.7</m:t>
                    </m:r>
                  </m:oMath>
                </a14:m>
                <a:r>
                  <a:rPr lang="ru-RU" dirty="0"/>
                  <a:t> и </a:t>
                </a:r>
                <a14:m>
                  <m:oMath xmlns:m="http://schemas.openxmlformats.org/officeDocument/2006/math">
                    <m:sSub>
                      <m:sSubPr>
                        <m:ctrlPr>
                          <a:rPr lang="ru-RU" i="1"/>
                        </m:ctrlPr>
                      </m:sSubPr>
                      <m:e>
                        <m:r>
                          <a:rPr lang="ru-RU" i="1"/>
                          <m:t>𝑥</m:t>
                        </m:r>
                      </m:e>
                      <m:sub>
                        <m:r>
                          <a:rPr lang="ru-RU"/>
                          <m:t>2</m:t>
                        </m:r>
                      </m:sub>
                    </m:sSub>
                    <m:r>
                      <a:rPr lang="ru-RU"/>
                      <m:t>=0.2</m:t>
                    </m:r>
                  </m:oMath>
                </a14:m>
                <a:r>
                  <a:rPr lang="ru-RU" dirty="0"/>
                  <a:t>, </a:t>
                </a:r>
                <a:endParaRPr lang="ru-RU" dirty="0" smtClean="0"/>
              </a:p>
              <a:p>
                <a:r>
                  <a:rPr lang="ru-RU" dirty="0" smtClean="0"/>
                  <a:t>веса </a:t>
                </a:r>
                <a:r>
                  <a:rPr lang="ru-RU" dirty="0"/>
                  <a:t>равны </a:t>
                </a:r>
                <a14:m>
                  <m:oMath xmlns:m="http://schemas.openxmlformats.org/officeDocument/2006/math">
                    <m:sSub>
                      <m:sSubPr>
                        <m:ctrlPr>
                          <a:rPr lang="ru-RU" i="1"/>
                        </m:ctrlPr>
                      </m:sSubPr>
                      <m:e>
                        <m:r>
                          <a:rPr lang="ru-RU" i="1"/>
                          <m:t>𝑤</m:t>
                        </m:r>
                      </m:e>
                      <m:sub>
                        <m:r>
                          <a:rPr lang="ru-RU" i="1"/>
                          <m:t>𝑗</m:t>
                        </m:r>
                        <m:r>
                          <a:rPr lang="ru-RU"/>
                          <m:t>1</m:t>
                        </m:r>
                      </m:sub>
                    </m:sSub>
                    <m:r>
                      <a:rPr lang="ru-RU"/>
                      <m:t>=0.5</m:t>
                    </m:r>
                  </m:oMath>
                </a14:m>
                <a:r>
                  <a:rPr lang="ru-RU" dirty="0"/>
                  <a:t>, </a:t>
                </a:r>
                <a14:m>
                  <m:oMath xmlns:m="http://schemas.openxmlformats.org/officeDocument/2006/math">
                    <m:sSub>
                      <m:sSubPr>
                        <m:ctrlPr>
                          <a:rPr lang="ru-RU" i="1"/>
                        </m:ctrlPr>
                      </m:sSubPr>
                      <m:e>
                        <m:r>
                          <a:rPr lang="ru-RU" i="1"/>
                          <m:t>𝑤</m:t>
                        </m:r>
                      </m:e>
                      <m:sub>
                        <m:r>
                          <a:rPr lang="ru-RU" i="1"/>
                          <m:t>𝑗</m:t>
                        </m:r>
                        <m:r>
                          <a:rPr lang="ru-RU"/>
                          <m:t>2</m:t>
                        </m:r>
                      </m:sub>
                    </m:sSub>
                    <m:r>
                      <a:rPr lang="ru-RU"/>
                      <m:t>=</m:t>
                    </m:r>
                    <m:r>
                      <a:rPr lang="ru-RU" i="1"/>
                      <m:t>−</m:t>
                    </m:r>
                    <m:r>
                      <a:rPr lang="ru-RU"/>
                      <m:t>0.3</m:t>
                    </m:r>
                  </m:oMath>
                </a14:m>
                <a:r>
                  <a:rPr lang="ru-RU" dirty="0"/>
                  <a:t>, а смещение </a:t>
                </a:r>
                <a14:m>
                  <m:oMath xmlns:m="http://schemas.openxmlformats.org/officeDocument/2006/math">
                    <m:sSub>
                      <m:sSubPr>
                        <m:ctrlPr>
                          <a:rPr lang="ru-RU" i="1"/>
                        </m:ctrlPr>
                      </m:sSubPr>
                      <m:e>
                        <m:r>
                          <a:rPr lang="ru-RU" i="1"/>
                          <m:t>𝑏</m:t>
                        </m:r>
                      </m:e>
                      <m:sub>
                        <m:r>
                          <a:rPr lang="ru-RU" i="1"/>
                          <m:t>𝑗</m:t>
                        </m:r>
                      </m:sub>
                    </m:sSub>
                    <m:r>
                      <a:rPr lang="ru-RU"/>
                      <m:t>=0.1</m:t>
                    </m:r>
                  </m:oMath>
                </a14:m>
                <a:r>
                  <a:rPr lang="ru-RU" dirty="0"/>
                  <a:t>. </a:t>
                </a:r>
                <a:endParaRPr lang="ru-RU" dirty="0" smtClean="0"/>
              </a:p>
              <a:p>
                <a:r>
                  <a:rPr lang="ru-RU" dirty="0" smtClean="0"/>
                  <a:t>Тогда </a:t>
                </a:r>
                <a:r>
                  <a:rPr lang="ru-RU" dirty="0"/>
                  <a:t>сначала считаем сумму:</a:t>
                </a:r>
              </a:p>
              <a:p>
                <a14:m>
                  <m:oMathPara xmlns:m="http://schemas.openxmlformats.org/officeDocument/2006/math">
                    <m:oMathParaPr>
                      <m:jc m:val="centerGroup"/>
                    </m:oMathParaPr>
                    <m:oMath xmlns:m="http://schemas.openxmlformats.org/officeDocument/2006/math">
                      <m:sSub>
                        <m:sSubPr>
                          <m:ctrlPr>
                            <a:rPr lang="ru-RU" i="1"/>
                          </m:ctrlPr>
                        </m:sSubPr>
                        <m:e>
                          <m:r>
                            <a:rPr lang="ru-RU" i="1"/>
                            <m:t>𝑧</m:t>
                          </m:r>
                        </m:e>
                        <m:sub>
                          <m:r>
                            <a:rPr lang="ru-RU" i="1"/>
                            <m:t>𝑗</m:t>
                          </m:r>
                        </m:sub>
                      </m:sSub>
                      <m:r>
                        <a:rPr lang="ru-RU"/>
                        <m:t>=0.5⋅0.7+(</m:t>
                      </m:r>
                      <m:r>
                        <a:rPr lang="ru-RU" i="1"/>
                        <m:t>−</m:t>
                      </m:r>
                      <m:r>
                        <a:rPr lang="ru-RU"/>
                        <m:t>0.3)⋅0.2+0.1=0.39</m:t>
                      </m:r>
                    </m:oMath>
                  </m:oMathPara>
                </a14:m>
                <a:endParaRPr lang="ru-RU" dirty="0"/>
              </a:p>
              <a:p>
                <a:r>
                  <a:rPr lang="ru-RU" dirty="0"/>
                  <a:t>а затем подаём это значение на функцию активации и получаем выход </a:t>
                </a:r>
                <a:r>
                  <a:rPr lang="ru-RU" dirty="0" smtClean="0"/>
                  <a:t>нейрона.</a:t>
                </a:r>
              </a:p>
              <a:p>
                <a:endParaRPr lang="ru-RU" dirty="0"/>
              </a:p>
              <a:p>
                <a:pPr lvl="0"/>
                <a:r>
                  <a:rPr lang="ru-RU" dirty="0"/>
                  <a:t>О</a:t>
                </a:r>
                <a:r>
                  <a:rPr lang="ru-RU" dirty="0" smtClean="0"/>
                  <a:t>дин </a:t>
                </a:r>
                <a:r>
                  <a:rPr lang="ru-RU" dirty="0"/>
                  <a:t>нейрон реализует локальное преобразование;</a:t>
                </a:r>
              </a:p>
              <a:p>
                <a:pPr lvl="0"/>
                <a:r>
                  <a:rPr lang="ru-RU" dirty="0"/>
                  <a:t>С</a:t>
                </a:r>
                <a:r>
                  <a:rPr lang="ru-RU" dirty="0" smtClean="0"/>
                  <a:t>лой </a:t>
                </a:r>
                <a:r>
                  <a:rPr lang="ru-RU" dirty="0"/>
                  <a:t>состоит из многих таких нейронов;</a:t>
                </a:r>
              </a:p>
              <a:p>
                <a:r>
                  <a:rPr lang="ru-RU" dirty="0"/>
                  <a:t>В</a:t>
                </a:r>
                <a:r>
                  <a:rPr lang="ru-RU" dirty="0" smtClean="0"/>
                  <a:t>ся </a:t>
                </a:r>
                <a:r>
                  <a:rPr lang="ru-RU" dirty="0"/>
                  <a:t>сеть — это последовательное применение таких преобразований по </a:t>
                </a:r>
                <a:r>
                  <a:rPr lang="ru-RU" dirty="0" smtClean="0"/>
                  <a:t>слоям.</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15</a:t>
            </a:fld>
            <a:endParaRPr lang="ru-RU" noProof="0" dirty="0"/>
          </a:p>
        </p:txBody>
      </p:sp>
    </p:spTree>
    <p:extLst>
      <p:ext uri="{BB962C8B-B14F-4D97-AF65-F5344CB8AC3E}">
        <p14:creationId xmlns:p14="http://schemas.microsoft.com/office/powerpoint/2010/main" val="1159386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Формальная модель слоя в векторно-матричной форме</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pPr lvl="0"/>
                <a:r>
                  <a:rPr lang="ru-RU" dirty="0"/>
                  <a:t>Если на предыдущем слайде мы описали работу одного нейрона, то теперь обобщаем эту запись на весь слой. Вместо одного выхода </a:t>
                </a:r>
                <a14:m>
                  <m:oMath xmlns:m="http://schemas.openxmlformats.org/officeDocument/2006/math">
                    <m:sSub>
                      <m:sSubPr>
                        <m:ctrlPr>
                          <a:rPr lang="ru-RU" i="1">
                            <a:latin typeface="Cambria Math" panose="02040503050406030204" pitchFamily="18" charset="0"/>
                          </a:rPr>
                        </m:ctrlPr>
                      </m:sSubPr>
                      <m:e>
                        <m:r>
                          <a:rPr lang="ru-RU" i="1">
                            <a:latin typeface="Cambria Math" panose="02040503050406030204" pitchFamily="18" charset="0"/>
                          </a:rPr>
                          <m:t>h</m:t>
                        </m:r>
                      </m:e>
                      <m:sub>
                        <m:r>
                          <a:rPr lang="ru-RU" i="1">
                            <a:latin typeface="Cambria Math" panose="02040503050406030204" pitchFamily="18" charset="0"/>
                          </a:rPr>
                          <m:t>𝑗</m:t>
                        </m:r>
                      </m:sub>
                    </m:sSub>
                  </m:oMath>
                </a14:m>
                <a:r>
                  <a:rPr lang="ru-RU" dirty="0"/>
                  <a:t> рассматриваем сразу вектор выходов слоя. Вместо набора отдельных весов — матрицу весов. Вместо одного смещения — вектор смещений. Тогда весь слой записывается одной компактной матричной </a:t>
                </a:r>
                <a:r>
                  <a:rPr lang="ru-RU" dirty="0" smtClean="0"/>
                  <a:t>формулой.</a:t>
                </a:r>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r="-386"/>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16</a:t>
            </a:fld>
            <a:endParaRPr lang="ru-RU" noProof="0" dirty="0"/>
          </a:p>
        </p:txBody>
      </p:sp>
    </p:spTree>
    <p:extLst>
      <p:ext uri="{BB962C8B-B14F-4D97-AF65-F5344CB8AC3E}">
        <p14:creationId xmlns:p14="http://schemas.microsoft.com/office/powerpoint/2010/main" val="2452868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Формальная модель слоя в векторно-матричной форме</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r>
                  <a:rPr lang="ru-RU" dirty="0"/>
                  <a:t>Пусть многослойная сеть состоит из </a:t>
                </a:r>
                <a14:m>
                  <m:oMath xmlns:m="http://schemas.openxmlformats.org/officeDocument/2006/math">
                    <m:r>
                      <a:rPr lang="ru-RU" i="1"/>
                      <m:t>𝐿</m:t>
                    </m:r>
                  </m:oMath>
                </a14:m>
                <a:r>
                  <a:rPr lang="ru-RU" dirty="0"/>
                  <a:t> слоёв. Обозначим через </a:t>
                </a:r>
                <a14:m>
                  <m:oMath xmlns:m="http://schemas.openxmlformats.org/officeDocument/2006/math">
                    <m:sSup>
                      <m:sSupPr>
                        <m:ctrlPr>
                          <a:rPr lang="ru-RU" i="1"/>
                        </m:ctrlPr>
                      </m:sSupPr>
                      <m:e>
                        <m:r>
                          <a:rPr lang="ru-RU" i="1"/>
                          <m:t>h</m:t>
                        </m:r>
                      </m:e>
                      <m:sup>
                        <m:r>
                          <a:rPr lang="ru-RU"/>
                          <m:t>(0)</m:t>
                        </m:r>
                      </m:sup>
                    </m:sSup>
                    <m:r>
                      <a:rPr lang="ru-RU"/>
                      <m:t>=</m:t>
                    </m:r>
                    <m:r>
                      <a:rPr lang="ru-RU" i="1"/>
                      <m:t>𝑥</m:t>
                    </m:r>
                  </m:oMath>
                </a14:m>
                <a:r>
                  <a:rPr lang="ru-RU" dirty="0"/>
                  <a:t> </a:t>
                </a:r>
                <a:r>
                  <a:rPr lang="ru-RU" dirty="0" smtClean="0"/>
                  <a:t>(</a:t>
                </a:r>
                <a14:m>
                  <m:oMath xmlns:m="http://schemas.openxmlformats.org/officeDocument/2006/math">
                    <m:r>
                      <a:rPr lang="ru-RU" i="1">
                        <a:latin typeface="Cambria Math" panose="02040503050406030204" pitchFamily="18" charset="0"/>
                      </a:rPr>
                      <m:t>𝑥</m:t>
                    </m:r>
                    <m:r>
                      <a:rPr lang="ru-RU">
                        <a:latin typeface="Cambria Math" panose="02040503050406030204" pitchFamily="18" charset="0"/>
                      </a:rPr>
                      <m:t>∈</m:t>
                    </m:r>
                    <m:sSup>
                      <m:sSupPr>
                        <m:ctrlPr>
                          <a:rPr lang="ru-RU" i="1">
                            <a:latin typeface="Cambria Math" panose="02040503050406030204" pitchFamily="18" charset="0"/>
                          </a:rPr>
                        </m:ctrlPr>
                      </m:sSupPr>
                      <m:e>
                        <m:r>
                          <a:rPr lang="ru-RU" i="1">
                            <a:latin typeface="Cambria Math" panose="02040503050406030204" pitchFamily="18" charset="0"/>
                          </a:rPr>
                          <m:t>ℝ</m:t>
                        </m:r>
                      </m:e>
                      <m:sup>
                        <m:sSub>
                          <m:sSubPr>
                            <m:ctrlPr>
                              <a:rPr lang="ru-RU" i="1">
                                <a:latin typeface="Cambria Math" panose="02040503050406030204" pitchFamily="18" charset="0"/>
                              </a:rPr>
                            </m:ctrlPr>
                          </m:sSubPr>
                          <m:e>
                            <m:r>
                              <a:rPr lang="ru-RU" i="1">
                                <a:latin typeface="Cambria Math" panose="02040503050406030204" pitchFamily="18" charset="0"/>
                              </a:rPr>
                              <m:t>𝑛</m:t>
                            </m:r>
                          </m:e>
                          <m:sub>
                            <m:r>
                              <a:rPr lang="ru-RU">
                                <a:latin typeface="Cambria Math" panose="02040503050406030204" pitchFamily="18" charset="0"/>
                              </a:rPr>
                              <m:t>0</m:t>
                            </m:r>
                          </m:sub>
                        </m:sSub>
                      </m:sup>
                    </m:sSup>
                  </m:oMath>
                </a14:m>
                <a:r>
                  <a:rPr lang="ru-RU" dirty="0" smtClean="0"/>
                  <a:t>) входной </a:t>
                </a:r>
                <a:r>
                  <a:rPr lang="ru-RU" dirty="0"/>
                  <a:t>вектор сети. Для каждого слоя </a:t>
                </a:r>
                <a14:m>
                  <m:oMath xmlns:m="http://schemas.openxmlformats.org/officeDocument/2006/math">
                    <m:r>
                      <a:rPr lang="ru-RU" i="1"/>
                      <m:t>𝑙</m:t>
                    </m:r>
                  </m:oMath>
                </a14:m>
                <a:r>
                  <a:rPr lang="ru-RU" dirty="0" smtClean="0"/>
                  <a:t> (</a:t>
                </a:r>
                <a:r>
                  <a:rPr lang="ru-RU" dirty="0"/>
                  <a:t>имеет </a:t>
                </a:r>
                <a14:m>
                  <m:oMath xmlns:m="http://schemas.openxmlformats.org/officeDocument/2006/math">
                    <m:sSub>
                      <m:sSubPr>
                        <m:ctrlPr>
                          <a:rPr lang="ru-RU" i="1">
                            <a:latin typeface="Cambria Math" panose="02040503050406030204" pitchFamily="18" charset="0"/>
                          </a:rPr>
                        </m:ctrlPr>
                      </m:sSubPr>
                      <m:e>
                        <m:r>
                          <a:rPr lang="ru-RU" i="1">
                            <a:latin typeface="Cambria Math" panose="02040503050406030204" pitchFamily="18" charset="0"/>
                          </a:rPr>
                          <m:t>𝑛</m:t>
                        </m:r>
                      </m:e>
                      <m:sub>
                        <m:r>
                          <a:rPr lang="ru-RU" i="1">
                            <a:latin typeface="Cambria Math" panose="02040503050406030204" pitchFamily="18" charset="0"/>
                          </a:rPr>
                          <m:t>𝑙</m:t>
                        </m:r>
                      </m:sub>
                    </m:sSub>
                  </m:oMath>
                </a14:m>
                <a:r>
                  <a:rPr lang="ru-RU" dirty="0"/>
                  <a:t> нейронов</a:t>
                </a:r>
                <a:r>
                  <a:rPr lang="ru-RU" dirty="0" smtClean="0"/>
                  <a:t>) </a:t>
                </a:r>
                <a:r>
                  <a:rPr lang="ru-RU" dirty="0"/>
                  <a:t>вводятся матрица весов </a:t>
                </a:r>
                <a14:m>
                  <m:oMath xmlns:m="http://schemas.openxmlformats.org/officeDocument/2006/math">
                    <m:sSup>
                      <m:sSupPr>
                        <m:ctrlPr>
                          <a:rPr lang="ru-RU" i="1"/>
                        </m:ctrlPr>
                      </m:sSupPr>
                      <m:e>
                        <m:r>
                          <a:rPr lang="ru-RU" i="1"/>
                          <m:t>𝑊</m:t>
                        </m:r>
                      </m:e>
                      <m:sup>
                        <m:r>
                          <a:rPr lang="ru-RU"/>
                          <m:t>(</m:t>
                        </m:r>
                        <m:r>
                          <a:rPr lang="ru-RU" i="1"/>
                          <m:t>𝑙</m:t>
                        </m:r>
                        <m:r>
                          <a:rPr lang="ru-RU"/>
                          <m:t>)</m:t>
                        </m:r>
                      </m:sup>
                    </m:sSup>
                  </m:oMath>
                </a14:m>
                <a:r>
                  <a:rPr lang="ru-RU" dirty="0"/>
                  <a:t> и вектор смещений </a:t>
                </a:r>
                <a14:m>
                  <m:oMath xmlns:m="http://schemas.openxmlformats.org/officeDocument/2006/math">
                    <m:sSup>
                      <m:sSupPr>
                        <m:ctrlPr>
                          <a:rPr lang="ru-RU" i="1"/>
                        </m:ctrlPr>
                      </m:sSupPr>
                      <m:e>
                        <m:r>
                          <a:rPr lang="ru-RU" i="1"/>
                          <m:t>𝑏</m:t>
                        </m:r>
                      </m:e>
                      <m:sup>
                        <m:r>
                          <a:rPr lang="ru-RU"/>
                          <m:t>(</m:t>
                        </m:r>
                        <m:r>
                          <a:rPr lang="ru-RU" i="1"/>
                          <m:t>𝑙</m:t>
                        </m:r>
                        <m:r>
                          <a:rPr lang="ru-RU"/>
                          <m:t>)</m:t>
                        </m:r>
                      </m:sup>
                    </m:sSup>
                  </m:oMath>
                </a14:m>
                <a:r>
                  <a:rPr lang="ru-RU" dirty="0"/>
                  <a:t>. Сначала вычисляется вектор линейных комбинаций</a:t>
                </a:r>
              </a:p>
              <a:p>
                <a14:m>
                  <m:oMathPara xmlns:m="http://schemas.openxmlformats.org/officeDocument/2006/math">
                    <m:oMathParaPr>
                      <m:jc m:val="centerGroup"/>
                    </m:oMathParaPr>
                    <m:oMath xmlns:m="http://schemas.openxmlformats.org/officeDocument/2006/math">
                      <m:sSup>
                        <m:sSupPr>
                          <m:ctrlPr>
                            <a:rPr lang="ru-RU" i="1"/>
                          </m:ctrlPr>
                        </m:sSupPr>
                        <m:e>
                          <m:r>
                            <a:rPr lang="ru-RU" i="1"/>
                            <m:t>𝑧</m:t>
                          </m:r>
                        </m:e>
                        <m:sup>
                          <m:r>
                            <a:rPr lang="ru-RU"/>
                            <m:t>(</m:t>
                          </m:r>
                          <m:r>
                            <a:rPr lang="ru-RU" i="1"/>
                            <m:t>𝑙</m:t>
                          </m:r>
                          <m:r>
                            <a:rPr lang="ru-RU"/>
                            <m:t>)</m:t>
                          </m:r>
                        </m:sup>
                      </m:sSup>
                      <m:r>
                        <a:rPr lang="ru-RU"/>
                        <m:t>=</m:t>
                      </m:r>
                      <m:sSup>
                        <m:sSupPr>
                          <m:ctrlPr>
                            <a:rPr lang="ru-RU" i="1"/>
                          </m:ctrlPr>
                        </m:sSupPr>
                        <m:e>
                          <m:r>
                            <a:rPr lang="ru-RU" i="1"/>
                            <m:t>𝑊</m:t>
                          </m:r>
                        </m:e>
                        <m:sup>
                          <m:r>
                            <a:rPr lang="ru-RU"/>
                            <m:t>(</m:t>
                          </m:r>
                          <m:r>
                            <a:rPr lang="ru-RU" i="1"/>
                            <m:t>𝑙</m:t>
                          </m:r>
                          <m:r>
                            <a:rPr lang="ru-RU"/>
                            <m:t>)</m:t>
                          </m:r>
                        </m:sup>
                      </m:sSup>
                      <m:sSup>
                        <m:sSupPr>
                          <m:ctrlPr>
                            <a:rPr lang="ru-RU" i="1"/>
                          </m:ctrlPr>
                        </m:sSupPr>
                        <m:e>
                          <m:r>
                            <a:rPr lang="ru-RU" i="1"/>
                            <m:t>h</m:t>
                          </m:r>
                        </m:e>
                        <m:sup>
                          <m:r>
                            <a:rPr lang="ru-RU"/>
                            <m:t>(</m:t>
                          </m:r>
                          <m:r>
                            <a:rPr lang="ru-RU" i="1"/>
                            <m:t>𝑙</m:t>
                          </m:r>
                          <m:r>
                            <a:rPr lang="ru-RU" i="1"/>
                            <m:t>−</m:t>
                          </m:r>
                          <m:r>
                            <a:rPr lang="ru-RU"/>
                            <m:t>1)</m:t>
                          </m:r>
                        </m:sup>
                      </m:sSup>
                      <m:r>
                        <a:rPr lang="ru-RU"/>
                        <m:t>+</m:t>
                      </m:r>
                      <m:sSup>
                        <m:sSupPr>
                          <m:ctrlPr>
                            <a:rPr lang="ru-RU" i="1"/>
                          </m:ctrlPr>
                        </m:sSupPr>
                        <m:e>
                          <m:r>
                            <a:rPr lang="ru-RU" i="1"/>
                            <m:t>𝑏</m:t>
                          </m:r>
                        </m:e>
                        <m:sup>
                          <m:r>
                            <a:rPr lang="ru-RU"/>
                            <m:t>(</m:t>
                          </m:r>
                          <m:r>
                            <a:rPr lang="ru-RU" i="1"/>
                            <m:t>𝑙</m:t>
                          </m:r>
                          <m:r>
                            <a:rPr lang="ru-RU"/>
                            <m:t>)</m:t>
                          </m:r>
                        </m:sup>
                      </m:sSup>
                      <m:r>
                        <a:rPr lang="ru-RU"/>
                        <m:t>,</m:t>
                      </m:r>
                    </m:oMath>
                  </m:oMathPara>
                </a14:m>
                <a:endParaRPr lang="ru-RU" dirty="0"/>
              </a:p>
              <a:p>
                <a:r>
                  <a:rPr lang="ru-RU" dirty="0"/>
                  <a:t>после чего к нему </a:t>
                </a:r>
                <a:r>
                  <a:rPr lang="ru-RU" dirty="0" err="1"/>
                  <a:t>покомпонентно</a:t>
                </a:r>
                <a:r>
                  <a:rPr lang="ru-RU" dirty="0"/>
                  <a:t> применяется функция активации, и получаем выход слоя</a:t>
                </a:r>
              </a:p>
              <a:p>
                <a14:m>
                  <m:oMathPara xmlns:m="http://schemas.openxmlformats.org/officeDocument/2006/math">
                    <m:oMathParaPr>
                      <m:jc m:val="centerGroup"/>
                    </m:oMathParaPr>
                    <m:oMath xmlns:m="http://schemas.openxmlformats.org/officeDocument/2006/math">
                      <m:sSup>
                        <m:sSupPr>
                          <m:ctrlPr>
                            <a:rPr lang="ru-RU" i="1"/>
                          </m:ctrlPr>
                        </m:sSupPr>
                        <m:e>
                          <m:r>
                            <a:rPr lang="ru-RU" i="1"/>
                            <m:t>h</m:t>
                          </m:r>
                        </m:e>
                        <m:sup>
                          <m:r>
                            <a:rPr lang="ru-RU"/>
                            <m:t>(</m:t>
                          </m:r>
                          <m:r>
                            <a:rPr lang="ru-RU" i="1"/>
                            <m:t>𝑙</m:t>
                          </m:r>
                          <m:r>
                            <a:rPr lang="ru-RU"/>
                            <m:t>)</m:t>
                          </m:r>
                        </m:sup>
                      </m:sSup>
                      <m:r>
                        <a:rPr lang="ru-RU"/>
                        <m:t>=</m:t>
                      </m:r>
                      <m:sSup>
                        <m:sSupPr>
                          <m:ctrlPr>
                            <a:rPr lang="ru-RU" i="1"/>
                          </m:ctrlPr>
                        </m:sSupPr>
                        <m:e>
                          <m:r>
                            <a:rPr lang="ru-RU" i="1"/>
                            <m:t>𝑓</m:t>
                          </m:r>
                        </m:e>
                        <m:sup>
                          <m:r>
                            <a:rPr lang="ru-RU"/>
                            <m:t>(</m:t>
                          </m:r>
                          <m:r>
                            <a:rPr lang="ru-RU" i="1"/>
                            <m:t>𝑙</m:t>
                          </m:r>
                          <m:r>
                            <a:rPr lang="ru-RU"/>
                            <m:t>)</m:t>
                          </m:r>
                        </m:sup>
                      </m:sSup>
                      <m:r>
                        <a:rPr lang="ru-RU"/>
                        <m:t>(</m:t>
                      </m:r>
                      <m:sSup>
                        <m:sSupPr>
                          <m:ctrlPr>
                            <a:rPr lang="ru-RU" i="1"/>
                          </m:ctrlPr>
                        </m:sSupPr>
                        <m:e>
                          <m:r>
                            <a:rPr lang="ru-RU" i="1"/>
                            <m:t>𝑧</m:t>
                          </m:r>
                        </m:e>
                        <m:sup>
                          <m:r>
                            <a:rPr lang="ru-RU"/>
                            <m:t>(</m:t>
                          </m:r>
                          <m:r>
                            <a:rPr lang="ru-RU" i="1"/>
                            <m:t>𝑙</m:t>
                          </m:r>
                          <m:r>
                            <a:rPr lang="ru-RU"/>
                            <m:t>)</m:t>
                          </m:r>
                        </m:sup>
                      </m:sSup>
                      <m:r>
                        <a:rPr lang="ru-RU"/>
                        <m:t>).</m:t>
                      </m:r>
                    </m:oMath>
                  </m:oMathPara>
                </a14:m>
                <a:endParaRPr lang="ru-RU" dirty="0"/>
              </a:p>
              <a:p>
                <a:r>
                  <a:rPr lang="ru-RU" dirty="0"/>
                  <a:t>Таким образом, вся сеть представляет собой последовательность таких преобразований от входного слоя к </a:t>
                </a:r>
                <a:r>
                  <a:rPr lang="ru-RU" dirty="0" smtClean="0"/>
                  <a:t>выходному.</a:t>
                </a:r>
              </a:p>
              <a:p>
                <a:r>
                  <a:rPr lang="ru-RU" b="1" dirty="0"/>
                  <a:t>С</a:t>
                </a:r>
                <a:r>
                  <a:rPr lang="ru-RU" b="1" dirty="0" smtClean="0"/>
                  <a:t>лой </a:t>
                </a:r>
                <a:r>
                  <a:rPr lang="ru-RU" b="1" dirty="0"/>
                  <a:t>вычисляется как одно линейное преобразование плюс </a:t>
                </a:r>
                <a:r>
                  <a:rPr lang="ru-RU" b="1" dirty="0" smtClean="0"/>
                  <a:t>нелинейность.</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62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17</a:t>
            </a:fld>
            <a:endParaRPr lang="ru-RU" noProof="0" dirty="0"/>
          </a:p>
        </p:txBody>
      </p:sp>
    </p:spTree>
    <p:extLst>
      <p:ext uri="{BB962C8B-B14F-4D97-AF65-F5344CB8AC3E}">
        <p14:creationId xmlns:p14="http://schemas.microsoft.com/office/powerpoint/2010/main" val="3569040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Почему нужна </a:t>
            </a:r>
            <a:r>
              <a:rPr lang="ru-RU" b="1" dirty="0" smtClean="0"/>
              <a:t>нелинейность</a:t>
            </a:r>
            <a:endParaRPr lang="ru-RU" dirty="0"/>
          </a:p>
        </p:txBody>
      </p:sp>
      <p:sp>
        <p:nvSpPr>
          <p:cNvPr id="3" name="Объект 2"/>
          <p:cNvSpPr>
            <a:spLocks noGrp="1"/>
          </p:cNvSpPr>
          <p:nvPr>
            <p:ph idx="1"/>
          </p:nvPr>
        </p:nvSpPr>
        <p:spPr/>
        <p:txBody>
          <a:bodyPr/>
          <a:lstStyle/>
          <a:p>
            <a:pPr lvl="0"/>
            <a:r>
              <a:rPr lang="ru-RU" dirty="0" smtClean="0"/>
              <a:t>Если </a:t>
            </a:r>
            <a:r>
              <a:rPr lang="ru-RU" dirty="0"/>
              <a:t>все функции активации линейные, то вся многослойная сеть эквивалентна одному линейному преобразованию.</a:t>
            </a:r>
          </a:p>
          <a:p>
            <a:pPr lvl="0"/>
            <a:r>
              <a:rPr lang="ru-RU" dirty="0"/>
              <a:t>Значит, глубина сама по себе бесполезна без нелинейности.</a:t>
            </a:r>
          </a:p>
          <a:p>
            <a:pPr lvl="0"/>
            <a:r>
              <a:rPr lang="ru-RU" dirty="0" smtClean="0"/>
              <a:t>Нелинейные функции: </a:t>
            </a:r>
            <a:r>
              <a:rPr lang="ru-RU" dirty="0" err="1" smtClean="0"/>
              <a:t>sigmoid</a:t>
            </a:r>
            <a:r>
              <a:rPr lang="ru-RU" dirty="0"/>
              <a:t>, </a:t>
            </a:r>
            <a:r>
              <a:rPr lang="ru-RU" dirty="0" err="1"/>
              <a:t>tanh</a:t>
            </a:r>
            <a:r>
              <a:rPr lang="ru-RU" dirty="0"/>
              <a:t>, </a:t>
            </a:r>
            <a:r>
              <a:rPr lang="ru-RU" dirty="0" err="1"/>
              <a:t>ReLU</a:t>
            </a:r>
            <a:r>
              <a:rPr lang="ru-RU" dirty="0"/>
              <a:t>.</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18</a:t>
            </a:fld>
            <a:endParaRPr lang="ru-RU" noProof="0" dirty="0"/>
          </a:p>
        </p:txBody>
      </p:sp>
    </p:spTree>
    <p:extLst>
      <p:ext uri="{BB962C8B-B14F-4D97-AF65-F5344CB8AC3E}">
        <p14:creationId xmlns:p14="http://schemas.microsoft.com/office/powerpoint/2010/main" val="4150513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Метод обратного распространения ошибки</a:t>
            </a:r>
            <a:endParaRPr lang="ru-RU" dirty="0"/>
          </a:p>
        </p:txBody>
      </p:sp>
      <p:sp>
        <p:nvSpPr>
          <p:cNvPr id="3" name="Текст 2"/>
          <p:cNvSpPr>
            <a:spLocks noGrp="1"/>
          </p:cNvSpPr>
          <p:nvPr>
            <p:ph type="body" idx="1"/>
          </p:nvPr>
        </p:nvSpPr>
        <p:spPr/>
        <p:txBody>
          <a:bodyPr/>
          <a:lstStyle/>
          <a:p>
            <a:endParaRPr lang="ru-RU"/>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19</a:t>
            </a:fld>
            <a:endParaRPr lang="ru-RU" noProof="0" dirty="0"/>
          </a:p>
        </p:txBody>
      </p:sp>
    </p:spTree>
    <p:extLst>
      <p:ext uri="{BB962C8B-B14F-4D97-AF65-F5344CB8AC3E}">
        <p14:creationId xmlns:p14="http://schemas.microsoft.com/office/powerpoint/2010/main" val="4176977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endParaRPr lang="ru-RU"/>
          </a:p>
        </p:txBody>
      </p:sp>
      <p:sp>
        <p:nvSpPr>
          <p:cNvPr id="3" name="Объект 2"/>
          <p:cNvSpPr>
            <a:spLocks noGrp="1"/>
          </p:cNvSpPr>
          <p:nvPr>
            <p:ph idx="1"/>
          </p:nvPr>
        </p:nvSpPr>
        <p:spPr/>
        <p:txBody>
          <a:bodyPr/>
          <a:lstStyle/>
          <a:p>
            <a:r>
              <a:rPr lang="ru-RU" dirty="0"/>
              <a:t>Метод обратного распространения ошибки (</a:t>
            </a:r>
            <a:r>
              <a:rPr lang="ru-RU" dirty="0" err="1"/>
              <a:t>Back</a:t>
            </a:r>
            <a:r>
              <a:rPr lang="ru-RU" dirty="0"/>
              <a:t> </a:t>
            </a:r>
            <a:r>
              <a:rPr lang="ru-RU" dirty="0" err="1"/>
              <a:t>propagation</a:t>
            </a:r>
            <a:r>
              <a:rPr lang="ru-RU" dirty="0"/>
              <a:t>, </a:t>
            </a:r>
            <a:r>
              <a:rPr lang="ru-RU" dirty="0" err="1"/>
              <a:t>backprop</a:t>
            </a:r>
            <a:r>
              <a:rPr lang="ru-RU" dirty="0"/>
              <a:t>) - алгоритм обучения многослойных персептронов, основанный на вычислении градиента функции ошибок. В процессе обучения веса нейронов каждого слоя нейросети корректируются с учетом сигналов, поступивших с предыдущего слоя, и невязки каждого слоя, которая вычисляется рекурсивно в обратном направлении от последнего слоя к первому.</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20</a:t>
            </a:fld>
            <a:endParaRPr lang="ru-RU" noProof="0" dirty="0"/>
          </a:p>
        </p:txBody>
      </p:sp>
    </p:spTree>
    <p:extLst>
      <p:ext uri="{BB962C8B-B14F-4D97-AF65-F5344CB8AC3E}">
        <p14:creationId xmlns:p14="http://schemas.microsoft.com/office/powerpoint/2010/main" val="330713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Прямое распространение (</a:t>
            </a:r>
            <a:r>
              <a:rPr lang="ru-RU" b="1" dirty="0" err="1"/>
              <a:t>forward</a:t>
            </a:r>
            <a:r>
              <a:rPr lang="ru-RU" b="1" dirty="0"/>
              <a:t> </a:t>
            </a:r>
            <a:r>
              <a:rPr lang="ru-RU" b="1" dirty="0" err="1"/>
              <a:t>pass</a:t>
            </a:r>
            <a:r>
              <a:rPr lang="ru-RU" b="1" dirty="0"/>
              <a:t>)</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pPr lvl="0"/>
                <a:r>
                  <a:rPr lang="ru-RU" dirty="0"/>
                  <a:t>Сигнал последовательно проходит через все слои сети</a:t>
                </a:r>
                <a:r>
                  <a:rPr lang="ru-RU" dirty="0" smtClean="0"/>
                  <a:t>.</a:t>
                </a:r>
                <a:endParaRPr lang="ru-RU" dirty="0"/>
              </a:p>
              <a:p>
                <a:pPr lvl="0"/>
                <a:r>
                  <a:rPr lang="ru-RU" dirty="0"/>
                  <a:t>На каждом слое: линейная комбинация, затем нелинейная активация.</a:t>
                </a:r>
              </a:p>
              <a:p>
                <a:r>
                  <a:rPr lang="ru-RU" dirty="0"/>
                  <a:t>На выходе получаем ответ </a:t>
                </a:r>
                <a:r>
                  <a:rPr lang="ru-RU" dirty="0" smtClean="0"/>
                  <a:t>сети.</a:t>
                </a:r>
              </a:p>
              <a:p>
                <a:r>
                  <a:rPr lang="ru-RU" dirty="0" smtClean="0"/>
                  <a:t>Алгоритм:</a:t>
                </a:r>
              </a:p>
              <a:p>
                <a:pPr marL="160020" indent="-342900">
                  <a:buFont typeface="Arial" panose="020B0604020202020204" pitchFamily="34" charset="0"/>
                  <a:buChar char="•"/>
                </a:pPr>
                <a:r>
                  <a:rPr lang="ru-RU" dirty="0"/>
                  <a:t>Подать вход </a:t>
                </a:r>
                <a14:m>
                  <m:oMath xmlns:m="http://schemas.openxmlformats.org/officeDocument/2006/math">
                    <m:r>
                      <a:rPr lang="ru-RU" i="1"/>
                      <m:t>𝑥</m:t>
                    </m:r>
                  </m:oMath>
                </a14:m>
                <a:r>
                  <a:rPr lang="ru-RU" dirty="0"/>
                  <a:t>.</a:t>
                </a:r>
              </a:p>
              <a:p>
                <a:pPr marL="160020" indent="-342900">
                  <a:buFont typeface="Arial" panose="020B0604020202020204" pitchFamily="34" charset="0"/>
                  <a:buChar char="•"/>
                </a:pPr>
                <a:r>
                  <a:rPr lang="ru-RU" dirty="0"/>
                  <a:t>Вычислить </a:t>
                </a:r>
                <a14:m>
                  <m:oMath xmlns:m="http://schemas.openxmlformats.org/officeDocument/2006/math">
                    <m:sSup>
                      <m:sSupPr>
                        <m:ctrlPr>
                          <a:rPr lang="ru-RU" i="1"/>
                        </m:ctrlPr>
                      </m:sSupPr>
                      <m:e>
                        <m:r>
                          <a:rPr lang="ru-RU" i="1"/>
                          <m:t>𝑧</m:t>
                        </m:r>
                      </m:e>
                      <m:sup>
                        <m:r>
                          <a:rPr lang="ru-RU"/>
                          <m:t>(1)</m:t>
                        </m:r>
                      </m:sup>
                    </m:sSup>
                  </m:oMath>
                </a14:m>
                <a:r>
                  <a:rPr lang="ru-RU" dirty="0"/>
                  <a:t>, затем </a:t>
                </a:r>
                <a14:m>
                  <m:oMath xmlns:m="http://schemas.openxmlformats.org/officeDocument/2006/math">
                    <m:sSup>
                      <m:sSupPr>
                        <m:ctrlPr>
                          <a:rPr lang="ru-RU" i="1"/>
                        </m:ctrlPr>
                      </m:sSupPr>
                      <m:e>
                        <m:r>
                          <a:rPr lang="ru-RU" i="1"/>
                          <m:t>h</m:t>
                        </m:r>
                      </m:e>
                      <m:sup>
                        <m:r>
                          <a:rPr lang="ru-RU"/>
                          <m:t>(1)</m:t>
                        </m:r>
                      </m:sup>
                    </m:sSup>
                  </m:oMath>
                </a14:m>
                <a:r>
                  <a:rPr lang="ru-RU" dirty="0"/>
                  <a:t>.</a:t>
                </a:r>
              </a:p>
              <a:p>
                <a:pPr marL="160020" indent="-342900">
                  <a:buFont typeface="Arial" panose="020B0604020202020204" pitchFamily="34" charset="0"/>
                  <a:buChar char="•"/>
                </a:pPr>
                <a:r>
                  <a:rPr lang="ru-RU" dirty="0"/>
                  <a:t>Повторить для всех скрытых слоёв.</a:t>
                </a:r>
              </a:p>
              <a:p>
                <a:pPr marL="388620" indent="-342900">
                  <a:buFont typeface="Arial" panose="020B0604020202020204" pitchFamily="34" charset="0"/>
                  <a:buChar char="•"/>
                </a:pPr>
                <a:r>
                  <a:rPr lang="ru-RU" dirty="0"/>
                  <a:t>Получить выход </a:t>
                </a:r>
                <a14:m>
                  <m:oMath xmlns:m="http://schemas.openxmlformats.org/officeDocument/2006/math">
                    <m:sSup>
                      <m:sSupPr>
                        <m:ctrlPr>
                          <a:rPr lang="ru-RU" sz="5400" i="1"/>
                        </m:ctrlPr>
                      </m:sSupPr>
                      <m:e>
                        <m:r>
                          <a:rPr lang="ru-RU" i="1"/>
                          <m:t>h</m:t>
                        </m:r>
                      </m:e>
                      <m:sup>
                        <m:r>
                          <a:rPr lang="ru-RU"/>
                          <m:t>(</m:t>
                        </m:r>
                        <m:r>
                          <a:rPr lang="ru-RU" i="1"/>
                          <m:t>𝐿</m:t>
                        </m:r>
                        <m:r>
                          <a:rPr lang="ru-RU"/>
                          <m:t>)</m:t>
                        </m:r>
                      </m:sup>
                    </m:sSup>
                  </m:oMath>
                </a14:m>
                <a:r>
                  <a:rPr lang="ru-RU" dirty="0" smtClean="0"/>
                  <a:t>.</a:t>
                </a:r>
              </a:p>
              <a:p>
                <a:endParaRPr lang="ru-RU" dirty="0"/>
              </a:p>
              <a:p>
                <a:r>
                  <a:rPr lang="ru-RU" dirty="0"/>
                  <a:t>Выход сети: </a:t>
                </a:r>
                <a14:m>
                  <m:oMath xmlns:m="http://schemas.openxmlformats.org/officeDocument/2006/math">
                    <m:r>
                      <a:rPr lang="ru-RU" i="1"/>
                      <m:t>𝑦</m:t>
                    </m:r>
                    <m:r>
                      <a:rPr lang="ru-RU"/>
                      <m:t>=</m:t>
                    </m:r>
                    <m:sSup>
                      <m:sSupPr>
                        <m:ctrlPr>
                          <a:rPr lang="ru-RU" i="1"/>
                        </m:ctrlPr>
                      </m:sSupPr>
                      <m:e>
                        <m:r>
                          <a:rPr lang="ru-RU" i="1"/>
                          <m:t>h</m:t>
                        </m:r>
                      </m:e>
                      <m:sup>
                        <m:r>
                          <a:rPr lang="ru-RU"/>
                          <m:t>(</m:t>
                        </m:r>
                        <m:r>
                          <a:rPr lang="ru-RU" i="1"/>
                          <m:t>𝐿</m:t>
                        </m:r>
                        <m:r>
                          <a:rPr lang="ru-RU"/>
                          <m:t>)</m:t>
                        </m:r>
                      </m:sup>
                    </m:sSup>
                  </m:oMath>
                </a14:m>
                <a:r>
                  <a:rPr lang="ru-RU" dirty="0"/>
                  <a:t> (вектор размерности </a:t>
                </a:r>
                <a14:m>
                  <m:oMath xmlns:m="http://schemas.openxmlformats.org/officeDocument/2006/math">
                    <m:sSub>
                      <m:sSubPr>
                        <m:ctrlPr>
                          <a:rPr lang="ru-RU" i="1"/>
                        </m:ctrlPr>
                      </m:sSubPr>
                      <m:e>
                        <m:r>
                          <a:rPr lang="ru-RU" i="1"/>
                          <m:t>𝑛</m:t>
                        </m:r>
                      </m:e>
                      <m:sub>
                        <m:r>
                          <a:rPr lang="ru-RU" i="1"/>
                          <m:t>𝐿</m:t>
                        </m:r>
                      </m:sub>
                    </m:sSub>
                  </m:oMath>
                </a14:m>
                <a:r>
                  <a:rPr lang="ru-RU" dirty="0" smtClean="0"/>
                  <a:t>).</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Tree>
    <p:extLst>
      <p:ext uri="{BB962C8B-B14F-4D97-AF65-F5344CB8AC3E}">
        <p14:creationId xmlns:p14="http://schemas.microsoft.com/office/powerpoint/2010/main" val="1008334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Прямое распространение (</a:t>
            </a:r>
            <a:r>
              <a:rPr lang="ru-RU" b="1" dirty="0" err="1"/>
              <a:t>forward</a:t>
            </a:r>
            <a:r>
              <a:rPr lang="ru-RU" b="1" dirty="0"/>
              <a:t> </a:t>
            </a:r>
            <a:r>
              <a:rPr lang="ru-RU" b="1" dirty="0" err="1"/>
              <a:t>pass</a:t>
            </a:r>
            <a:r>
              <a:rPr lang="ru-RU" b="1" dirty="0"/>
              <a:t>)</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pPr lvl="0"/>
                <a:r>
                  <a:rPr lang="ru-RU" dirty="0" smtClean="0"/>
                  <a:t>Пример:</a:t>
                </a:r>
              </a:p>
              <a:p>
                <a:r>
                  <a:rPr lang="ru-RU" dirty="0"/>
                  <a:t>Чтобы вычисления были простыми, удобно взять сигмоидальную активацию:</a:t>
                </a:r>
              </a:p>
              <a:p>
                <a14:m>
                  <m:oMathPara xmlns:m="http://schemas.openxmlformats.org/officeDocument/2006/math">
                    <m:oMathParaPr>
                      <m:jc m:val="centerGroup"/>
                    </m:oMathParaPr>
                    <m:oMath xmlns:m="http://schemas.openxmlformats.org/officeDocument/2006/math">
                      <m:r>
                        <a:rPr lang="ru-RU" i="1"/>
                        <m:t>𝜎</m:t>
                      </m:r>
                      <m:r>
                        <a:rPr lang="ru-RU"/>
                        <m:t>(</m:t>
                      </m:r>
                      <m:r>
                        <a:rPr lang="ru-RU" i="1"/>
                        <m:t>𝑧</m:t>
                      </m:r>
                      <m:r>
                        <a:rPr lang="ru-RU"/>
                        <m:t>)=</m:t>
                      </m:r>
                      <m:f>
                        <m:fPr>
                          <m:ctrlPr>
                            <a:rPr lang="ru-RU" i="1"/>
                          </m:ctrlPr>
                        </m:fPr>
                        <m:num>
                          <m:r>
                            <a:rPr lang="ru-RU"/>
                            <m:t>1</m:t>
                          </m:r>
                        </m:num>
                        <m:den>
                          <m:r>
                            <a:rPr lang="ru-RU"/>
                            <m:t>1+</m:t>
                          </m:r>
                          <m:sSup>
                            <m:sSupPr>
                              <m:ctrlPr>
                                <a:rPr lang="ru-RU" i="1"/>
                              </m:ctrlPr>
                            </m:sSupPr>
                            <m:e>
                              <m:r>
                                <a:rPr lang="ru-RU" i="1"/>
                                <m:t>𝑒</m:t>
                              </m:r>
                            </m:e>
                            <m:sup>
                              <m:r>
                                <a:rPr lang="ru-RU" i="1"/>
                                <m:t>−</m:t>
                              </m:r>
                              <m:r>
                                <a:rPr lang="ru-RU" i="1"/>
                                <m:t>𝑧</m:t>
                              </m:r>
                            </m:sup>
                          </m:sSup>
                        </m:den>
                      </m:f>
                    </m:oMath>
                  </m:oMathPara>
                </a14:m>
                <a:endParaRPr lang="ru-RU" dirty="0"/>
              </a:p>
              <a:p>
                <a:r>
                  <a:rPr lang="ru-RU" dirty="0"/>
                  <a:t>и такие данные:</a:t>
                </a:r>
              </a:p>
              <a:p>
                <a:r>
                  <a:rPr lang="ru-RU" b="1" dirty="0"/>
                  <a:t>Вход</a:t>
                </a:r>
                <a:endParaRPr lang="ru-RU" dirty="0"/>
              </a:p>
              <a:p>
                <a14:m>
                  <m:oMathPara xmlns:m="http://schemas.openxmlformats.org/officeDocument/2006/math">
                    <m:oMathParaPr>
                      <m:jc m:val="centerGroup"/>
                    </m:oMathParaPr>
                    <m:oMath xmlns:m="http://schemas.openxmlformats.org/officeDocument/2006/math">
                      <m:sSub>
                        <m:sSubPr>
                          <m:ctrlPr>
                            <a:rPr lang="ru-RU" i="1"/>
                          </m:ctrlPr>
                        </m:sSubPr>
                        <m:e>
                          <m:r>
                            <a:rPr lang="ru-RU" i="1"/>
                            <m:t>𝑥</m:t>
                          </m:r>
                        </m:e>
                        <m:sub>
                          <m:r>
                            <a:rPr lang="ru-RU"/>
                            <m:t>1</m:t>
                          </m:r>
                        </m:sub>
                      </m:sSub>
                      <m:r>
                        <a:rPr lang="ru-RU"/>
                        <m:t>=1, </m:t>
                      </m:r>
                      <m:sSub>
                        <m:sSubPr>
                          <m:ctrlPr>
                            <a:rPr lang="ru-RU" i="1"/>
                          </m:ctrlPr>
                        </m:sSubPr>
                        <m:e>
                          <m:r>
                            <a:rPr lang="ru-RU" i="1"/>
                            <m:t>𝑥</m:t>
                          </m:r>
                        </m:e>
                        <m:sub>
                          <m:r>
                            <a:rPr lang="ru-RU"/>
                            <m:t>2</m:t>
                          </m:r>
                        </m:sub>
                      </m:sSub>
                      <m:r>
                        <a:rPr lang="ru-RU"/>
                        <m:t>=0</m:t>
                      </m:r>
                    </m:oMath>
                  </m:oMathPara>
                </a14:m>
                <a:endParaRPr lang="ru-RU" dirty="0"/>
              </a:p>
              <a:p>
                <a:pPr lvl="0"/>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Tree>
    <p:extLst>
      <p:ext uri="{BB962C8B-B14F-4D97-AF65-F5344CB8AC3E}">
        <p14:creationId xmlns:p14="http://schemas.microsoft.com/office/powerpoint/2010/main" val="3565254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Прямое распространение (</a:t>
            </a:r>
            <a:r>
              <a:rPr lang="ru-RU" b="1" dirty="0" err="1"/>
              <a:t>forward</a:t>
            </a:r>
            <a:r>
              <a:rPr lang="ru-RU" b="1" dirty="0"/>
              <a:t> </a:t>
            </a:r>
            <a:r>
              <a:rPr lang="ru-RU" b="1" dirty="0" err="1"/>
              <a:t>pass</a:t>
            </a:r>
            <a:r>
              <a:rPr lang="ru-RU" b="1" dirty="0"/>
              <a:t>)</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r>
                  <a:rPr lang="ru-RU" b="1" dirty="0"/>
                  <a:t>Скрытый слой</a:t>
                </a:r>
                <a:endParaRPr lang="ru-RU" dirty="0"/>
              </a:p>
              <a:p>
                <a:r>
                  <a:rPr lang="ru-RU" dirty="0"/>
                  <a:t>Для первого скрытого нейрона:</a:t>
                </a:r>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𝑤</m:t>
                          </m:r>
                        </m:e>
                        <m:sub>
                          <m:r>
                            <a:rPr lang="ru-RU"/>
                            <m:t>11</m:t>
                          </m:r>
                        </m:sub>
                        <m:sup>
                          <m:r>
                            <a:rPr lang="ru-RU"/>
                            <m:t>(1)</m:t>
                          </m:r>
                        </m:sup>
                      </m:sSubSup>
                      <m:r>
                        <a:rPr lang="ru-RU"/>
                        <m:t>=0.3, </m:t>
                      </m:r>
                      <m:sSubSup>
                        <m:sSubSupPr>
                          <m:ctrlPr>
                            <a:rPr lang="ru-RU" i="1"/>
                          </m:ctrlPr>
                        </m:sSubSupPr>
                        <m:e>
                          <m:r>
                            <a:rPr lang="ru-RU" i="1"/>
                            <m:t>𝑤</m:t>
                          </m:r>
                        </m:e>
                        <m:sub>
                          <m:r>
                            <a:rPr lang="ru-RU"/>
                            <m:t>12</m:t>
                          </m:r>
                        </m:sub>
                        <m:sup>
                          <m:r>
                            <a:rPr lang="ru-RU"/>
                            <m:t>(1)</m:t>
                          </m:r>
                        </m:sup>
                      </m:sSubSup>
                      <m:r>
                        <a:rPr lang="ru-RU"/>
                        <m:t>=0.4, </m:t>
                      </m:r>
                      <m:sSubSup>
                        <m:sSubSupPr>
                          <m:ctrlPr>
                            <a:rPr lang="ru-RU" i="1"/>
                          </m:ctrlPr>
                        </m:sSubSupPr>
                        <m:e>
                          <m:r>
                            <a:rPr lang="ru-RU" i="1"/>
                            <m:t>𝑏</m:t>
                          </m:r>
                        </m:e>
                        <m:sub>
                          <m:r>
                            <a:rPr lang="ru-RU"/>
                            <m:t>1</m:t>
                          </m:r>
                        </m:sub>
                        <m:sup>
                          <m:r>
                            <a:rPr lang="ru-RU"/>
                            <m:t>(1)</m:t>
                          </m:r>
                        </m:sup>
                      </m:sSubSup>
                      <m:r>
                        <a:rPr lang="ru-RU"/>
                        <m:t>=0.1</m:t>
                      </m:r>
                    </m:oMath>
                  </m:oMathPara>
                </a14:m>
                <a:endParaRPr lang="ru-RU" dirty="0"/>
              </a:p>
              <a:p>
                <a:r>
                  <a:rPr lang="ru-RU" dirty="0"/>
                  <a:t>Для второго скрытого нейрона:</a:t>
                </a:r>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𝑤</m:t>
                          </m:r>
                        </m:e>
                        <m:sub>
                          <m:r>
                            <a:rPr lang="ru-RU"/>
                            <m:t>21</m:t>
                          </m:r>
                        </m:sub>
                        <m:sup>
                          <m:r>
                            <a:rPr lang="ru-RU"/>
                            <m:t>(1)</m:t>
                          </m:r>
                        </m:sup>
                      </m:sSubSup>
                      <m:r>
                        <a:rPr lang="ru-RU"/>
                        <m:t>=</m:t>
                      </m:r>
                      <m:r>
                        <a:rPr lang="ru-RU" i="1"/>
                        <m:t>−</m:t>
                      </m:r>
                      <m:r>
                        <a:rPr lang="ru-RU"/>
                        <m:t>0.2, </m:t>
                      </m:r>
                      <m:sSubSup>
                        <m:sSubSupPr>
                          <m:ctrlPr>
                            <a:rPr lang="ru-RU" i="1"/>
                          </m:ctrlPr>
                        </m:sSubSupPr>
                        <m:e>
                          <m:r>
                            <a:rPr lang="ru-RU" i="1"/>
                            <m:t>𝑤</m:t>
                          </m:r>
                        </m:e>
                        <m:sub>
                          <m:r>
                            <a:rPr lang="ru-RU"/>
                            <m:t>22</m:t>
                          </m:r>
                        </m:sub>
                        <m:sup>
                          <m:r>
                            <a:rPr lang="ru-RU"/>
                            <m:t>(1)</m:t>
                          </m:r>
                        </m:sup>
                      </m:sSubSup>
                      <m:r>
                        <a:rPr lang="ru-RU"/>
                        <m:t>=0.5, </m:t>
                      </m:r>
                      <m:sSubSup>
                        <m:sSubSupPr>
                          <m:ctrlPr>
                            <a:rPr lang="ru-RU" i="1"/>
                          </m:ctrlPr>
                        </m:sSubSupPr>
                        <m:e>
                          <m:r>
                            <a:rPr lang="ru-RU" i="1"/>
                            <m:t>𝑏</m:t>
                          </m:r>
                        </m:e>
                        <m:sub>
                          <m:r>
                            <a:rPr lang="ru-RU"/>
                            <m:t>2</m:t>
                          </m:r>
                        </m:sub>
                        <m:sup>
                          <m:r>
                            <a:rPr lang="ru-RU"/>
                            <m:t>(1)</m:t>
                          </m:r>
                        </m:sup>
                      </m:sSubSup>
                      <m:r>
                        <a:rPr lang="ru-RU"/>
                        <m:t>=0.2</m:t>
                      </m:r>
                    </m:oMath>
                  </m:oMathPara>
                </a14:m>
                <a:endParaRPr lang="ru-RU" dirty="0"/>
              </a:p>
              <a:p>
                <a:r>
                  <a:rPr lang="ru-RU" b="1" dirty="0"/>
                  <a:t>Выходной слой</a:t>
                </a:r>
                <a:endParaRPr lang="ru-RU" dirty="0"/>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𝑤</m:t>
                          </m:r>
                        </m:e>
                        <m:sub>
                          <m:r>
                            <a:rPr lang="ru-RU"/>
                            <m:t>11</m:t>
                          </m:r>
                        </m:sub>
                        <m:sup>
                          <m:r>
                            <a:rPr lang="ru-RU"/>
                            <m:t>(2)</m:t>
                          </m:r>
                        </m:sup>
                      </m:sSubSup>
                      <m:r>
                        <a:rPr lang="ru-RU"/>
                        <m:t>=0.7, </m:t>
                      </m:r>
                      <m:sSubSup>
                        <m:sSubSupPr>
                          <m:ctrlPr>
                            <a:rPr lang="ru-RU" i="1"/>
                          </m:ctrlPr>
                        </m:sSubSupPr>
                        <m:e>
                          <m:r>
                            <a:rPr lang="ru-RU" i="1"/>
                            <m:t>𝑤</m:t>
                          </m:r>
                        </m:e>
                        <m:sub>
                          <m:r>
                            <a:rPr lang="ru-RU"/>
                            <m:t>12</m:t>
                          </m:r>
                        </m:sub>
                        <m:sup>
                          <m:r>
                            <a:rPr lang="ru-RU"/>
                            <m:t>(2)</m:t>
                          </m:r>
                        </m:sup>
                      </m:sSubSup>
                      <m:r>
                        <a:rPr lang="ru-RU"/>
                        <m:t>=</m:t>
                      </m:r>
                      <m:r>
                        <a:rPr lang="ru-RU" i="1"/>
                        <m:t>−</m:t>
                      </m:r>
                      <m:r>
                        <a:rPr lang="ru-RU"/>
                        <m:t>0.1, </m:t>
                      </m:r>
                      <m:sSubSup>
                        <m:sSubSupPr>
                          <m:ctrlPr>
                            <a:rPr lang="ru-RU" i="1"/>
                          </m:ctrlPr>
                        </m:sSubSupPr>
                        <m:e>
                          <m:r>
                            <a:rPr lang="ru-RU" i="1"/>
                            <m:t>𝑏</m:t>
                          </m:r>
                        </m:e>
                        <m:sub>
                          <m:r>
                            <a:rPr lang="ru-RU"/>
                            <m:t>1</m:t>
                          </m:r>
                        </m:sub>
                        <m:sup>
                          <m:r>
                            <a:rPr lang="ru-RU"/>
                            <m:t>(2)</m:t>
                          </m:r>
                        </m:sup>
                      </m:sSubSup>
                      <m:r>
                        <a:rPr lang="ru-RU"/>
                        <m:t>=0.05</m:t>
                      </m:r>
                    </m:oMath>
                  </m:oMathPara>
                </a14:m>
                <a:endParaRPr lang="ru-RU" dirty="0"/>
              </a:p>
              <a:p>
                <a:pPr lvl="0"/>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Tree>
    <p:extLst>
      <p:ext uri="{BB962C8B-B14F-4D97-AF65-F5344CB8AC3E}">
        <p14:creationId xmlns:p14="http://schemas.microsoft.com/office/powerpoint/2010/main" val="3827151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Прямое распространение (</a:t>
            </a:r>
            <a:r>
              <a:rPr lang="ru-RU" b="1" dirty="0" err="1"/>
              <a:t>forward</a:t>
            </a:r>
            <a:r>
              <a:rPr lang="ru-RU" b="1" dirty="0"/>
              <a:t> </a:t>
            </a:r>
            <a:r>
              <a:rPr lang="ru-RU" b="1" dirty="0" err="1"/>
              <a:t>pass</a:t>
            </a:r>
            <a:r>
              <a:rPr lang="ru-RU" b="1" dirty="0"/>
              <a:t>)</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r>
                  <a:rPr lang="ru-RU" b="1" dirty="0"/>
                  <a:t>Пошаговый прямой проход</a:t>
                </a:r>
                <a:endParaRPr lang="ru-RU" dirty="0"/>
              </a:p>
              <a:p>
                <a:r>
                  <a:rPr lang="ru-RU" b="1" dirty="0"/>
                  <a:t>1. Входной вектор</a:t>
                </a:r>
                <a:endParaRPr lang="ru-RU" dirty="0"/>
              </a:p>
              <a:p>
                <a14:m>
                  <m:oMathPara xmlns:m="http://schemas.openxmlformats.org/officeDocument/2006/math">
                    <m:oMathParaPr>
                      <m:jc m:val="centerGroup"/>
                    </m:oMathParaPr>
                    <m:oMath xmlns:m="http://schemas.openxmlformats.org/officeDocument/2006/math">
                      <m:sSup>
                        <m:sSupPr>
                          <m:ctrlPr>
                            <a:rPr lang="ru-RU" i="1"/>
                          </m:ctrlPr>
                        </m:sSupPr>
                        <m:e>
                          <m:r>
                            <a:rPr lang="ru-RU" i="1"/>
                            <m:t>h</m:t>
                          </m:r>
                        </m:e>
                        <m:sup>
                          <m:r>
                            <a:rPr lang="ru-RU"/>
                            <m:t>(0)</m:t>
                          </m:r>
                        </m:sup>
                      </m:sSup>
                      <m:r>
                        <a:rPr lang="ru-RU"/>
                        <m:t>=</m:t>
                      </m:r>
                      <m:r>
                        <a:rPr lang="ru-RU" i="1"/>
                        <m:t>𝑥</m:t>
                      </m:r>
                      <m:r>
                        <a:rPr lang="ru-RU"/>
                        <m:t>=</m:t>
                      </m:r>
                      <m:d>
                        <m:dPr>
                          <m:ctrlPr>
                            <a:rPr lang="ru-RU" i="1"/>
                          </m:ctrlPr>
                        </m:dPr>
                        <m:e>
                          <m:m>
                            <m:mPr>
                              <m:plcHide m:val="on"/>
                              <m:mcs>
                                <m:mc>
                                  <m:mcPr>
                                    <m:count m:val="1"/>
                                    <m:mcJc m:val="center"/>
                                  </m:mcPr>
                                </m:mc>
                              </m:mcs>
                              <m:ctrlPr>
                                <a:rPr lang="ru-RU" i="1"/>
                              </m:ctrlPr>
                            </m:mPr>
                            <m:mr>
                              <m:e>
                                <m:r>
                                  <a:rPr lang="ru-RU"/>
                                  <m:t>1</m:t>
                                </m:r>
                              </m:e>
                            </m:mr>
                            <m:mr>
                              <m:e>
                                <m:r>
                                  <a:rPr lang="ru-RU"/>
                                  <m:t>0</m:t>
                                </m:r>
                              </m:e>
                            </m:mr>
                          </m:m>
                        </m:e>
                      </m:d>
                    </m:oMath>
                  </m:oMathPara>
                </a14:m>
                <a:endParaRPr lang="ru-RU" dirty="0"/>
              </a:p>
              <a:p>
                <a:r>
                  <a:rPr lang="ru-RU" dirty="0" smtClean="0"/>
                  <a:t>входной </a:t>
                </a:r>
                <a:r>
                  <a:rPr lang="ru-RU" dirty="0"/>
                  <a:t>слой только передаёт данные </a:t>
                </a:r>
                <a:r>
                  <a:rPr lang="ru-RU" dirty="0" smtClean="0"/>
                  <a:t>дальше.</a:t>
                </a:r>
              </a:p>
              <a:p>
                <a:r>
                  <a:rPr lang="ru-RU" b="1" dirty="0"/>
                  <a:t>2. Суммы на скрытом слое</a:t>
                </a:r>
                <a:endParaRPr lang="ru-RU" dirty="0"/>
              </a:p>
              <a:p>
                <a:r>
                  <a:rPr lang="ru-RU" dirty="0"/>
                  <a:t>Для первого скрытого нейрона:</a:t>
                </a:r>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𝑧</m:t>
                          </m:r>
                        </m:e>
                        <m:sub>
                          <m:r>
                            <a:rPr lang="ru-RU"/>
                            <m:t>1</m:t>
                          </m:r>
                        </m:sub>
                        <m:sup>
                          <m:r>
                            <a:rPr lang="ru-RU"/>
                            <m:t>(1)</m:t>
                          </m:r>
                        </m:sup>
                      </m:sSubSup>
                      <m:r>
                        <a:rPr lang="ru-RU"/>
                        <m:t>=0.3⋅1+0.4⋅0+0.1=0.4</m:t>
                      </m:r>
                    </m:oMath>
                  </m:oMathPara>
                </a14:m>
                <a:endParaRPr lang="ru-RU" dirty="0"/>
              </a:p>
              <a:p>
                <a:r>
                  <a:rPr lang="ru-RU" dirty="0"/>
                  <a:t>Для второго скрытого нейрона:</a:t>
                </a:r>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𝑧</m:t>
                          </m:r>
                        </m:e>
                        <m:sub>
                          <m:r>
                            <a:rPr lang="ru-RU"/>
                            <m:t>2</m:t>
                          </m:r>
                        </m:sub>
                        <m:sup>
                          <m:r>
                            <a:rPr lang="ru-RU"/>
                            <m:t>(1)</m:t>
                          </m:r>
                        </m:sup>
                      </m:sSubSup>
                      <m:r>
                        <a:rPr lang="ru-RU"/>
                        <m:t>=(</m:t>
                      </m:r>
                      <m:r>
                        <a:rPr lang="ru-RU" i="1"/>
                        <m:t>−</m:t>
                      </m:r>
                      <m:r>
                        <a:rPr lang="ru-RU"/>
                        <m:t>0.2)⋅1+0.5⋅0+0.2=0</m:t>
                      </m:r>
                    </m:oMath>
                  </m:oMathPara>
                </a14:m>
                <a:endParaRPr lang="ru-RU" dirty="0"/>
              </a:p>
              <a:p>
                <a:r>
                  <a:rPr lang="ru-RU" dirty="0"/>
                  <a:t>То есть</a:t>
                </a:r>
              </a:p>
              <a:p>
                <a14:m>
                  <m:oMathPara xmlns:m="http://schemas.openxmlformats.org/officeDocument/2006/math">
                    <m:oMathParaPr>
                      <m:jc m:val="centerGroup"/>
                    </m:oMathParaPr>
                    <m:oMath xmlns:m="http://schemas.openxmlformats.org/officeDocument/2006/math">
                      <m:sSup>
                        <m:sSupPr>
                          <m:ctrlPr>
                            <a:rPr lang="ru-RU" i="1"/>
                          </m:ctrlPr>
                        </m:sSupPr>
                        <m:e>
                          <m:r>
                            <a:rPr lang="ru-RU" i="1"/>
                            <m:t>𝑧</m:t>
                          </m:r>
                        </m:e>
                        <m:sup>
                          <m:r>
                            <a:rPr lang="ru-RU"/>
                            <m:t>(1)</m:t>
                          </m:r>
                        </m:sup>
                      </m:sSup>
                      <m:r>
                        <a:rPr lang="ru-RU"/>
                        <m:t>=</m:t>
                      </m:r>
                      <m:d>
                        <m:dPr>
                          <m:ctrlPr>
                            <a:rPr lang="ru-RU" i="1"/>
                          </m:ctrlPr>
                        </m:dPr>
                        <m:e>
                          <m:m>
                            <m:mPr>
                              <m:plcHide m:val="on"/>
                              <m:mcs>
                                <m:mc>
                                  <m:mcPr>
                                    <m:count m:val="1"/>
                                    <m:mcJc m:val="center"/>
                                  </m:mcPr>
                                </m:mc>
                              </m:mcs>
                              <m:ctrlPr>
                                <a:rPr lang="ru-RU" i="1"/>
                              </m:ctrlPr>
                            </m:mPr>
                            <m:mr>
                              <m:e>
                                <m:r>
                                  <a:rPr lang="ru-RU"/>
                                  <m:t>0.4</m:t>
                                </m:r>
                              </m:e>
                            </m:mr>
                            <m:mr>
                              <m:e>
                                <m:r>
                                  <a:rPr lang="ru-RU"/>
                                  <m:t>0</m:t>
                                </m:r>
                              </m:e>
                            </m:mr>
                          </m:m>
                        </m:e>
                      </m:d>
                    </m:oMath>
                  </m:oMathPara>
                </a14:m>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Tree>
    <p:extLst>
      <p:ext uri="{BB962C8B-B14F-4D97-AF65-F5344CB8AC3E}">
        <p14:creationId xmlns:p14="http://schemas.microsoft.com/office/powerpoint/2010/main" val="524838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Прямое распространение (</a:t>
            </a:r>
            <a:r>
              <a:rPr lang="ru-RU" b="1" dirty="0" err="1"/>
              <a:t>forward</a:t>
            </a:r>
            <a:r>
              <a:rPr lang="ru-RU" b="1" dirty="0"/>
              <a:t> </a:t>
            </a:r>
            <a:r>
              <a:rPr lang="ru-RU" b="1" dirty="0" err="1"/>
              <a:t>pass</a:t>
            </a:r>
            <a:r>
              <a:rPr lang="ru-RU" b="1" dirty="0"/>
              <a:t>)</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r>
                  <a:rPr lang="ru-RU" b="1" dirty="0"/>
                  <a:t>3. Активации скрытого слоя</a:t>
                </a:r>
                <a:endParaRPr lang="ru-RU" dirty="0"/>
              </a:p>
              <a:p>
                <a:r>
                  <a:rPr lang="ru-RU" dirty="0"/>
                  <a:t>Применяем </a:t>
                </a:r>
                <a:r>
                  <a:rPr lang="ru-RU" dirty="0" err="1"/>
                  <a:t>сигмоиду</a:t>
                </a:r>
                <a:r>
                  <a:rPr lang="ru-RU" dirty="0"/>
                  <a:t>:</a:t>
                </a:r>
              </a:p>
              <a:p>
                <a14:m>
                  <m:oMathPara xmlns:m="http://schemas.openxmlformats.org/officeDocument/2006/math">
                    <m:oMathParaPr>
                      <m:jc m:val="centerGroup"/>
                    </m:oMathParaPr>
                    <m:oMath xmlns:m="http://schemas.openxmlformats.org/officeDocument/2006/math">
                      <m:sSubSup>
                        <m:sSubSupPr>
                          <m:ctrlPr>
                            <a:rPr lang="ru-RU" i="1"/>
                          </m:ctrlPr>
                        </m:sSubSupPr>
                        <m:e>
                          <m:r>
                            <a:rPr lang="ru-RU" i="1"/>
                            <m:t>h</m:t>
                          </m:r>
                        </m:e>
                        <m:sub>
                          <m:r>
                            <a:rPr lang="ru-RU"/>
                            <m:t>1</m:t>
                          </m:r>
                        </m:sub>
                        <m:sup>
                          <m:r>
                            <a:rPr lang="ru-RU"/>
                            <m:t>(1)</m:t>
                          </m:r>
                        </m:sup>
                      </m:sSubSup>
                      <m:r>
                        <a:rPr lang="ru-RU"/>
                        <m:t>=</m:t>
                      </m:r>
                      <m:r>
                        <a:rPr lang="ru-RU" i="1"/>
                        <m:t>𝜎</m:t>
                      </m:r>
                      <m:r>
                        <a:rPr lang="ru-RU"/>
                        <m:t>(0.4)≈0.599</m:t>
                      </m:r>
                    </m:oMath>
                  </m:oMathPara>
                </a14:m>
                <a:endParaRPr lang="ru-RU" dirty="0"/>
              </a:p>
              <a:p>
                <a14:m>
                  <m:oMathPara xmlns:m="http://schemas.openxmlformats.org/officeDocument/2006/math">
                    <m:oMathParaPr>
                      <m:jc m:val="centerGroup"/>
                    </m:oMathParaPr>
                    <m:oMath xmlns:m="http://schemas.openxmlformats.org/officeDocument/2006/math">
                      <m:sSubSup>
                        <m:sSubSupPr>
                          <m:ctrlPr>
                            <a:rPr lang="ru-RU" i="1"/>
                          </m:ctrlPr>
                        </m:sSubSupPr>
                        <m:e>
                          <m:r>
                            <a:rPr lang="ru-RU" i="1"/>
                            <m:t>h</m:t>
                          </m:r>
                        </m:e>
                        <m:sub>
                          <m:r>
                            <a:rPr lang="ru-RU"/>
                            <m:t>2</m:t>
                          </m:r>
                        </m:sub>
                        <m:sup>
                          <m:r>
                            <a:rPr lang="ru-RU"/>
                            <m:t>(1)</m:t>
                          </m:r>
                        </m:sup>
                      </m:sSubSup>
                      <m:r>
                        <a:rPr lang="ru-RU"/>
                        <m:t>=</m:t>
                      </m:r>
                      <m:r>
                        <a:rPr lang="ru-RU" i="1"/>
                        <m:t>𝜎</m:t>
                      </m:r>
                      <m:r>
                        <a:rPr lang="ru-RU"/>
                        <m:t>(0)=0.5</m:t>
                      </m:r>
                    </m:oMath>
                  </m:oMathPara>
                </a14:m>
                <a:endParaRPr lang="ru-RU" dirty="0"/>
              </a:p>
              <a:p>
                <a:r>
                  <a:rPr lang="ru-RU" dirty="0"/>
                  <a:t>Следовательно,</a:t>
                </a:r>
              </a:p>
              <a:p>
                <a14:m>
                  <m:oMathPara xmlns:m="http://schemas.openxmlformats.org/officeDocument/2006/math">
                    <m:oMathParaPr>
                      <m:jc m:val="centerGroup"/>
                    </m:oMathParaPr>
                    <m:oMath xmlns:m="http://schemas.openxmlformats.org/officeDocument/2006/math">
                      <m:sSup>
                        <m:sSupPr>
                          <m:ctrlPr>
                            <a:rPr lang="ru-RU" i="1"/>
                          </m:ctrlPr>
                        </m:sSupPr>
                        <m:e>
                          <m:r>
                            <a:rPr lang="ru-RU" i="1"/>
                            <m:t>h</m:t>
                          </m:r>
                        </m:e>
                        <m:sup>
                          <m:r>
                            <a:rPr lang="ru-RU"/>
                            <m:t>(1)</m:t>
                          </m:r>
                        </m:sup>
                      </m:sSup>
                      <m:r>
                        <a:rPr lang="ru-RU"/>
                        <m:t>=</m:t>
                      </m:r>
                      <m:d>
                        <m:dPr>
                          <m:ctrlPr>
                            <a:rPr lang="ru-RU" i="1"/>
                          </m:ctrlPr>
                        </m:dPr>
                        <m:e>
                          <m:m>
                            <m:mPr>
                              <m:plcHide m:val="on"/>
                              <m:mcs>
                                <m:mc>
                                  <m:mcPr>
                                    <m:count m:val="1"/>
                                    <m:mcJc m:val="center"/>
                                  </m:mcPr>
                                </m:mc>
                              </m:mcs>
                              <m:ctrlPr>
                                <a:rPr lang="ru-RU" i="1"/>
                              </m:ctrlPr>
                            </m:mPr>
                            <m:mr>
                              <m:e>
                                <m:r>
                                  <a:rPr lang="ru-RU"/>
                                  <m:t>0.599</m:t>
                                </m:r>
                              </m:e>
                            </m:mr>
                            <m:mr>
                              <m:e>
                                <m:r>
                                  <a:rPr lang="ru-RU"/>
                                  <m:t>0.5</m:t>
                                </m:r>
                              </m:e>
                            </m:mr>
                          </m:m>
                        </m:e>
                      </m:d>
                    </m:oMath>
                  </m:oMathPara>
                </a14:m>
                <a:endParaRPr lang="ru-RU" dirty="0"/>
              </a:p>
              <a:p>
                <a:r>
                  <a:rPr lang="ru-RU" b="1" dirty="0"/>
                  <a:t>4. Сумма на выходном нейроне</a:t>
                </a:r>
                <a:endParaRPr lang="ru-RU" dirty="0"/>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𝑧</m:t>
                          </m:r>
                        </m:e>
                        <m:sub>
                          <m:r>
                            <a:rPr lang="ru-RU"/>
                            <m:t>1</m:t>
                          </m:r>
                        </m:sub>
                        <m:sup>
                          <m:r>
                            <a:rPr lang="ru-RU"/>
                            <m:t>(2)</m:t>
                          </m:r>
                        </m:sup>
                      </m:sSubSup>
                      <m:r>
                        <a:rPr lang="ru-RU"/>
                        <m:t>=0.7⋅0.599+(</m:t>
                      </m:r>
                      <m:r>
                        <a:rPr lang="ru-RU" i="1"/>
                        <m:t>−</m:t>
                      </m:r>
                      <m:r>
                        <a:rPr lang="ru-RU"/>
                        <m:t>0.1)⋅0.5+0.05</m:t>
                      </m:r>
                    </m:oMath>
                  </m:oMathPara>
                </a14:m>
                <a:endParaRPr lang="ru-RU" dirty="0"/>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𝑧</m:t>
                          </m:r>
                        </m:e>
                        <m:sub>
                          <m:r>
                            <a:rPr lang="ru-RU"/>
                            <m:t>1</m:t>
                          </m:r>
                        </m:sub>
                        <m:sup>
                          <m:r>
                            <a:rPr lang="ru-RU"/>
                            <m:t>(2)</m:t>
                          </m:r>
                        </m:sup>
                      </m:sSubSup>
                      <m:r>
                        <a:rPr lang="ru-RU"/>
                        <m:t>≈0.4193</m:t>
                      </m:r>
                    </m:oMath>
                  </m:oMathPara>
                </a14:m>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Tree>
    <p:extLst>
      <p:ext uri="{BB962C8B-B14F-4D97-AF65-F5344CB8AC3E}">
        <p14:creationId xmlns:p14="http://schemas.microsoft.com/office/powerpoint/2010/main" val="51435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Прямое распространение (</a:t>
            </a:r>
            <a:r>
              <a:rPr lang="ru-RU" b="1" dirty="0" err="1"/>
              <a:t>forward</a:t>
            </a:r>
            <a:r>
              <a:rPr lang="ru-RU" b="1" dirty="0"/>
              <a:t> </a:t>
            </a:r>
            <a:r>
              <a:rPr lang="ru-RU" b="1" dirty="0" err="1"/>
              <a:t>pass</a:t>
            </a:r>
            <a:r>
              <a:rPr lang="ru-RU" b="1" dirty="0"/>
              <a:t>)</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r>
                  <a:rPr lang="ru-RU" b="1" dirty="0"/>
                  <a:t>5. Выход сети</a:t>
                </a:r>
                <a:endParaRPr lang="ru-RU" dirty="0"/>
              </a:p>
              <a:p>
                <a14:m>
                  <m:oMathPara xmlns:m="http://schemas.openxmlformats.org/officeDocument/2006/math">
                    <m:oMathParaPr>
                      <m:jc m:val="centerGroup"/>
                    </m:oMathParaPr>
                    <m:oMath xmlns:m="http://schemas.openxmlformats.org/officeDocument/2006/math">
                      <m:sSubSup>
                        <m:sSubSupPr>
                          <m:ctrlPr>
                            <a:rPr lang="ru-RU" i="1"/>
                          </m:ctrlPr>
                        </m:sSubSupPr>
                        <m:e>
                          <m:r>
                            <a:rPr lang="ru-RU" i="1"/>
                            <m:t>h</m:t>
                          </m:r>
                        </m:e>
                        <m:sub>
                          <m:r>
                            <a:rPr lang="ru-RU"/>
                            <m:t>1</m:t>
                          </m:r>
                        </m:sub>
                        <m:sup>
                          <m:r>
                            <a:rPr lang="ru-RU"/>
                            <m:t>(2)</m:t>
                          </m:r>
                        </m:sup>
                      </m:sSubSup>
                      <m:r>
                        <a:rPr lang="ru-RU"/>
                        <m:t>=</m:t>
                      </m:r>
                      <m:r>
                        <a:rPr lang="ru-RU" i="1"/>
                        <m:t>𝜎</m:t>
                      </m:r>
                      <m:r>
                        <a:rPr lang="ru-RU"/>
                        <m:t>(0.4193)≈0.603</m:t>
                      </m:r>
                    </m:oMath>
                  </m:oMathPara>
                </a14:m>
                <a:endParaRPr lang="ru-RU" dirty="0"/>
              </a:p>
              <a:p>
                <a:r>
                  <a:rPr lang="ru-RU" dirty="0"/>
                  <a:t>Итак, итоговый выход сети:</a:t>
                </a:r>
              </a:p>
              <a:p>
                <a14:m>
                  <m:oMathPara xmlns:m="http://schemas.openxmlformats.org/officeDocument/2006/math">
                    <m:oMathParaPr>
                      <m:jc m:val="centerGroup"/>
                    </m:oMathParaPr>
                    <m:oMath xmlns:m="http://schemas.openxmlformats.org/officeDocument/2006/math">
                      <m:r>
                        <a:rPr lang="ru-RU" i="1"/>
                        <m:t>𝑦</m:t>
                      </m:r>
                      <m:r>
                        <a:rPr lang="ru-RU"/>
                        <m:t>=</m:t>
                      </m:r>
                      <m:sSup>
                        <m:sSupPr>
                          <m:ctrlPr>
                            <a:rPr lang="ru-RU" i="1"/>
                          </m:ctrlPr>
                        </m:sSupPr>
                        <m:e>
                          <m:r>
                            <a:rPr lang="ru-RU" i="1"/>
                            <m:t>h</m:t>
                          </m:r>
                        </m:e>
                        <m:sup>
                          <m:r>
                            <a:rPr lang="ru-RU"/>
                            <m:t>(2)</m:t>
                          </m:r>
                        </m:sup>
                      </m:sSup>
                      <m:r>
                        <a:rPr lang="ru-RU"/>
                        <m:t>≈0.603</m:t>
                      </m:r>
                    </m:oMath>
                  </m:oMathPara>
                </a14:m>
                <a:endParaRPr lang="ru-RU" dirty="0" smtClean="0"/>
              </a:p>
              <a:p>
                <a:r>
                  <a:rPr lang="ru-RU" dirty="0"/>
                  <a:t>Итак, сеть на входе </a:t>
                </a:r>
                <a14:m>
                  <m:oMath xmlns:m="http://schemas.openxmlformats.org/officeDocument/2006/math">
                    <m:r>
                      <a:rPr lang="ru-RU" i="1"/>
                      <m:t>𝑥</m:t>
                    </m:r>
                    <m:r>
                      <a:rPr lang="ru-RU"/>
                      <m:t>=(1,0</m:t>
                    </m:r>
                    <m:sSup>
                      <m:sSupPr>
                        <m:ctrlPr>
                          <a:rPr lang="ru-RU" i="1"/>
                        </m:ctrlPr>
                      </m:sSupPr>
                      <m:e>
                        <m:r>
                          <a:rPr lang="ru-RU"/>
                          <m:t>)</m:t>
                        </m:r>
                      </m:e>
                      <m:sup>
                        <m:r>
                          <a:rPr lang="ru-RU" i="1"/>
                          <m:t>𝑇</m:t>
                        </m:r>
                      </m:sup>
                    </m:sSup>
                  </m:oMath>
                </a14:m>
                <a:r>
                  <a:rPr lang="ru-RU" dirty="0"/>
                  <a:t> выдала значение </a:t>
                </a:r>
                <a14:m>
                  <m:oMath xmlns:m="http://schemas.openxmlformats.org/officeDocument/2006/math">
                    <m:r>
                      <a:rPr lang="ru-RU" i="1"/>
                      <m:t>𝑦</m:t>
                    </m:r>
                    <m:r>
                      <a:rPr lang="ru-RU"/>
                      <m:t>≈0.603</m:t>
                    </m:r>
                  </m:oMath>
                </a14:m>
                <a:r>
                  <a:rPr lang="ru-RU" dirty="0"/>
                  <a:t>. Но само по себе это число ещё ничего не говорит о качестве работы сети. Чтобы понять, верно ли сработала сеть, нужно сравнить её выход с требуемым целевым значением. Отсюда возникает понятие ошибки и задача обучения нейронной сети</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Tree>
    <p:extLst>
      <p:ext uri="{BB962C8B-B14F-4D97-AF65-F5344CB8AC3E}">
        <p14:creationId xmlns:p14="http://schemas.microsoft.com/office/powerpoint/2010/main" val="2674049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Ошибка и задача обучения</a:t>
            </a:r>
            <a:endParaRPr lang="ru-RU" dirty="0"/>
          </a:p>
        </p:txBody>
      </p:sp>
      <p:sp>
        <p:nvSpPr>
          <p:cNvPr id="3" name="Объект 2"/>
          <p:cNvSpPr>
            <a:spLocks noGrp="1"/>
          </p:cNvSpPr>
          <p:nvPr>
            <p:ph idx="1"/>
          </p:nvPr>
        </p:nvSpPr>
        <p:spPr/>
        <p:txBody>
          <a:bodyPr>
            <a:normAutofit/>
          </a:bodyPr>
          <a:lstStyle/>
          <a:p>
            <a:r>
              <a:rPr lang="ru-RU" dirty="0"/>
              <a:t>Ошибка обучения для построенной нейронной сети вычисляется путем сравнения выходных и целевых (желаемых) значений. Из полученных разностей формируется функция ошибок.</a:t>
            </a:r>
          </a:p>
          <a:p>
            <a:r>
              <a:rPr lang="ru-RU" dirty="0"/>
              <a:t>Функция ошибок - это целевая функция, требующая минимизации в процессе управляемого обучения нейронной сети</a:t>
            </a:r>
            <a:r>
              <a:rPr lang="ru-RU" dirty="0" smtClean="0"/>
              <a:t>.</a:t>
            </a:r>
          </a:p>
          <a:p>
            <a:r>
              <a:rPr lang="ru-RU" dirty="0"/>
              <a:t>Обучение — это подбор весов и смещений, </a:t>
            </a:r>
            <a:r>
              <a:rPr lang="ru-RU" dirty="0" err="1"/>
              <a:t>минимизирующих</a:t>
            </a:r>
            <a:r>
              <a:rPr lang="ru-RU" dirty="0"/>
              <a:t> </a:t>
            </a:r>
            <a:r>
              <a:rPr lang="ru-RU" dirty="0" smtClean="0"/>
              <a:t>ошибку.</a:t>
            </a:r>
            <a:endParaRPr lang="ru-RU" dirty="0"/>
          </a:p>
          <a:p>
            <a:endParaRPr lang="ru-RU" dirty="0" smtClean="0"/>
          </a:p>
        </p:txBody>
      </p:sp>
    </p:spTree>
    <p:extLst>
      <p:ext uri="{BB962C8B-B14F-4D97-AF65-F5344CB8AC3E}">
        <p14:creationId xmlns:p14="http://schemas.microsoft.com/office/powerpoint/2010/main" val="2688458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Ошибка и задача обучения</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r>
                  <a:rPr lang="ru-RU" b="1" dirty="0"/>
                  <a:t>Для одного обучающего примера</a:t>
                </a:r>
                <a:endParaRPr lang="ru-RU" dirty="0"/>
              </a:p>
              <a:p>
                <a:r>
                  <a:rPr lang="ru-RU" dirty="0"/>
                  <a:t>Пусть есть обучающий пример </a:t>
                </a:r>
                <a14:m>
                  <m:oMath xmlns:m="http://schemas.openxmlformats.org/officeDocument/2006/math">
                    <m:r>
                      <a:rPr lang="ru-RU"/>
                      <m:t>(</m:t>
                    </m:r>
                    <m:r>
                      <a:rPr lang="ru-RU" i="1"/>
                      <m:t>𝑥</m:t>
                    </m:r>
                    <m:r>
                      <a:rPr lang="ru-RU"/>
                      <m:t>,</m:t>
                    </m:r>
                    <m:r>
                      <a:rPr lang="ru-RU" i="1"/>
                      <m:t>𝑡</m:t>
                    </m:r>
                    <m:r>
                      <a:rPr lang="ru-RU"/>
                      <m:t>)</m:t>
                    </m:r>
                  </m:oMath>
                </a14:m>
                <a:r>
                  <a:rPr lang="ru-RU" dirty="0"/>
                  <a:t>, где </a:t>
                </a:r>
                <a14:m>
                  <m:oMath xmlns:m="http://schemas.openxmlformats.org/officeDocument/2006/math">
                    <m:r>
                      <a:rPr lang="ru-RU" i="1"/>
                      <m:t>𝑡</m:t>
                    </m:r>
                    <m:r>
                      <a:rPr lang="ru-RU"/>
                      <m:t>∈</m:t>
                    </m:r>
                    <m:sSup>
                      <m:sSupPr>
                        <m:ctrlPr>
                          <a:rPr lang="ru-RU" i="1"/>
                        </m:ctrlPr>
                      </m:sSupPr>
                      <m:e>
                        <m:r>
                          <a:rPr lang="ru-RU" i="1"/>
                          <m:t>ℝ</m:t>
                        </m:r>
                      </m:e>
                      <m:sup>
                        <m:sSub>
                          <m:sSubPr>
                            <m:ctrlPr>
                              <a:rPr lang="ru-RU" i="1"/>
                            </m:ctrlPr>
                          </m:sSubPr>
                          <m:e>
                            <m:r>
                              <a:rPr lang="ru-RU" i="1"/>
                              <m:t>𝑛</m:t>
                            </m:r>
                          </m:e>
                          <m:sub>
                            <m:r>
                              <a:rPr lang="ru-RU" i="1"/>
                              <m:t>𝐿</m:t>
                            </m:r>
                          </m:sub>
                        </m:sSub>
                      </m:sup>
                    </m:sSup>
                  </m:oMath>
                </a14:m>
                <a:r>
                  <a:rPr lang="ru-RU" dirty="0"/>
                  <a:t> — целевой (желательный) выход.</a:t>
                </a:r>
              </a:p>
              <a:p>
                <a:r>
                  <a:rPr lang="ru-RU" dirty="0"/>
                  <a:t>Простейшая функция ошибки (MSE):</a:t>
                </a:r>
              </a:p>
              <a:p>
                <a14:m>
                  <m:oMathPara xmlns:m="http://schemas.openxmlformats.org/officeDocument/2006/math">
                    <m:oMathParaPr>
                      <m:jc m:val="centerGroup"/>
                    </m:oMathParaPr>
                    <m:oMath xmlns:m="http://schemas.openxmlformats.org/officeDocument/2006/math">
                      <m:r>
                        <a:rPr lang="ru-RU" i="1"/>
                        <m:t>𝐸</m:t>
                      </m:r>
                      <m:r>
                        <a:rPr lang="ru-RU"/>
                        <m:t>(</m:t>
                      </m:r>
                      <m:r>
                        <a:rPr lang="ru-RU" i="1"/>
                        <m:t>𝑥</m:t>
                      </m:r>
                      <m:r>
                        <a:rPr lang="ru-RU"/>
                        <m:t>,</m:t>
                      </m:r>
                      <m:r>
                        <a:rPr lang="ru-RU" i="1"/>
                        <m:t>𝑡</m:t>
                      </m:r>
                      <m:r>
                        <a:rPr lang="ru-RU"/>
                        <m:t>)=</m:t>
                      </m:r>
                      <m:f>
                        <m:fPr>
                          <m:ctrlPr>
                            <a:rPr lang="ru-RU" i="1"/>
                          </m:ctrlPr>
                        </m:fPr>
                        <m:num>
                          <m:r>
                            <a:rPr lang="ru-RU"/>
                            <m:t>1</m:t>
                          </m:r>
                        </m:num>
                        <m:den>
                          <m:r>
                            <a:rPr lang="ru-RU"/>
                            <m:t>2</m:t>
                          </m:r>
                        </m:den>
                      </m:f>
                      <m:nary>
                        <m:naryPr>
                          <m:chr m:val="∑"/>
                          <m:limLoc m:val="undOvr"/>
                          <m:grow m:val="on"/>
                          <m:ctrlPr>
                            <a:rPr lang="ru-RU" i="1"/>
                          </m:ctrlPr>
                        </m:naryPr>
                        <m:sub>
                          <m:r>
                            <a:rPr lang="ru-RU" i="1"/>
                            <m:t>𝑘</m:t>
                          </m:r>
                          <m:r>
                            <a:rPr lang="ru-RU"/>
                            <m:t>=1</m:t>
                          </m:r>
                        </m:sub>
                        <m:sup>
                          <m:sSub>
                            <m:sSubPr>
                              <m:ctrlPr>
                                <a:rPr lang="ru-RU" i="1"/>
                              </m:ctrlPr>
                            </m:sSubPr>
                            <m:e>
                              <m:r>
                                <a:rPr lang="ru-RU" i="1"/>
                                <m:t>𝑛</m:t>
                              </m:r>
                            </m:e>
                            <m:sub>
                              <m:r>
                                <a:rPr lang="ru-RU" i="1"/>
                                <m:t>𝐿</m:t>
                              </m:r>
                            </m:sub>
                          </m:sSub>
                        </m:sup>
                        <m:e>
                          <m:r>
                            <a:rPr lang="ru-RU"/>
                            <m:t> </m:t>
                          </m:r>
                        </m:e>
                      </m:nary>
                      <m:r>
                        <a:rPr lang="ru-RU"/>
                        <m:t>(</m:t>
                      </m:r>
                      <m:sSubSup>
                        <m:sSubSupPr>
                          <m:ctrlPr>
                            <a:rPr lang="ru-RU" i="1"/>
                          </m:ctrlPr>
                        </m:sSubSupPr>
                        <m:e>
                          <m:r>
                            <a:rPr lang="ru-RU" i="1"/>
                            <m:t>h</m:t>
                          </m:r>
                        </m:e>
                        <m:sub>
                          <m:r>
                            <a:rPr lang="ru-RU" i="1"/>
                            <m:t>𝑘</m:t>
                          </m:r>
                        </m:sub>
                        <m:sup>
                          <m:r>
                            <a:rPr lang="ru-RU"/>
                            <m:t>(</m:t>
                          </m:r>
                          <m:r>
                            <a:rPr lang="ru-RU" i="1"/>
                            <m:t>𝐿</m:t>
                          </m:r>
                          <m:r>
                            <a:rPr lang="ru-RU"/>
                            <m:t>)</m:t>
                          </m:r>
                        </m:sup>
                      </m:sSubSup>
                      <m:r>
                        <a:rPr lang="ru-RU"/>
                        <m:t>(</m:t>
                      </m:r>
                      <m:r>
                        <a:rPr lang="ru-RU" i="1"/>
                        <m:t>𝑥</m:t>
                      </m:r>
                      <m:r>
                        <a:rPr lang="ru-RU"/>
                        <m:t>)</m:t>
                      </m:r>
                      <m:r>
                        <a:rPr lang="ru-RU" i="1"/>
                        <m:t>−</m:t>
                      </m:r>
                      <m:sSub>
                        <m:sSubPr>
                          <m:ctrlPr>
                            <a:rPr lang="ru-RU" i="1"/>
                          </m:ctrlPr>
                        </m:sSubPr>
                        <m:e>
                          <m:r>
                            <a:rPr lang="ru-RU" i="1"/>
                            <m:t>𝑡</m:t>
                          </m:r>
                        </m:e>
                        <m:sub>
                          <m:r>
                            <a:rPr lang="ru-RU" i="1"/>
                            <m:t>𝑘</m:t>
                          </m:r>
                        </m:sub>
                      </m:sSub>
                      <m:sSup>
                        <m:sSupPr>
                          <m:ctrlPr>
                            <a:rPr lang="ru-RU" i="1"/>
                          </m:ctrlPr>
                        </m:sSupPr>
                        <m:e>
                          <m:r>
                            <a:rPr lang="ru-RU"/>
                            <m:t>)</m:t>
                          </m:r>
                        </m:e>
                        <m:sup>
                          <m:r>
                            <a:rPr lang="ru-RU"/>
                            <m:t>2</m:t>
                          </m:r>
                        </m:sup>
                      </m:sSup>
                      <m:r>
                        <a:rPr lang="ru-RU"/>
                        <m:t>,</m:t>
                      </m:r>
                    </m:oMath>
                  </m:oMathPara>
                </a14:m>
                <a:endParaRPr lang="ru-RU" dirty="0"/>
              </a:p>
              <a:p>
                <a:r>
                  <a:rPr lang="ru-RU" dirty="0"/>
                  <a:t>где </a:t>
                </a:r>
                <a14:m>
                  <m:oMath xmlns:m="http://schemas.openxmlformats.org/officeDocument/2006/math">
                    <m:sSubSup>
                      <m:sSubSupPr>
                        <m:ctrlPr>
                          <a:rPr lang="ru-RU" i="1"/>
                        </m:ctrlPr>
                      </m:sSubSupPr>
                      <m:e>
                        <m:r>
                          <a:rPr lang="ru-RU" i="1"/>
                          <m:t>h</m:t>
                        </m:r>
                      </m:e>
                      <m:sub>
                        <m:r>
                          <a:rPr lang="ru-RU" i="1"/>
                          <m:t>𝑘</m:t>
                        </m:r>
                      </m:sub>
                      <m:sup>
                        <m:r>
                          <a:rPr lang="ru-RU"/>
                          <m:t>(</m:t>
                        </m:r>
                        <m:r>
                          <a:rPr lang="ru-RU" i="1"/>
                          <m:t>𝐿</m:t>
                        </m:r>
                        <m:r>
                          <a:rPr lang="ru-RU"/>
                          <m:t>)</m:t>
                        </m:r>
                      </m:sup>
                    </m:sSubSup>
                    <m:r>
                      <a:rPr lang="ru-RU"/>
                      <m:t>(</m:t>
                    </m:r>
                    <m:r>
                      <a:rPr lang="ru-RU" i="1"/>
                      <m:t>𝑥</m:t>
                    </m:r>
                    <m:r>
                      <a:rPr lang="ru-RU"/>
                      <m:t>)</m:t>
                    </m:r>
                  </m:oMath>
                </a14:m>
                <a:r>
                  <a:rPr lang="ru-RU" dirty="0"/>
                  <a:t> — </a:t>
                </a:r>
                <a14:m>
                  <m:oMath xmlns:m="http://schemas.openxmlformats.org/officeDocument/2006/math">
                    <m:r>
                      <a:rPr lang="ru-RU" i="1"/>
                      <m:t>𝑘</m:t>
                    </m:r>
                  </m:oMath>
                </a14:m>
                <a:r>
                  <a:rPr lang="ru-RU" dirty="0"/>
                  <a:t>-я компонента выхода сети на входе </a:t>
                </a:r>
                <a14:m>
                  <m:oMath xmlns:m="http://schemas.openxmlformats.org/officeDocument/2006/math">
                    <m:r>
                      <a:rPr lang="ru-RU" i="1"/>
                      <m:t>𝑥</m:t>
                    </m:r>
                  </m:oMath>
                </a14:m>
                <a:r>
                  <a:rPr lang="ru-RU" dirty="0" smtClean="0"/>
                  <a:t>.</a:t>
                </a:r>
              </a:p>
              <a:p>
                <a:r>
                  <a:rPr lang="ru-RU" dirty="0"/>
                  <a:t>М</a:t>
                </a:r>
                <a:r>
                  <a:rPr lang="ru-RU" dirty="0" smtClean="0"/>
                  <a:t>ножитель </a:t>
                </a:r>
                <a14:m>
                  <m:oMath xmlns:m="http://schemas.openxmlformats.org/officeDocument/2006/math">
                    <m:r>
                      <a:rPr lang="ru-RU"/>
                      <m:t>1/2</m:t>
                    </m:r>
                  </m:oMath>
                </a14:m>
                <a:r>
                  <a:rPr lang="ru-RU" dirty="0"/>
                  <a:t>: удобен при </a:t>
                </a:r>
                <a:r>
                  <a:rPr lang="ru-RU" dirty="0" smtClean="0"/>
                  <a:t>дифференцировании.</a:t>
                </a:r>
                <a:endParaRPr lang="ru-RU" dirty="0"/>
              </a:p>
              <a:p>
                <a:endParaRPr lang="ru-RU" dirty="0" smtClean="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r="-221"/>
                </a:stretch>
              </a:blipFill>
            </p:spPr>
            <p:txBody>
              <a:bodyPr/>
              <a:lstStyle/>
              <a:p>
                <a:r>
                  <a:rPr lang="ru-RU">
                    <a:noFill/>
                  </a:rPr>
                  <a:t> </a:t>
                </a:r>
              </a:p>
            </p:txBody>
          </p:sp>
        </mc:Fallback>
      </mc:AlternateContent>
    </p:spTree>
    <p:extLst>
      <p:ext uri="{BB962C8B-B14F-4D97-AF65-F5344CB8AC3E}">
        <p14:creationId xmlns:p14="http://schemas.microsoft.com/office/powerpoint/2010/main" val="1086624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Ошибка и задача обучения</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lstStyle/>
              <a:p>
                <a:r>
                  <a:rPr lang="ru-RU" b="1" dirty="0"/>
                  <a:t>Для выборки</a:t>
                </a:r>
                <a:endParaRPr lang="ru-RU" dirty="0"/>
              </a:p>
              <a:p>
                <a:r>
                  <a:rPr lang="ru-RU" dirty="0"/>
                  <a:t>Пусть есть обучающее множество </a:t>
                </a:r>
                <a14:m>
                  <m:oMath xmlns:m="http://schemas.openxmlformats.org/officeDocument/2006/math">
                    <m:r>
                      <a:rPr lang="ru-RU"/>
                      <m:t>{(</m:t>
                    </m:r>
                    <m:sSup>
                      <m:sSupPr>
                        <m:ctrlPr>
                          <a:rPr lang="ru-RU" i="1"/>
                        </m:ctrlPr>
                      </m:sSupPr>
                      <m:e>
                        <m:r>
                          <a:rPr lang="ru-RU" i="1"/>
                          <m:t>𝑥</m:t>
                        </m:r>
                      </m:e>
                      <m:sup>
                        <m:r>
                          <a:rPr lang="ru-RU"/>
                          <m:t>(</m:t>
                        </m:r>
                        <m:r>
                          <a:rPr lang="ru-RU" i="1"/>
                          <m:t>𝑝</m:t>
                        </m:r>
                        <m:r>
                          <a:rPr lang="ru-RU"/>
                          <m:t>)</m:t>
                        </m:r>
                      </m:sup>
                    </m:sSup>
                    <m:r>
                      <a:rPr lang="ru-RU"/>
                      <m:t>,</m:t>
                    </m:r>
                    <m:sSup>
                      <m:sSupPr>
                        <m:ctrlPr>
                          <a:rPr lang="ru-RU" i="1"/>
                        </m:ctrlPr>
                      </m:sSupPr>
                      <m:e>
                        <m:r>
                          <a:rPr lang="ru-RU" i="1"/>
                          <m:t>𝑡</m:t>
                        </m:r>
                      </m:e>
                      <m:sup>
                        <m:r>
                          <a:rPr lang="ru-RU"/>
                          <m:t>(</m:t>
                        </m:r>
                        <m:r>
                          <a:rPr lang="ru-RU" i="1"/>
                          <m:t>𝑝</m:t>
                        </m:r>
                        <m:r>
                          <a:rPr lang="ru-RU"/>
                          <m:t>)</m:t>
                        </m:r>
                      </m:sup>
                    </m:sSup>
                    <m:r>
                      <a:rPr lang="ru-RU"/>
                      <m:t>)</m:t>
                    </m:r>
                    <m:sSubSup>
                      <m:sSubSupPr>
                        <m:ctrlPr>
                          <a:rPr lang="ru-RU" i="1"/>
                        </m:ctrlPr>
                      </m:sSubSupPr>
                      <m:e>
                        <m:r>
                          <a:rPr lang="ru-RU"/>
                          <m:t>}</m:t>
                        </m:r>
                      </m:e>
                      <m:sub>
                        <m:r>
                          <a:rPr lang="ru-RU" i="1"/>
                          <m:t>𝑝</m:t>
                        </m:r>
                        <m:r>
                          <a:rPr lang="ru-RU"/>
                          <m:t>=1</m:t>
                        </m:r>
                      </m:sub>
                      <m:sup>
                        <m:r>
                          <a:rPr lang="ru-RU" i="1"/>
                          <m:t>𝑃</m:t>
                        </m:r>
                      </m:sup>
                    </m:sSubSup>
                  </m:oMath>
                </a14:m>
                <a:r>
                  <a:rPr lang="ru-RU" dirty="0" smtClean="0"/>
                  <a:t>.</a:t>
                </a:r>
                <a:endParaRPr lang="ru-RU" dirty="0"/>
              </a:p>
              <a:p>
                <a:r>
                  <a:rPr lang="ru-RU" dirty="0"/>
                  <a:t>Тогда суммарная ошибка:</a:t>
                </a:r>
              </a:p>
              <a:p>
                <a14:m>
                  <m:oMathPara xmlns:m="http://schemas.openxmlformats.org/officeDocument/2006/math">
                    <m:oMathParaPr>
                      <m:jc m:val="centerGroup"/>
                    </m:oMathParaPr>
                    <m:oMath xmlns:m="http://schemas.openxmlformats.org/officeDocument/2006/math">
                      <m:sSub>
                        <m:sSubPr>
                          <m:ctrlPr>
                            <a:rPr lang="ru-RU" i="1"/>
                          </m:ctrlPr>
                        </m:sSubPr>
                        <m:e>
                          <m:r>
                            <a:rPr lang="ru-RU" i="1"/>
                            <m:t>𝐸</m:t>
                          </m:r>
                        </m:e>
                        <m:sub>
                          <m:r>
                            <m:rPr>
                              <m:nor/>
                            </m:rPr>
                            <a:rPr lang="ru-RU"/>
                            <m:t>tot</m:t>
                          </m:r>
                        </m:sub>
                      </m:sSub>
                      <m:r>
                        <a:rPr lang="ru-RU"/>
                        <m:t>=</m:t>
                      </m:r>
                      <m:nary>
                        <m:naryPr>
                          <m:chr m:val="∑"/>
                          <m:limLoc m:val="undOvr"/>
                          <m:grow m:val="on"/>
                          <m:ctrlPr>
                            <a:rPr lang="ru-RU" i="1"/>
                          </m:ctrlPr>
                        </m:naryPr>
                        <m:sub>
                          <m:r>
                            <a:rPr lang="ru-RU" i="1"/>
                            <m:t>𝑝</m:t>
                          </m:r>
                          <m:r>
                            <a:rPr lang="ru-RU"/>
                            <m:t>=1</m:t>
                          </m:r>
                        </m:sub>
                        <m:sup>
                          <m:r>
                            <a:rPr lang="ru-RU" i="1"/>
                            <m:t>𝑃</m:t>
                          </m:r>
                        </m:sup>
                        <m:e>
                          <m:r>
                            <a:rPr lang="ru-RU"/>
                            <m:t> </m:t>
                          </m:r>
                        </m:e>
                      </m:nary>
                      <m:r>
                        <a:rPr lang="ru-RU" i="1"/>
                        <m:t>𝐸</m:t>
                      </m:r>
                      <m:r>
                        <a:rPr lang="ru-RU"/>
                        <m:t>(</m:t>
                      </m:r>
                      <m:sSup>
                        <m:sSupPr>
                          <m:ctrlPr>
                            <a:rPr lang="ru-RU" i="1"/>
                          </m:ctrlPr>
                        </m:sSupPr>
                        <m:e>
                          <m:r>
                            <a:rPr lang="ru-RU" i="1"/>
                            <m:t>𝑥</m:t>
                          </m:r>
                        </m:e>
                        <m:sup>
                          <m:r>
                            <a:rPr lang="ru-RU"/>
                            <m:t>(</m:t>
                          </m:r>
                          <m:r>
                            <a:rPr lang="ru-RU" i="1"/>
                            <m:t>𝑝</m:t>
                          </m:r>
                          <m:r>
                            <a:rPr lang="ru-RU"/>
                            <m:t>)</m:t>
                          </m:r>
                        </m:sup>
                      </m:sSup>
                      <m:r>
                        <a:rPr lang="ru-RU"/>
                        <m:t>,</m:t>
                      </m:r>
                      <m:sSup>
                        <m:sSupPr>
                          <m:ctrlPr>
                            <a:rPr lang="ru-RU" i="1"/>
                          </m:ctrlPr>
                        </m:sSupPr>
                        <m:e>
                          <m:r>
                            <a:rPr lang="ru-RU" i="1"/>
                            <m:t>𝑡</m:t>
                          </m:r>
                        </m:e>
                        <m:sup>
                          <m:r>
                            <a:rPr lang="ru-RU"/>
                            <m:t>(</m:t>
                          </m:r>
                          <m:r>
                            <a:rPr lang="ru-RU" i="1"/>
                            <m:t>𝑝</m:t>
                          </m:r>
                          <m:r>
                            <a:rPr lang="ru-RU"/>
                            <m:t>)</m:t>
                          </m:r>
                        </m:sup>
                      </m:sSup>
                      <m:r>
                        <a:rPr lang="ru-RU"/>
                        <m:t>).</m:t>
                      </m:r>
                    </m:oMath>
                  </m:oMathPara>
                </a14:m>
                <a:endParaRPr lang="ru-RU" dirty="0"/>
              </a:p>
              <a:p>
                <a:r>
                  <a:rPr lang="ru-RU" dirty="0"/>
                  <a:t>Обучение — это минимизация </a:t>
                </a:r>
                <a14:m>
                  <m:oMath xmlns:m="http://schemas.openxmlformats.org/officeDocument/2006/math">
                    <m:sSub>
                      <m:sSubPr>
                        <m:ctrlPr>
                          <a:rPr lang="ru-RU" i="1"/>
                        </m:ctrlPr>
                      </m:sSubPr>
                      <m:e>
                        <m:r>
                          <a:rPr lang="ru-RU" i="1"/>
                          <m:t>𝐸</m:t>
                        </m:r>
                      </m:e>
                      <m:sub>
                        <m:r>
                          <m:rPr>
                            <m:nor/>
                          </m:rPr>
                          <a:rPr lang="ru-RU"/>
                          <m:t>tot</m:t>
                        </m:r>
                      </m:sub>
                    </m:sSub>
                  </m:oMath>
                </a14:m>
                <a:r>
                  <a:rPr lang="ru-RU" dirty="0"/>
                  <a:t> по всем параметрам сети </a:t>
                </a:r>
                <a14:m>
                  <m:oMath xmlns:m="http://schemas.openxmlformats.org/officeDocument/2006/math">
                    <m:r>
                      <a:rPr lang="ru-RU" i="1"/>
                      <m:t>𝜃</m:t>
                    </m:r>
                    <m:r>
                      <a:rPr lang="ru-RU"/>
                      <m:t>={</m:t>
                    </m:r>
                    <m:sSup>
                      <m:sSupPr>
                        <m:ctrlPr>
                          <a:rPr lang="ru-RU" i="1"/>
                        </m:ctrlPr>
                      </m:sSupPr>
                      <m:e>
                        <m:r>
                          <a:rPr lang="ru-RU" i="1"/>
                          <m:t>𝑊</m:t>
                        </m:r>
                      </m:e>
                      <m:sup>
                        <m:r>
                          <a:rPr lang="ru-RU"/>
                          <m:t>(</m:t>
                        </m:r>
                        <m:r>
                          <a:rPr lang="ru-RU" i="1"/>
                          <m:t>𝑙</m:t>
                        </m:r>
                        <m:r>
                          <a:rPr lang="ru-RU"/>
                          <m:t>)</m:t>
                        </m:r>
                      </m:sup>
                    </m:sSup>
                    <m:r>
                      <a:rPr lang="ru-RU"/>
                      <m:t>,</m:t>
                    </m:r>
                    <m:sSup>
                      <m:sSupPr>
                        <m:ctrlPr>
                          <a:rPr lang="ru-RU" i="1"/>
                        </m:ctrlPr>
                      </m:sSupPr>
                      <m:e>
                        <m:r>
                          <a:rPr lang="ru-RU" i="1"/>
                          <m:t>𝑏</m:t>
                        </m:r>
                      </m:e>
                      <m:sup>
                        <m:r>
                          <a:rPr lang="ru-RU"/>
                          <m:t>(</m:t>
                        </m:r>
                        <m:r>
                          <a:rPr lang="ru-RU" i="1"/>
                          <m:t>𝑙</m:t>
                        </m:r>
                        <m:r>
                          <a:rPr lang="ru-RU"/>
                          <m:t>)</m:t>
                        </m:r>
                      </m:sup>
                    </m:sSup>
                    <m:sSubSup>
                      <m:sSubSupPr>
                        <m:ctrlPr>
                          <a:rPr lang="ru-RU" i="1"/>
                        </m:ctrlPr>
                      </m:sSubSupPr>
                      <m:e>
                        <m:r>
                          <a:rPr lang="ru-RU"/>
                          <m:t>}</m:t>
                        </m:r>
                      </m:e>
                      <m:sub>
                        <m:r>
                          <a:rPr lang="ru-RU" i="1"/>
                          <m:t>𝑙</m:t>
                        </m:r>
                        <m:r>
                          <a:rPr lang="ru-RU"/>
                          <m:t>=1</m:t>
                        </m:r>
                      </m:sub>
                      <m:sup>
                        <m:r>
                          <a:rPr lang="ru-RU" i="1"/>
                          <m:t>𝐿</m:t>
                        </m:r>
                      </m:sup>
                    </m:sSubSup>
                  </m:oMath>
                </a14:m>
                <a:r>
                  <a:rPr lang="ru-RU" dirty="0" smtClean="0"/>
                  <a:t>.</a:t>
                </a:r>
              </a:p>
              <a:p>
                <a:r>
                  <a:rPr lang="ru-RU" dirty="0"/>
                  <a:t>И</a:t>
                </a:r>
                <a:r>
                  <a:rPr lang="ru-RU" dirty="0" smtClean="0"/>
                  <a:t>менно </a:t>
                </a:r>
                <a:r>
                  <a:rPr lang="ru-RU" dirty="0"/>
                  <a:t>этот функционал мы </a:t>
                </a:r>
                <a:r>
                  <a:rPr lang="ru-RU" dirty="0" smtClean="0"/>
                  <a:t>минимизируем.</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29</a:t>
            </a:fld>
            <a:endParaRPr lang="ru-RU" noProof="0" dirty="0"/>
          </a:p>
        </p:txBody>
      </p:sp>
    </p:spTree>
    <p:extLst>
      <p:ext uri="{BB962C8B-B14F-4D97-AF65-F5344CB8AC3E}">
        <p14:creationId xmlns:p14="http://schemas.microsoft.com/office/powerpoint/2010/main" val="1341925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Ошибка и задача обучения</a:t>
            </a:r>
            <a:endParaRPr lang="ru-RU" dirty="0"/>
          </a:p>
        </p:txBody>
      </p:sp>
      <p:sp>
        <p:nvSpPr>
          <p:cNvPr id="3" name="Объект 2"/>
          <p:cNvSpPr>
            <a:spLocks noGrp="1"/>
          </p:cNvSpPr>
          <p:nvPr>
            <p:ph idx="1"/>
          </p:nvPr>
        </p:nvSpPr>
        <p:spPr/>
        <p:txBody>
          <a:bodyPr/>
          <a:lstStyle/>
          <a:p>
            <a:r>
              <a:rPr lang="ru-RU" dirty="0"/>
              <a:t>После прямого прохода сеть выдаёт некоторый выход </a:t>
            </a:r>
            <a:r>
              <a:rPr lang="ru-RU" dirty="0" smtClean="0"/>
              <a:t>y</a:t>
            </a:r>
            <a:r>
              <a:rPr lang="ru-RU" dirty="0"/>
              <a:t>. Если у нас есть правильный ответ </a:t>
            </a:r>
            <a:r>
              <a:rPr lang="ru-RU" dirty="0" smtClean="0"/>
              <a:t>t</a:t>
            </a:r>
            <a:r>
              <a:rPr lang="ru-RU" dirty="0"/>
              <a:t>, то можно сравнить их и измерить ошибку. Для одного примера ошибка показывает, насколько сеть ошиблась на данном входе, а для всей обучающей выборки обычно рассматривают суммарную или среднюю ошибку</a:t>
            </a:r>
            <a:r>
              <a:rPr lang="ru-RU" dirty="0" smtClean="0"/>
              <a:t>».</a:t>
            </a:r>
            <a:endParaRPr lang="ru-RU" dirty="0"/>
          </a:p>
          <a:p>
            <a:r>
              <a:rPr lang="ru-RU" dirty="0" smtClean="0"/>
              <a:t>Таким </a:t>
            </a:r>
            <a:r>
              <a:rPr lang="ru-RU" dirty="0"/>
              <a:t>образом, задача обучения перестаёт быть абстрактной: нам нужно подобрать такие параметры сети, при которых функция ошибки принимает как можно меньшее </a:t>
            </a:r>
            <a:r>
              <a:rPr lang="ru-RU" dirty="0" smtClean="0"/>
              <a:t>значение.</a:t>
            </a:r>
          </a:p>
          <a:p>
            <a:r>
              <a:rPr lang="ru-RU" dirty="0" smtClean="0"/>
              <a:t>Что же дальше?</a:t>
            </a:r>
            <a:endParaRPr lang="ru-RU" dirty="0"/>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30</a:t>
            </a:fld>
            <a:endParaRPr lang="ru-RU" noProof="0" dirty="0"/>
          </a:p>
        </p:txBody>
      </p:sp>
    </p:spTree>
    <p:extLst>
      <p:ext uri="{BB962C8B-B14F-4D97-AF65-F5344CB8AC3E}">
        <p14:creationId xmlns:p14="http://schemas.microsoft.com/office/powerpoint/2010/main" val="26530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Ошибка и задача обучения</a:t>
            </a:r>
            <a:endParaRPr lang="ru-RU" dirty="0"/>
          </a:p>
        </p:txBody>
      </p:sp>
      <p:sp>
        <p:nvSpPr>
          <p:cNvPr id="3" name="Объект 2"/>
          <p:cNvSpPr>
            <a:spLocks noGrp="1"/>
          </p:cNvSpPr>
          <p:nvPr>
            <p:ph idx="1"/>
          </p:nvPr>
        </p:nvSpPr>
        <p:spPr/>
        <p:txBody>
          <a:bodyPr/>
          <a:lstStyle/>
          <a:p>
            <a:r>
              <a:rPr lang="ru-RU" dirty="0"/>
              <a:t>Мы научились измерять ошибку сети. Но измерить ошибку недостаточно — нужно ещё уметь её уменьшать. Для этого надо понять, как ошибка зависит от параметров сети, то есть перейти к производным и градиентному обучению</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31</a:t>
            </a:fld>
            <a:endParaRPr lang="ru-RU" noProof="0" dirty="0"/>
          </a:p>
        </p:txBody>
      </p:sp>
    </p:spTree>
    <p:extLst>
      <p:ext uri="{BB962C8B-B14F-4D97-AF65-F5344CB8AC3E}">
        <p14:creationId xmlns:p14="http://schemas.microsoft.com/office/powerpoint/2010/main" val="1365523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Идея градиентного обучения</a:t>
            </a:r>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lstStyle/>
              <a:p>
                <a:r>
                  <a:rPr lang="ru-RU" b="1" dirty="0"/>
                  <a:t>Основная формула:</a:t>
                </a:r>
                <a:endParaRPr lang="ru-RU" dirty="0"/>
              </a:p>
              <a:p>
                <a14:m>
                  <m:oMathPara xmlns:m="http://schemas.openxmlformats.org/officeDocument/2006/math">
                    <m:oMathParaPr>
                      <m:jc m:val="centerGroup"/>
                    </m:oMathParaPr>
                    <m:oMath xmlns:m="http://schemas.openxmlformats.org/officeDocument/2006/math">
                      <m:r>
                        <a:rPr lang="ru-RU" i="1"/>
                        <m:t>𝜃</m:t>
                      </m:r>
                      <m:r>
                        <a:rPr lang="ru-RU"/>
                        <m:t>←</m:t>
                      </m:r>
                      <m:r>
                        <a:rPr lang="ru-RU" i="1"/>
                        <m:t>𝜃</m:t>
                      </m:r>
                      <m:r>
                        <a:rPr lang="ru-RU" i="1"/>
                        <m:t>−</m:t>
                      </m:r>
                      <m:r>
                        <a:rPr lang="ru-RU" i="1"/>
                        <m:t>𝜂</m:t>
                      </m:r>
                      <m:r>
                        <a:rPr lang="ru-RU"/>
                        <m:t>∇</m:t>
                      </m:r>
                      <m:r>
                        <a:rPr lang="ru-RU" i="1"/>
                        <m:t>𝐸</m:t>
                      </m:r>
                      <m:r>
                        <a:rPr lang="ru-RU"/>
                        <m:t>(</m:t>
                      </m:r>
                      <m:r>
                        <a:rPr lang="ru-RU" i="1"/>
                        <m:t>𝜃</m:t>
                      </m:r>
                      <m:r>
                        <a:rPr lang="ru-RU"/>
                        <m:t>)</m:t>
                      </m:r>
                    </m:oMath>
                  </m:oMathPara>
                </a14:m>
                <a:endParaRPr lang="ru-RU" dirty="0"/>
              </a:p>
              <a:p>
                <a:r>
                  <a:rPr lang="ru-RU" dirty="0"/>
                  <a:t>где </a:t>
                </a:r>
                <a14:m>
                  <m:oMath xmlns:m="http://schemas.openxmlformats.org/officeDocument/2006/math">
                    <m:r>
                      <a:rPr lang="ru-RU" i="1"/>
                      <m:t>𝜃</m:t>
                    </m:r>
                  </m:oMath>
                </a14:m>
                <a:r>
                  <a:rPr lang="ru-RU" dirty="0"/>
                  <a:t> — все параметры сети.</a:t>
                </a:r>
              </a:p>
              <a:p>
                <a:r>
                  <a:rPr lang="ru-RU" dirty="0" smtClean="0"/>
                  <a:t>Более простая форма:</a:t>
                </a:r>
                <a:endParaRPr lang="ru-RU" dirty="0"/>
              </a:p>
              <a:p>
                <a14:m>
                  <m:oMathPara xmlns:m="http://schemas.openxmlformats.org/officeDocument/2006/math">
                    <m:oMathParaPr>
                      <m:jc m:val="centerGroup"/>
                    </m:oMathParaPr>
                    <m:oMath xmlns:m="http://schemas.openxmlformats.org/officeDocument/2006/math">
                      <m:r>
                        <a:rPr lang="ru-RU" i="1"/>
                        <m:t>𝑤</m:t>
                      </m:r>
                      <m:r>
                        <a:rPr lang="ru-RU"/>
                        <m:t>←</m:t>
                      </m:r>
                      <m:r>
                        <a:rPr lang="ru-RU" i="1"/>
                        <m:t>𝑤</m:t>
                      </m:r>
                      <m:r>
                        <a:rPr lang="ru-RU" i="1"/>
                        <m:t>−</m:t>
                      </m:r>
                      <m:r>
                        <a:rPr lang="ru-RU" i="1"/>
                        <m:t>𝜂</m:t>
                      </m:r>
                      <m:f>
                        <m:fPr>
                          <m:ctrlPr>
                            <a:rPr lang="ru-RU" i="1"/>
                          </m:ctrlPr>
                        </m:fPr>
                        <m:num>
                          <m:r>
                            <a:rPr lang="ru-RU" i="1"/>
                            <m:t>𝜕</m:t>
                          </m:r>
                          <m:r>
                            <a:rPr lang="ru-RU" i="1"/>
                            <m:t>𝐸</m:t>
                          </m:r>
                        </m:num>
                        <m:den>
                          <m:r>
                            <a:rPr lang="ru-RU" i="1"/>
                            <m:t>𝜕</m:t>
                          </m:r>
                          <m:r>
                            <a:rPr lang="ru-RU" i="1"/>
                            <m:t>𝑤</m:t>
                          </m:r>
                        </m:den>
                      </m:f>
                      <m:r>
                        <a:rPr lang="ru-RU"/>
                        <m:t>, </m:t>
                      </m:r>
                      <m:r>
                        <a:rPr lang="ru-RU" i="1"/>
                        <m:t>𝑏</m:t>
                      </m:r>
                      <m:r>
                        <a:rPr lang="ru-RU"/>
                        <m:t>←</m:t>
                      </m:r>
                      <m:r>
                        <a:rPr lang="ru-RU" i="1"/>
                        <m:t>𝑏</m:t>
                      </m:r>
                      <m:r>
                        <a:rPr lang="ru-RU" i="1"/>
                        <m:t>−</m:t>
                      </m:r>
                      <m:r>
                        <a:rPr lang="ru-RU" i="1"/>
                        <m:t>𝜂</m:t>
                      </m:r>
                      <m:f>
                        <m:fPr>
                          <m:ctrlPr>
                            <a:rPr lang="ru-RU" i="1"/>
                          </m:ctrlPr>
                        </m:fPr>
                        <m:num>
                          <m:r>
                            <a:rPr lang="ru-RU" i="1"/>
                            <m:t>𝜕</m:t>
                          </m:r>
                          <m:r>
                            <a:rPr lang="ru-RU" i="1"/>
                            <m:t>𝐸</m:t>
                          </m:r>
                        </m:num>
                        <m:den>
                          <m:r>
                            <a:rPr lang="ru-RU" i="1"/>
                            <m:t>𝜕</m:t>
                          </m:r>
                          <m:r>
                            <a:rPr lang="ru-RU" i="1"/>
                            <m:t>𝑏</m:t>
                          </m:r>
                        </m:den>
                      </m:f>
                    </m:oMath>
                  </m:oMathPara>
                </a14:m>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32</a:t>
            </a:fld>
            <a:endParaRPr lang="ru-RU" noProof="0" dirty="0"/>
          </a:p>
        </p:txBody>
      </p:sp>
    </p:spTree>
    <p:extLst>
      <p:ext uri="{BB962C8B-B14F-4D97-AF65-F5344CB8AC3E}">
        <p14:creationId xmlns:p14="http://schemas.microsoft.com/office/powerpoint/2010/main" val="1025778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Идея градиентного обучения</a:t>
            </a:r>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lstStyle/>
              <a:p>
                <a:r>
                  <a:rPr lang="ru-RU" dirty="0"/>
                  <a:t>Если ошибка зависит от параметров сети, то можно посмотреть, как она изменяется при малом изменении каждого веса и каждого смещения. Именно это и измеряют частные производные</a:t>
                </a:r>
                <a:r>
                  <a:rPr lang="ru-RU" dirty="0" smtClean="0"/>
                  <a:t>».</a:t>
                </a:r>
                <a:endParaRPr lang="ru-RU" dirty="0"/>
              </a:p>
              <a:p>
                <a:r>
                  <a:rPr lang="ru-RU" dirty="0" smtClean="0"/>
                  <a:t>Если </a:t>
                </a:r>
                <a:r>
                  <a:rPr lang="ru-RU" dirty="0"/>
                  <a:t>производная по параметру положительна, то увеличение этого параметра увеличивает ошибку, значит параметр надо уменьшить. Если производная отрицательна, то параметр, наоборот, стоит увеличить. Так возникает правило градиентного </a:t>
                </a:r>
                <a:r>
                  <a:rPr lang="ru-RU" dirty="0" smtClean="0"/>
                  <a:t>спуска.</a:t>
                </a:r>
                <a:endParaRPr lang="ru-RU" dirty="0"/>
              </a:p>
              <a:p>
                <a:r>
                  <a:rPr lang="ru-RU" dirty="0" smtClean="0"/>
                  <a:t>Коэффициент </a:t>
                </a:r>
                <a14:m>
                  <m:oMath xmlns:m="http://schemas.openxmlformats.org/officeDocument/2006/math">
                    <m:r>
                      <a:rPr lang="ru-RU" i="1"/>
                      <m:t>𝜂</m:t>
                    </m:r>
                  </m:oMath>
                </a14:m>
                <a:r>
                  <a:rPr lang="ru-RU" dirty="0"/>
                  <a:t> называют скоростью обучения: он определяет, насколько большой шаг мы делаем при корректировке параметров</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r="-126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33</a:t>
            </a:fld>
            <a:endParaRPr lang="ru-RU" noProof="0" dirty="0"/>
          </a:p>
        </p:txBody>
      </p:sp>
    </p:spTree>
    <p:extLst>
      <p:ext uri="{BB962C8B-B14F-4D97-AF65-F5344CB8AC3E}">
        <p14:creationId xmlns:p14="http://schemas.microsoft.com/office/powerpoint/2010/main" val="2470278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Идея градиентного обучения</a:t>
            </a:r>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lstStyle/>
              <a:p>
                <a:pPr lvl="0"/>
                <a:r>
                  <a:rPr lang="ru-RU" dirty="0"/>
                  <a:t>Ошибка зависит от параметров сети: </a:t>
                </a:r>
                <a14:m>
                  <m:oMath xmlns:m="http://schemas.openxmlformats.org/officeDocument/2006/math">
                    <m:r>
                      <a:rPr lang="ru-RU" i="1"/>
                      <m:t>𝐸</m:t>
                    </m:r>
                    <m:r>
                      <a:rPr lang="ru-RU"/>
                      <m:t>=</m:t>
                    </m:r>
                    <m:r>
                      <a:rPr lang="ru-RU" i="1"/>
                      <m:t>𝐸</m:t>
                    </m:r>
                    <m:r>
                      <a:rPr lang="ru-RU"/>
                      <m:t>(</m:t>
                    </m:r>
                    <m:r>
                      <a:rPr lang="ru-RU" i="1"/>
                      <m:t>𝑊</m:t>
                    </m:r>
                    <m:r>
                      <a:rPr lang="ru-RU"/>
                      <m:t>,</m:t>
                    </m:r>
                    <m:r>
                      <a:rPr lang="ru-RU" i="1"/>
                      <m:t>𝑏</m:t>
                    </m:r>
                    <m:r>
                      <a:rPr lang="ru-RU"/>
                      <m:t>)</m:t>
                    </m:r>
                  </m:oMath>
                </a14:m>
                <a:r>
                  <a:rPr lang="ru-RU" dirty="0"/>
                  <a:t>.</a:t>
                </a:r>
              </a:p>
              <a:p>
                <a:pPr lvl="0"/>
                <a:r>
                  <a:rPr lang="ru-RU" dirty="0"/>
                  <a:t>Градиент указывает направление наискорейшего роста ошибки.</a:t>
                </a:r>
              </a:p>
              <a:p>
                <a:pPr lvl="0"/>
                <a:r>
                  <a:rPr lang="ru-RU" dirty="0"/>
                  <a:t>Поэтому параметры изменяют в противоположном направлении.</a:t>
                </a:r>
              </a:p>
              <a:p>
                <a:r>
                  <a:rPr lang="ru-RU" dirty="0"/>
                  <a:t>Для обучения нужно вычислить производные ошибки по всем </a:t>
                </a:r>
                <a:r>
                  <a:rPr lang="ru-RU" dirty="0" smtClean="0"/>
                  <a:t>параметрам.</a:t>
                </a:r>
              </a:p>
              <a:p>
                <a:endParaRPr lang="ru-RU" dirty="0"/>
              </a:p>
              <a:p>
                <a:r>
                  <a:rPr lang="ru-RU" dirty="0"/>
                  <a:t>Итак, идея градиентного обучения понятна: если известны производные ошибки по параметрам, можно пошагово уменьшать ошибку. Но в многослойной сети параметров много, а влияние каждого параметра на итоговую ошибку проходит через скрытые слои. Поэтому нужна эффективная процедура вычисления всех этих производных — метод обратного распространения </a:t>
                </a:r>
                <a:r>
                  <a:rPr lang="ru-RU" dirty="0" smtClean="0"/>
                  <a:t>ошибки.</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r="-1433"/>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34</a:t>
            </a:fld>
            <a:endParaRPr lang="ru-RU" noProof="0" dirty="0"/>
          </a:p>
        </p:txBody>
      </p:sp>
    </p:spTree>
    <p:extLst>
      <p:ext uri="{BB962C8B-B14F-4D97-AF65-F5344CB8AC3E}">
        <p14:creationId xmlns:p14="http://schemas.microsoft.com/office/powerpoint/2010/main" val="919603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Обратное распространение ошибки</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lstStyle/>
              <a:p>
                <a:pPr lvl="0"/>
                <a:r>
                  <a:rPr lang="ru-RU" dirty="0"/>
                  <a:t>В многослойной сети ошибка зависит от параметров всех слоёв.</a:t>
                </a:r>
              </a:p>
              <a:p>
                <a:pPr lvl="0"/>
                <a:r>
                  <a:rPr lang="ru-RU" dirty="0"/>
                  <a:t>Для обучения необходимо вычислить</a:t>
                </a:r>
                <a14:m>
                  <m:oMath xmlns:m="http://schemas.openxmlformats.org/officeDocument/2006/math">
                    <m:f>
                      <m:fPr>
                        <m:ctrlPr>
                          <a:rPr lang="ru-RU" i="1"/>
                        </m:ctrlPr>
                      </m:fPr>
                      <m:num>
                        <m:r>
                          <a:rPr lang="ru-RU" i="1"/>
                          <m:t>𝜕</m:t>
                        </m:r>
                        <m:r>
                          <a:rPr lang="ru-RU" i="1"/>
                          <m:t>𝐸</m:t>
                        </m:r>
                      </m:num>
                      <m:den>
                        <m:r>
                          <a:rPr lang="ru-RU" i="1"/>
                          <m:t>𝜕</m:t>
                        </m:r>
                        <m:sSubSup>
                          <m:sSubSupPr>
                            <m:ctrlPr>
                              <a:rPr lang="ru-RU" i="1"/>
                            </m:ctrlPr>
                          </m:sSubSupPr>
                          <m:e>
                            <m:r>
                              <a:rPr lang="ru-RU" i="1"/>
                              <m:t>𝑤</m:t>
                            </m:r>
                          </m:e>
                          <m:sub>
                            <m:r>
                              <a:rPr lang="ru-RU" i="1"/>
                              <m:t>𝑖𝑗</m:t>
                            </m:r>
                          </m:sub>
                          <m:sup>
                            <m:r>
                              <a:rPr lang="ru-RU"/>
                              <m:t>(</m:t>
                            </m:r>
                            <m:r>
                              <a:rPr lang="ru-RU" i="1"/>
                              <m:t>𝑙</m:t>
                            </m:r>
                            <m:r>
                              <a:rPr lang="ru-RU"/>
                              <m:t>)</m:t>
                            </m:r>
                          </m:sup>
                        </m:sSubSup>
                      </m:den>
                    </m:f>
                    <m:r>
                      <a:rPr lang="ru-RU"/>
                      <m:t>, </m:t>
                    </m:r>
                    <m:f>
                      <m:fPr>
                        <m:ctrlPr>
                          <a:rPr lang="ru-RU" i="1"/>
                        </m:ctrlPr>
                      </m:fPr>
                      <m:num>
                        <m:r>
                          <a:rPr lang="ru-RU" i="1"/>
                          <m:t>𝜕</m:t>
                        </m:r>
                        <m:r>
                          <a:rPr lang="ru-RU" i="1"/>
                          <m:t>𝐸</m:t>
                        </m:r>
                      </m:num>
                      <m:den>
                        <m:r>
                          <a:rPr lang="ru-RU" i="1"/>
                          <m:t>𝜕</m:t>
                        </m:r>
                        <m:sSubSup>
                          <m:sSubSupPr>
                            <m:ctrlPr>
                              <a:rPr lang="ru-RU" i="1"/>
                            </m:ctrlPr>
                          </m:sSubSupPr>
                          <m:e>
                            <m:r>
                              <a:rPr lang="ru-RU" i="1"/>
                              <m:t>𝑏</m:t>
                            </m:r>
                          </m:e>
                          <m:sub>
                            <m:r>
                              <a:rPr lang="ru-RU" i="1"/>
                              <m:t>𝑖</m:t>
                            </m:r>
                          </m:sub>
                          <m:sup>
                            <m:r>
                              <a:rPr lang="ru-RU"/>
                              <m:t>(</m:t>
                            </m:r>
                            <m:r>
                              <a:rPr lang="ru-RU" i="1"/>
                              <m:t>𝑙</m:t>
                            </m:r>
                            <m:r>
                              <a:rPr lang="ru-RU"/>
                              <m:t>)</m:t>
                            </m:r>
                          </m:sup>
                        </m:sSubSup>
                      </m:den>
                    </m:f>
                  </m:oMath>
                </a14:m>
                <a:r>
                  <a:rPr lang="ru-RU" dirty="0"/>
                  <a:t>для каждого слоя </a:t>
                </a:r>
                <a14:m>
                  <m:oMath xmlns:m="http://schemas.openxmlformats.org/officeDocument/2006/math">
                    <m:r>
                      <a:rPr lang="ru-RU" i="1"/>
                      <m:t>𝑙</m:t>
                    </m:r>
                  </m:oMath>
                </a14:m>
                <a:r>
                  <a:rPr lang="ru-RU" dirty="0"/>
                  <a:t>.</a:t>
                </a:r>
              </a:p>
              <a:p>
                <a:pPr lvl="0"/>
                <a:r>
                  <a:rPr lang="ru-RU" dirty="0"/>
                  <a:t>Прямая дифференциация по всем параметрам неэффективна.</a:t>
                </a:r>
              </a:p>
              <a:p>
                <a:pPr lvl="0"/>
                <a:r>
                  <a:rPr lang="ru-RU" dirty="0"/>
                  <a:t>Метод </a:t>
                </a:r>
                <a:r>
                  <a:rPr lang="ru-RU" dirty="0" err="1"/>
                  <a:t>backprop</a:t>
                </a:r>
                <a:r>
                  <a:rPr lang="ru-RU" dirty="0"/>
                  <a:t> вычисляет эти производные рекурсивно: от выходного слоя к входному</a:t>
                </a:r>
                <a:r>
                  <a:rPr lang="ru-RU" dirty="0" smtClean="0"/>
                  <a:t>.</a:t>
                </a:r>
                <a:endParaRPr lang="ru-RU" dirty="0"/>
              </a:p>
              <a:p>
                <a:r>
                  <a:rPr lang="ru-RU" dirty="0" smtClean="0"/>
                  <a:t>Опорная формула:</a:t>
                </a:r>
                <a:endParaRPr lang="ru-RU" dirty="0"/>
              </a:p>
              <a:p>
                <a14:m>
                  <m:oMathPara xmlns:m="http://schemas.openxmlformats.org/officeDocument/2006/math">
                    <m:oMathParaPr>
                      <m:jc m:val="centerGroup"/>
                    </m:oMathParaPr>
                    <m:oMath xmlns:m="http://schemas.openxmlformats.org/officeDocument/2006/math">
                      <m:r>
                        <m:rPr>
                          <m:nor/>
                        </m:rPr>
                        <a:rPr lang="ru-RU"/>
                        <m:t>ошибка на выходе</m:t>
                      </m:r>
                      <m:r>
                        <a:rPr lang="ru-RU"/>
                        <m:t> ⇒ </m:t>
                      </m:r>
                      <m:r>
                        <m:rPr>
                          <m:nor/>
                        </m:rPr>
                        <a:rPr lang="ru-RU"/>
                        <m:t>ошибки скрытых слоёв</m:t>
                      </m:r>
                      <m:r>
                        <a:rPr lang="ru-RU"/>
                        <m:t> ⇒ </m:t>
                      </m:r>
                      <m:r>
                        <m:rPr>
                          <m:nor/>
                        </m:rPr>
                        <a:rPr lang="ru-RU"/>
                        <m:t>градиенты по весам</m:t>
                      </m:r>
                    </m:oMath>
                  </m:oMathPara>
                </a14:m>
                <a:endParaRPr lang="ru-RU" dirty="0"/>
              </a:p>
              <a:p>
                <a:r>
                  <a:rPr lang="ru-RU" dirty="0"/>
                  <a:t>Обратное распространение ошибки — это не новый принцип обучения, а эффективный способ вычисления градиентов, необходимых для градиентного </a:t>
                </a:r>
                <a:r>
                  <a:rPr lang="ru-RU" dirty="0" smtClean="0"/>
                  <a:t>спуска.</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35</a:t>
            </a:fld>
            <a:endParaRPr lang="ru-RU" noProof="0" dirty="0"/>
          </a:p>
        </p:txBody>
      </p:sp>
    </p:spTree>
    <p:extLst>
      <p:ext uri="{BB962C8B-B14F-4D97-AF65-F5344CB8AC3E}">
        <p14:creationId xmlns:p14="http://schemas.microsoft.com/office/powerpoint/2010/main" val="585498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Обратное распространение ошибки</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lstStyle/>
              <a:p>
                <a:r>
                  <a:rPr lang="ru-RU" dirty="0"/>
                  <a:t>Ключевой ход </a:t>
                </a:r>
                <a:r>
                  <a:rPr lang="ru-RU" dirty="0" err="1"/>
                  <a:t>backprop</a:t>
                </a:r>
                <a:r>
                  <a:rPr lang="ru-RU" dirty="0"/>
                  <a:t> — ввести «локальные ошибки» (</a:t>
                </a:r>
                <a:r>
                  <a:rPr lang="ru-RU" dirty="0" smtClean="0"/>
                  <a:t>дельты</a:t>
                </a:r>
                <a:r>
                  <a:rPr lang="ru-RU" dirty="0"/>
                  <a:t>):</a:t>
                </a:r>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𝛿</m:t>
                          </m:r>
                        </m:e>
                        <m:sub>
                          <m:r>
                            <a:rPr lang="ru-RU" i="1"/>
                            <m:t>𝑖</m:t>
                          </m:r>
                        </m:sub>
                        <m:sup>
                          <m:r>
                            <a:rPr lang="ru-RU"/>
                            <m:t>(</m:t>
                          </m:r>
                          <m:r>
                            <a:rPr lang="ru-RU" i="1"/>
                            <m:t>𝑙</m:t>
                          </m:r>
                          <m:r>
                            <a:rPr lang="ru-RU"/>
                            <m:t>)</m:t>
                          </m:r>
                        </m:sup>
                      </m:sSubSup>
                      <m:r>
                        <a:rPr lang="ru-RU"/>
                        <m:t>=</m:t>
                      </m:r>
                      <m:f>
                        <m:fPr>
                          <m:ctrlPr>
                            <a:rPr lang="ru-RU" i="1"/>
                          </m:ctrlPr>
                        </m:fPr>
                        <m:num>
                          <m:r>
                            <a:rPr lang="ru-RU" i="1"/>
                            <m:t>𝜕</m:t>
                          </m:r>
                          <m:r>
                            <a:rPr lang="ru-RU" i="1"/>
                            <m:t>𝐸</m:t>
                          </m:r>
                        </m:num>
                        <m:den>
                          <m:r>
                            <a:rPr lang="ru-RU" i="1"/>
                            <m:t>𝜕</m:t>
                          </m:r>
                          <m:sSubSup>
                            <m:sSubSupPr>
                              <m:ctrlPr>
                                <a:rPr lang="ru-RU" i="1"/>
                              </m:ctrlPr>
                            </m:sSubSupPr>
                            <m:e>
                              <m:r>
                                <a:rPr lang="ru-RU" i="1"/>
                                <m:t>𝑧</m:t>
                              </m:r>
                            </m:e>
                            <m:sub>
                              <m:r>
                                <a:rPr lang="ru-RU" i="1"/>
                                <m:t>𝑖</m:t>
                              </m:r>
                            </m:sub>
                            <m:sup>
                              <m:r>
                                <a:rPr lang="ru-RU"/>
                                <m:t>(</m:t>
                              </m:r>
                              <m:r>
                                <a:rPr lang="ru-RU" i="1"/>
                                <m:t>𝑙</m:t>
                              </m:r>
                              <m:r>
                                <a:rPr lang="ru-RU"/>
                                <m:t>)</m:t>
                              </m:r>
                            </m:sup>
                          </m:sSubSup>
                        </m:den>
                      </m:f>
                      <m:r>
                        <a:rPr lang="ru-RU"/>
                        <m:t>.</m:t>
                      </m:r>
                    </m:oMath>
                  </m:oMathPara>
                </a14:m>
                <a:endParaRPr lang="ru-RU" dirty="0"/>
              </a:p>
              <a:p>
                <a:r>
                  <a:rPr lang="ru-RU" dirty="0"/>
                  <a:t>В векторной форме </a:t>
                </a:r>
                <a14:m>
                  <m:oMath xmlns:m="http://schemas.openxmlformats.org/officeDocument/2006/math">
                    <m:sSup>
                      <m:sSupPr>
                        <m:ctrlPr>
                          <a:rPr lang="ru-RU" i="1"/>
                        </m:ctrlPr>
                      </m:sSupPr>
                      <m:e>
                        <m:r>
                          <a:rPr lang="ru-RU" i="1"/>
                          <m:t>𝛿</m:t>
                        </m:r>
                      </m:e>
                      <m:sup>
                        <m:r>
                          <a:rPr lang="ru-RU"/>
                          <m:t>(</m:t>
                        </m:r>
                        <m:r>
                          <a:rPr lang="ru-RU" i="1"/>
                          <m:t>𝑙</m:t>
                        </m:r>
                        <m:r>
                          <a:rPr lang="ru-RU"/>
                          <m:t>)</m:t>
                        </m:r>
                      </m:sup>
                    </m:sSup>
                    <m:r>
                      <a:rPr lang="ru-RU"/>
                      <m:t>∈</m:t>
                    </m:r>
                    <m:sSup>
                      <m:sSupPr>
                        <m:ctrlPr>
                          <a:rPr lang="ru-RU" i="1"/>
                        </m:ctrlPr>
                      </m:sSupPr>
                      <m:e>
                        <m:r>
                          <a:rPr lang="ru-RU" i="1"/>
                          <m:t>ℝ</m:t>
                        </m:r>
                      </m:e>
                      <m:sup>
                        <m:sSub>
                          <m:sSubPr>
                            <m:ctrlPr>
                              <a:rPr lang="ru-RU" i="1"/>
                            </m:ctrlPr>
                          </m:sSubPr>
                          <m:e>
                            <m:r>
                              <a:rPr lang="ru-RU" i="1"/>
                              <m:t>𝑛</m:t>
                            </m:r>
                          </m:e>
                          <m:sub>
                            <m:r>
                              <a:rPr lang="ru-RU" i="1"/>
                              <m:t>𝑙</m:t>
                            </m:r>
                          </m:sub>
                        </m:sSub>
                      </m:sup>
                    </m:sSup>
                  </m:oMath>
                </a14:m>
                <a:r>
                  <a:rPr lang="ru-RU" dirty="0"/>
                  <a:t> — градиент ошибки по линейным комбинациям </a:t>
                </a:r>
                <a14:m>
                  <m:oMath xmlns:m="http://schemas.openxmlformats.org/officeDocument/2006/math">
                    <m:sSup>
                      <m:sSupPr>
                        <m:ctrlPr>
                          <a:rPr lang="ru-RU" i="1"/>
                        </m:ctrlPr>
                      </m:sSupPr>
                      <m:e>
                        <m:r>
                          <a:rPr lang="ru-RU" i="1"/>
                          <m:t>𝑧</m:t>
                        </m:r>
                      </m:e>
                      <m:sup>
                        <m:r>
                          <a:rPr lang="ru-RU"/>
                          <m:t>(</m:t>
                        </m:r>
                        <m:r>
                          <a:rPr lang="ru-RU" i="1"/>
                          <m:t>𝑙</m:t>
                        </m:r>
                        <m:r>
                          <a:rPr lang="ru-RU"/>
                          <m:t>)</m:t>
                        </m:r>
                      </m:sup>
                    </m:sSup>
                  </m:oMath>
                </a14:m>
                <a:r>
                  <a:rPr lang="ru-RU" dirty="0"/>
                  <a:t>.</a:t>
                </a:r>
              </a:p>
              <a:p>
                <a:r>
                  <a:rPr lang="ru-RU" dirty="0"/>
                  <a:t>Почему это удобно:</a:t>
                </a:r>
              </a:p>
              <a:p>
                <a:pPr lvl="0"/>
                <a:r>
                  <a:rPr lang="ru-RU" dirty="0"/>
                  <a:t>Сначала вычисляем </a:t>
                </a:r>
                <a14:m>
                  <m:oMath xmlns:m="http://schemas.openxmlformats.org/officeDocument/2006/math">
                    <m:sSup>
                      <m:sSupPr>
                        <m:ctrlPr>
                          <a:rPr lang="ru-RU" i="1"/>
                        </m:ctrlPr>
                      </m:sSupPr>
                      <m:e>
                        <m:r>
                          <a:rPr lang="ru-RU" i="1"/>
                          <m:t>𝛿</m:t>
                        </m:r>
                      </m:e>
                      <m:sup>
                        <m:r>
                          <a:rPr lang="ru-RU"/>
                          <m:t>(</m:t>
                        </m:r>
                        <m:r>
                          <a:rPr lang="ru-RU" i="1"/>
                          <m:t>𝐿</m:t>
                        </m:r>
                        <m:r>
                          <a:rPr lang="ru-RU"/>
                          <m:t>)</m:t>
                        </m:r>
                      </m:sup>
                    </m:sSup>
                  </m:oMath>
                </a14:m>
                <a:r>
                  <a:rPr lang="ru-RU" dirty="0"/>
                  <a:t> для выходного слоя.</a:t>
                </a:r>
              </a:p>
              <a:p>
                <a:pPr lvl="0"/>
                <a:r>
                  <a:rPr lang="ru-RU" dirty="0"/>
                  <a:t>Затем по рекурсивной формуле вычисляем </a:t>
                </a:r>
                <a14:m>
                  <m:oMath xmlns:m="http://schemas.openxmlformats.org/officeDocument/2006/math">
                    <m:sSup>
                      <m:sSupPr>
                        <m:ctrlPr>
                          <a:rPr lang="ru-RU" i="1"/>
                        </m:ctrlPr>
                      </m:sSupPr>
                      <m:e>
                        <m:r>
                          <a:rPr lang="ru-RU" i="1"/>
                          <m:t>𝛿</m:t>
                        </m:r>
                      </m:e>
                      <m:sup>
                        <m:r>
                          <a:rPr lang="ru-RU"/>
                          <m:t>(</m:t>
                        </m:r>
                        <m:r>
                          <a:rPr lang="ru-RU" i="1"/>
                          <m:t>𝑙</m:t>
                        </m:r>
                        <m:r>
                          <a:rPr lang="ru-RU"/>
                          <m:t>)</m:t>
                        </m:r>
                      </m:sup>
                    </m:sSup>
                  </m:oMath>
                </a14:m>
                <a:r>
                  <a:rPr lang="ru-RU" dirty="0"/>
                  <a:t> для всех скрытых слоёв.</a:t>
                </a:r>
              </a:p>
              <a:p>
                <a:pPr lvl="0"/>
                <a:r>
                  <a:rPr lang="ru-RU" dirty="0"/>
                  <a:t>Градиенты по весам и смещениям выражаются через </a:t>
                </a:r>
                <a14:m>
                  <m:oMath xmlns:m="http://schemas.openxmlformats.org/officeDocument/2006/math">
                    <m:sSup>
                      <m:sSupPr>
                        <m:ctrlPr>
                          <a:rPr lang="ru-RU" i="1"/>
                        </m:ctrlPr>
                      </m:sSupPr>
                      <m:e>
                        <m:r>
                          <a:rPr lang="ru-RU" i="1"/>
                          <m:t>𝛿</m:t>
                        </m:r>
                      </m:e>
                      <m:sup>
                        <m:r>
                          <a:rPr lang="ru-RU"/>
                          <m:t>(</m:t>
                        </m:r>
                        <m:r>
                          <a:rPr lang="ru-RU" i="1"/>
                          <m:t>𝑙</m:t>
                        </m:r>
                        <m:r>
                          <a:rPr lang="ru-RU"/>
                          <m:t>)</m:t>
                        </m:r>
                      </m:sup>
                    </m:sSup>
                  </m:oMath>
                </a14:m>
                <a:r>
                  <a:rPr lang="ru-RU" dirty="0"/>
                  <a:t> и </a:t>
                </a:r>
                <a14:m>
                  <m:oMath xmlns:m="http://schemas.openxmlformats.org/officeDocument/2006/math">
                    <m:sSup>
                      <m:sSupPr>
                        <m:ctrlPr>
                          <a:rPr lang="ru-RU" i="1"/>
                        </m:ctrlPr>
                      </m:sSupPr>
                      <m:e>
                        <m:r>
                          <a:rPr lang="ru-RU" i="1"/>
                          <m:t>h</m:t>
                        </m:r>
                      </m:e>
                      <m:sup>
                        <m:r>
                          <a:rPr lang="ru-RU"/>
                          <m:t>(</m:t>
                        </m:r>
                        <m:r>
                          <a:rPr lang="ru-RU" i="1"/>
                          <m:t>𝑙</m:t>
                        </m:r>
                        <m:r>
                          <a:rPr lang="ru-RU" i="1"/>
                          <m:t>−</m:t>
                        </m:r>
                        <m:r>
                          <a:rPr lang="ru-RU"/>
                          <m:t>1)</m:t>
                        </m:r>
                      </m:sup>
                    </m:sSup>
                  </m:oMath>
                </a14:m>
                <a:r>
                  <a:rPr lang="ru-RU" dirty="0"/>
                  <a:t>.</a:t>
                </a:r>
              </a:p>
              <a:p>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36</a:t>
            </a:fld>
            <a:endParaRPr lang="ru-RU" noProof="0" dirty="0"/>
          </a:p>
        </p:txBody>
      </p:sp>
    </p:spTree>
    <p:extLst>
      <p:ext uri="{BB962C8B-B14F-4D97-AF65-F5344CB8AC3E}">
        <p14:creationId xmlns:p14="http://schemas.microsoft.com/office/powerpoint/2010/main" val="1160597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Обратное распространение ошибки</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fontScale="92500"/>
              </a:bodyPr>
              <a:lstStyle/>
              <a:p>
                <a:r>
                  <a:rPr lang="ru-RU" b="1" dirty="0"/>
                  <a:t>Шаг 1. Градиент по весам через правило цепочки</a:t>
                </a:r>
                <a:endParaRPr lang="ru-RU" dirty="0"/>
              </a:p>
              <a:p>
                <a:r>
                  <a:rPr lang="ru-RU" dirty="0"/>
                  <a:t>Рассмотрим один пример </a:t>
                </a:r>
                <a14:m>
                  <m:oMath xmlns:m="http://schemas.openxmlformats.org/officeDocument/2006/math">
                    <m:r>
                      <a:rPr lang="ru-RU"/>
                      <m:t>(</m:t>
                    </m:r>
                    <m:r>
                      <a:rPr lang="ru-RU" i="1"/>
                      <m:t>𝑥</m:t>
                    </m:r>
                    <m:r>
                      <a:rPr lang="ru-RU"/>
                      <m:t>,</m:t>
                    </m:r>
                    <m:r>
                      <a:rPr lang="ru-RU" i="1"/>
                      <m:t>𝑡</m:t>
                    </m:r>
                    <m:r>
                      <a:rPr lang="ru-RU"/>
                      <m:t>)</m:t>
                    </m:r>
                  </m:oMath>
                </a14:m>
                <a:r>
                  <a:rPr lang="ru-RU" dirty="0"/>
                  <a:t>, уберём индекс </a:t>
                </a:r>
                <a14:m>
                  <m:oMath xmlns:m="http://schemas.openxmlformats.org/officeDocument/2006/math">
                    <m:r>
                      <a:rPr lang="ru-RU" i="1"/>
                      <m:t>𝑝</m:t>
                    </m:r>
                  </m:oMath>
                </a14:m>
                <a:r>
                  <a:rPr lang="ru-RU" dirty="0"/>
                  <a:t> для краткости.</a:t>
                </a:r>
              </a:p>
              <a:p>
                <a:r>
                  <a:rPr lang="ru-RU" dirty="0"/>
                  <a:t>Для весов </a:t>
                </a:r>
                <a14:m>
                  <m:oMath xmlns:m="http://schemas.openxmlformats.org/officeDocument/2006/math">
                    <m:sSubSup>
                      <m:sSubSupPr>
                        <m:ctrlPr>
                          <a:rPr lang="ru-RU" i="1"/>
                        </m:ctrlPr>
                      </m:sSubSupPr>
                      <m:e>
                        <m:r>
                          <a:rPr lang="ru-RU" i="1"/>
                          <m:t>𝑊</m:t>
                        </m:r>
                      </m:e>
                      <m:sub>
                        <m:r>
                          <a:rPr lang="ru-RU" i="1"/>
                          <m:t>𝑖𝑗</m:t>
                        </m:r>
                      </m:sub>
                      <m:sup>
                        <m:r>
                          <a:rPr lang="ru-RU"/>
                          <m:t>(</m:t>
                        </m:r>
                        <m:r>
                          <a:rPr lang="ru-RU" i="1"/>
                          <m:t>𝑙</m:t>
                        </m:r>
                        <m:r>
                          <a:rPr lang="ru-RU"/>
                          <m:t>)</m:t>
                        </m:r>
                      </m:sup>
                    </m:sSubSup>
                  </m:oMath>
                </a14:m>
                <a:r>
                  <a:rPr lang="ru-RU" dirty="0"/>
                  <a:t>:</a:t>
                </a:r>
              </a:p>
              <a:p>
                <a14:m>
                  <m:oMathPara xmlns:m="http://schemas.openxmlformats.org/officeDocument/2006/math">
                    <m:oMathParaPr>
                      <m:jc m:val="centerGroup"/>
                    </m:oMathParaPr>
                    <m:oMath xmlns:m="http://schemas.openxmlformats.org/officeDocument/2006/math">
                      <m:f>
                        <m:fPr>
                          <m:ctrlPr>
                            <a:rPr lang="ru-RU" i="1"/>
                          </m:ctrlPr>
                        </m:fPr>
                        <m:num>
                          <m:r>
                            <a:rPr lang="ru-RU" i="1"/>
                            <m:t>𝜕</m:t>
                          </m:r>
                          <m:r>
                            <a:rPr lang="ru-RU" i="1"/>
                            <m:t>𝐸</m:t>
                          </m:r>
                        </m:num>
                        <m:den>
                          <m:r>
                            <a:rPr lang="ru-RU" i="1"/>
                            <m:t>𝜕</m:t>
                          </m:r>
                          <m:sSubSup>
                            <m:sSubSupPr>
                              <m:ctrlPr>
                                <a:rPr lang="ru-RU" i="1"/>
                              </m:ctrlPr>
                            </m:sSubSupPr>
                            <m:e>
                              <m:r>
                                <a:rPr lang="ru-RU" i="1"/>
                                <m:t>𝑊</m:t>
                              </m:r>
                            </m:e>
                            <m:sub>
                              <m:r>
                                <a:rPr lang="ru-RU" i="1"/>
                                <m:t>𝑖𝑗</m:t>
                              </m:r>
                            </m:sub>
                            <m:sup>
                              <m:r>
                                <a:rPr lang="ru-RU"/>
                                <m:t>(</m:t>
                              </m:r>
                              <m:r>
                                <a:rPr lang="ru-RU" i="1"/>
                                <m:t>𝑙</m:t>
                              </m:r>
                              <m:r>
                                <a:rPr lang="ru-RU"/>
                                <m:t>)</m:t>
                              </m:r>
                            </m:sup>
                          </m:sSubSup>
                        </m:den>
                      </m:f>
                      <m:r>
                        <a:rPr lang="ru-RU"/>
                        <m:t>=</m:t>
                      </m:r>
                      <m:nary>
                        <m:naryPr>
                          <m:chr m:val="∑"/>
                          <m:limLoc m:val="undOvr"/>
                          <m:grow m:val="on"/>
                          <m:ctrlPr>
                            <a:rPr lang="ru-RU" i="1"/>
                          </m:ctrlPr>
                        </m:naryPr>
                        <m:sub>
                          <m:r>
                            <a:rPr lang="ru-RU" i="1"/>
                            <m:t>𝑘</m:t>
                          </m:r>
                          <m:r>
                            <a:rPr lang="ru-RU"/>
                            <m:t>=1</m:t>
                          </m:r>
                        </m:sub>
                        <m:sup>
                          <m:sSub>
                            <m:sSubPr>
                              <m:ctrlPr>
                                <a:rPr lang="ru-RU" i="1"/>
                              </m:ctrlPr>
                            </m:sSubPr>
                            <m:e>
                              <m:r>
                                <a:rPr lang="ru-RU" i="1"/>
                                <m:t>𝑛</m:t>
                              </m:r>
                            </m:e>
                            <m:sub>
                              <m:r>
                                <a:rPr lang="ru-RU" i="1"/>
                                <m:t>𝐿</m:t>
                              </m:r>
                            </m:sub>
                          </m:sSub>
                        </m:sup>
                        <m:e>
                          <m:r>
                            <a:rPr lang="ru-RU"/>
                            <m:t> </m:t>
                          </m:r>
                        </m:e>
                      </m:nary>
                      <m:f>
                        <m:fPr>
                          <m:ctrlPr>
                            <a:rPr lang="ru-RU" i="1"/>
                          </m:ctrlPr>
                        </m:fPr>
                        <m:num>
                          <m:r>
                            <a:rPr lang="ru-RU" i="1"/>
                            <m:t>𝜕</m:t>
                          </m:r>
                          <m:r>
                            <a:rPr lang="ru-RU" i="1"/>
                            <m:t>𝐸</m:t>
                          </m:r>
                        </m:num>
                        <m:den>
                          <m:r>
                            <a:rPr lang="ru-RU" i="1"/>
                            <m:t>𝜕</m:t>
                          </m:r>
                          <m:sSubSup>
                            <m:sSubSupPr>
                              <m:ctrlPr>
                                <a:rPr lang="ru-RU" i="1"/>
                              </m:ctrlPr>
                            </m:sSubSupPr>
                            <m:e>
                              <m:r>
                                <a:rPr lang="ru-RU" i="1"/>
                                <m:t>h</m:t>
                              </m:r>
                            </m:e>
                            <m:sub>
                              <m:r>
                                <a:rPr lang="ru-RU" i="1"/>
                                <m:t>𝑘</m:t>
                              </m:r>
                            </m:sub>
                            <m:sup>
                              <m:r>
                                <a:rPr lang="ru-RU"/>
                                <m:t>(</m:t>
                              </m:r>
                              <m:r>
                                <a:rPr lang="ru-RU" i="1"/>
                                <m:t>𝐿</m:t>
                              </m:r>
                              <m:r>
                                <a:rPr lang="ru-RU"/>
                                <m:t>)</m:t>
                              </m:r>
                            </m:sup>
                          </m:sSubSup>
                        </m:den>
                      </m:f>
                      <m:r>
                        <a:rPr lang="ru-RU"/>
                        <m:t>⋅</m:t>
                      </m:r>
                      <m:f>
                        <m:fPr>
                          <m:ctrlPr>
                            <a:rPr lang="ru-RU" i="1"/>
                          </m:ctrlPr>
                        </m:fPr>
                        <m:num>
                          <m:r>
                            <a:rPr lang="ru-RU" i="1"/>
                            <m:t>𝜕</m:t>
                          </m:r>
                          <m:sSubSup>
                            <m:sSubSupPr>
                              <m:ctrlPr>
                                <a:rPr lang="ru-RU" i="1"/>
                              </m:ctrlPr>
                            </m:sSubSupPr>
                            <m:e>
                              <m:r>
                                <a:rPr lang="ru-RU" i="1"/>
                                <m:t>h</m:t>
                              </m:r>
                            </m:e>
                            <m:sub>
                              <m:r>
                                <a:rPr lang="ru-RU" i="1"/>
                                <m:t>𝑘</m:t>
                              </m:r>
                            </m:sub>
                            <m:sup>
                              <m:r>
                                <a:rPr lang="ru-RU"/>
                                <m:t>(</m:t>
                              </m:r>
                              <m:r>
                                <a:rPr lang="ru-RU" i="1"/>
                                <m:t>𝐿</m:t>
                              </m:r>
                              <m:r>
                                <a:rPr lang="ru-RU"/>
                                <m:t>)</m:t>
                              </m:r>
                            </m:sup>
                          </m:sSubSup>
                        </m:num>
                        <m:den>
                          <m:r>
                            <a:rPr lang="ru-RU" i="1"/>
                            <m:t>𝜕</m:t>
                          </m:r>
                          <m:sSubSup>
                            <m:sSubSupPr>
                              <m:ctrlPr>
                                <a:rPr lang="ru-RU" i="1"/>
                              </m:ctrlPr>
                            </m:sSubSupPr>
                            <m:e>
                              <m:r>
                                <a:rPr lang="ru-RU" i="1"/>
                                <m:t>𝑊</m:t>
                              </m:r>
                            </m:e>
                            <m:sub>
                              <m:r>
                                <a:rPr lang="ru-RU" i="1"/>
                                <m:t>𝑖𝑗</m:t>
                              </m:r>
                            </m:sub>
                            <m:sup>
                              <m:r>
                                <a:rPr lang="ru-RU"/>
                                <m:t>(</m:t>
                              </m:r>
                              <m:r>
                                <a:rPr lang="ru-RU" i="1"/>
                                <m:t>𝑙</m:t>
                              </m:r>
                              <m:r>
                                <a:rPr lang="ru-RU"/>
                                <m:t>)</m:t>
                              </m:r>
                            </m:sup>
                          </m:sSubSup>
                        </m:den>
                      </m:f>
                      <m:r>
                        <a:rPr lang="ru-RU"/>
                        <m:t>.</m:t>
                      </m:r>
                    </m:oMath>
                  </m:oMathPara>
                </a14:m>
                <a:endParaRPr lang="ru-RU" dirty="0"/>
              </a:p>
              <a:p>
                <a:r>
                  <a:rPr lang="ru-RU" dirty="0"/>
                  <a:t>Но проще пойти через </a:t>
                </a:r>
                <a14:m>
                  <m:oMath xmlns:m="http://schemas.openxmlformats.org/officeDocument/2006/math">
                    <m:sSup>
                      <m:sSupPr>
                        <m:ctrlPr>
                          <a:rPr lang="ru-RU" i="1"/>
                        </m:ctrlPr>
                      </m:sSupPr>
                      <m:e>
                        <m:r>
                          <a:rPr lang="ru-RU" i="1"/>
                          <m:t>𝑧</m:t>
                        </m:r>
                      </m:e>
                      <m:sup>
                        <m:r>
                          <a:rPr lang="ru-RU"/>
                          <m:t>(</m:t>
                        </m:r>
                        <m:r>
                          <a:rPr lang="ru-RU" i="1"/>
                          <m:t>𝑙</m:t>
                        </m:r>
                        <m:r>
                          <a:rPr lang="ru-RU"/>
                          <m:t>)</m:t>
                        </m:r>
                      </m:sup>
                    </m:sSup>
                  </m:oMath>
                </a14:m>
                <a:r>
                  <a:rPr lang="ru-RU" dirty="0"/>
                  <a:t>:</a:t>
                </a:r>
              </a:p>
              <a:p>
                <a14:m>
                  <m:oMathPara xmlns:m="http://schemas.openxmlformats.org/officeDocument/2006/math">
                    <m:oMathParaPr>
                      <m:jc m:val="centerGroup"/>
                    </m:oMathParaPr>
                    <m:oMath xmlns:m="http://schemas.openxmlformats.org/officeDocument/2006/math">
                      <m:f>
                        <m:fPr>
                          <m:ctrlPr>
                            <a:rPr lang="ru-RU" i="1"/>
                          </m:ctrlPr>
                        </m:fPr>
                        <m:num>
                          <m:r>
                            <a:rPr lang="ru-RU" i="1"/>
                            <m:t>𝜕</m:t>
                          </m:r>
                          <m:r>
                            <a:rPr lang="ru-RU" i="1"/>
                            <m:t>𝐸</m:t>
                          </m:r>
                        </m:num>
                        <m:den>
                          <m:r>
                            <a:rPr lang="ru-RU" i="1"/>
                            <m:t>𝜕</m:t>
                          </m:r>
                          <m:sSubSup>
                            <m:sSubSupPr>
                              <m:ctrlPr>
                                <a:rPr lang="ru-RU" i="1"/>
                              </m:ctrlPr>
                            </m:sSubSupPr>
                            <m:e>
                              <m:r>
                                <a:rPr lang="ru-RU" i="1"/>
                                <m:t>𝑊</m:t>
                              </m:r>
                            </m:e>
                            <m:sub>
                              <m:r>
                                <a:rPr lang="ru-RU" i="1"/>
                                <m:t>𝑖𝑗</m:t>
                              </m:r>
                            </m:sub>
                            <m:sup>
                              <m:r>
                                <a:rPr lang="ru-RU"/>
                                <m:t>(</m:t>
                              </m:r>
                              <m:r>
                                <a:rPr lang="ru-RU" i="1"/>
                                <m:t>𝑙</m:t>
                              </m:r>
                              <m:r>
                                <a:rPr lang="ru-RU"/>
                                <m:t>)</m:t>
                              </m:r>
                            </m:sup>
                          </m:sSubSup>
                        </m:den>
                      </m:f>
                      <m:r>
                        <a:rPr lang="ru-RU"/>
                        <m:t>=</m:t>
                      </m:r>
                      <m:nary>
                        <m:naryPr>
                          <m:chr m:val="∑"/>
                          <m:limLoc m:val="undOvr"/>
                          <m:grow m:val="on"/>
                          <m:ctrlPr>
                            <a:rPr lang="ru-RU" i="1"/>
                          </m:ctrlPr>
                        </m:naryPr>
                        <m:sub>
                          <m:r>
                            <a:rPr lang="ru-RU" i="1"/>
                            <m:t>𝑟</m:t>
                          </m:r>
                          <m:r>
                            <a:rPr lang="ru-RU"/>
                            <m:t>=1</m:t>
                          </m:r>
                        </m:sub>
                        <m:sup>
                          <m:sSub>
                            <m:sSubPr>
                              <m:ctrlPr>
                                <a:rPr lang="ru-RU" i="1"/>
                              </m:ctrlPr>
                            </m:sSubPr>
                            <m:e>
                              <m:r>
                                <a:rPr lang="ru-RU" i="1"/>
                                <m:t>𝑛</m:t>
                              </m:r>
                            </m:e>
                            <m:sub>
                              <m:r>
                                <a:rPr lang="ru-RU" i="1"/>
                                <m:t>𝑙</m:t>
                              </m:r>
                            </m:sub>
                          </m:sSub>
                        </m:sup>
                        <m:e>
                          <m:r>
                            <a:rPr lang="ru-RU"/>
                            <m:t> </m:t>
                          </m:r>
                        </m:e>
                      </m:nary>
                      <m:f>
                        <m:fPr>
                          <m:ctrlPr>
                            <a:rPr lang="ru-RU" i="1"/>
                          </m:ctrlPr>
                        </m:fPr>
                        <m:num>
                          <m:r>
                            <a:rPr lang="ru-RU" i="1"/>
                            <m:t>𝜕</m:t>
                          </m:r>
                          <m:r>
                            <a:rPr lang="ru-RU" i="1"/>
                            <m:t>𝐸</m:t>
                          </m:r>
                        </m:num>
                        <m:den>
                          <m:r>
                            <a:rPr lang="ru-RU" i="1"/>
                            <m:t>𝜕</m:t>
                          </m:r>
                          <m:sSubSup>
                            <m:sSubSupPr>
                              <m:ctrlPr>
                                <a:rPr lang="ru-RU" i="1"/>
                              </m:ctrlPr>
                            </m:sSubSupPr>
                            <m:e>
                              <m:r>
                                <a:rPr lang="ru-RU" i="1"/>
                                <m:t>𝑧</m:t>
                              </m:r>
                            </m:e>
                            <m:sub>
                              <m:r>
                                <a:rPr lang="ru-RU" i="1"/>
                                <m:t>𝑟</m:t>
                              </m:r>
                            </m:sub>
                            <m:sup>
                              <m:r>
                                <a:rPr lang="ru-RU"/>
                                <m:t>(</m:t>
                              </m:r>
                              <m:r>
                                <a:rPr lang="ru-RU" i="1"/>
                                <m:t>𝑙</m:t>
                              </m:r>
                              <m:r>
                                <a:rPr lang="ru-RU"/>
                                <m:t>)</m:t>
                              </m:r>
                            </m:sup>
                          </m:sSubSup>
                        </m:den>
                      </m:f>
                      <m:r>
                        <a:rPr lang="ru-RU"/>
                        <m:t>⋅</m:t>
                      </m:r>
                      <m:f>
                        <m:fPr>
                          <m:ctrlPr>
                            <a:rPr lang="ru-RU" i="1"/>
                          </m:ctrlPr>
                        </m:fPr>
                        <m:num>
                          <m:r>
                            <a:rPr lang="ru-RU" i="1"/>
                            <m:t>𝜕</m:t>
                          </m:r>
                          <m:sSubSup>
                            <m:sSubSupPr>
                              <m:ctrlPr>
                                <a:rPr lang="ru-RU" i="1"/>
                              </m:ctrlPr>
                            </m:sSubSupPr>
                            <m:e>
                              <m:r>
                                <a:rPr lang="ru-RU" i="1"/>
                                <m:t>𝑧</m:t>
                              </m:r>
                            </m:e>
                            <m:sub>
                              <m:r>
                                <a:rPr lang="ru-RU" i="1"/>
                                <m:t>𝑟</m:t>
                              </m:r>
                            </m:sub>
                            <m:sup>
                              <m:r>
                                <a:rPr lang="ru-RU"/>
                                <m:t>(</m:t>
                              </m:r>
                              <m:r>
                                <a:rPr lang="ru-RU" i="1"/>
                                <m:t>𝑙</m:t>
                              </m:r>
                              <m:r>
                                <a:rPr lang="ru-RU"/>
                                <m:t>)</m:t>
                              </m:r>
                            </m:sup>
                          </m:sSubSup>
                        </m:num>
                        <m:den>
                          <m:r>
                            <a:rPr lang="ru-RU" i="1"/>
                            <m:t>𝜕</m:t>
                          </m:r>
                          <m:sSubSup>
                            <m:sSubSupPr>
                              <m:ctrlPr>
                                <a:rPr lang="ru-RU" i="1"/>
                              </m:ctrlPr>
                            </m:sSubSupPr>
                            <m:e>
                              <m:r>
                                <a:rPr lang="ru-RU" i="1"/>
                                <m:t>𝑊</m:t>
                              </m:r>
                            </m:e>
                            <m:sub>
                              <m:r>
                                <a:rPr lang="ru-RU" i="1"/>
                                <m:t>𝑖𝑗</m:t>
                              </m:r>
                            </m:sub>
                            <m:sup>
                              <m:r>
                                <a:rPr lang="ru-RU"/>
                                <m:t>(</m:t>
                              </m:r>
                              <m:r>
                                <a:rPr lang="ru-RU" i="1"/>
                                <m:t>𝑙</m:t>
                              </m:r>
                              <m:r>
                                <a:rPr lang="ru-RU"/>
                                <m:t>)</m:t>
                              </m:r>
                            </m:sup>
                          </m:sSubSup>
                        </m:den>
                      </m:f>
                      <m:r>
                        <a:rPr lang="ru-RU"/>
                        <m:t>=</m:t>
                      </m:r>
                      <m:nary>
                        <m:naryPr>
                          <m:chr m:val="∑"/>
                          <m:limLoc m:val="undOvr"/>
                          <m:grow m:val="on"/>
                          <m:ctrlPr>
                            <a:rPr lang="ru-RU" i="1"/>
                          </m:ctrlPr>
                        </m:naryPr>
                        <m:sub>
                          <m:r>
                            <a:rPr lang="ru-RU" i="1"/>
                            <m:t>𝑟</m:t>
                          </m:r>
                          <m:r>
                            <a:rPr lang="ru-RU"/>
                            <m:t>=1</m:t>
                          </m:r>
                        </m:sub>
                        <m:sup>
                          <m:sSub>
                            <m:sSubPr>
                              <m:ctrlPr>
                                <a:rPr lang="ru-RU" i="1"/>
                              </m:ctrlPr>
                            </m:sSubPr>
                            <m:e>
                              <m:r>
                                <a:rPr lang="ru-RU" i="1"/>
                                <m:t>𝑛</m:t>
                              </m:r>
                            </m:e>
                            <m:sub>
                              <m:r>
                                <a:rPr lang="ru-RU" i="1"/>
                                <m:t>𝑙</m:t>
                              </m:r>
                            </m:sub>
                          </m:sSub>
                        </m:sup>
                        <m:e>
                          <m:r>
                            <a:rPr lang="ru-RU"/>
                            <m:t> </m:t>
                          </m:r>
                        </m:e>
                      </m:nary>
                      <m:sSubSup>
                        <m:sSubSupPr>
                          <m:ctrlPr>
                            <a:rPr lang="ru-RU" i="1"/>
                          </m:ctrlPr>
                        </m:sSubSupPr>
                        <m:e>
                          <m:r>
                            <a:rPr lang="ru-RU" i="1"/>
                            <m:t>𝛿</m:t>
                          </m:r>
                        </m:e>
                        <m:sub>
                          <m:r>
                            <a:rPr lang="ru-RU" i="1"/>
                            <m:t>𝑟</m:t>
                          </m:r>
                        </m:sub>
                        <m:sup>
                          <m:r>
                            <a:rPr lang="ru-RU"/>
                            <m:t>(</m:t>
                          </m:r>
                          <m:r>
                            <a:rPr lang="ru-RU" i="1"/>
                            <m:t>𝑙</m:t>
                          </m:r>
                          <m:r>
                            <a:rPr lang="ru-RU"/>
                            <m:t>)</m:t>
                          </m:r>
                        </m:sup>
                      </m:sSubSup>
                      <m:r>
                        <a:rPr lang="ru-RU"/>
                        <m:t>⋅</m:t>
                      </m:r>
                      <m:f>
                        <m:fPr>
                          <m:ctrlPr>
                            <a:rPr lang="ru-RU" i="1"/>
                          </m:ctrlPr>
                        </m:fPr>
                        <m:num>
                          <m:r>
                            <a:rPr lang="ru-RU" i="1"/>
                            <m:t>𝜕</m:t>
                          </m:r>
                          <m:sSubSup>
                            <m:sSubSupPr>
                              <m:ctrlPr>
                                <a:rPr lang="ru-RU" i="1"/>
                              </m:ctrlPr>
                            </m:sSubSupPr>
                            <m:e>
                              <m:r>
                                <a:rPr lang="ru-RU" i="1"/>
                                <m:t>𝑧</m:t>
                              </m:r>
                            </m:e>
                            <m:sub>
                              <m:r>
                                <a:rPr lang="ru-RU" i="1"/>
                                <m:t>𝑟</m:t>
                              </m:r>
                            </m:sub>
                            <m:sup>
                              <m:r>
                                <a:rPr lang="ru-RU"/>
                                <m:t>(</m:t>
                              </m:r>
                              <m:r>
                                <a:rPr lang="ru-RU" i="1"/>
                                <m:t>𝑙</m:t>
                              </m:r>
                              <m:r>
                                <a:rPr lang="ru-RU"/>
                                <m:t>)</m:t>
                              </m:r>
                            </m:sup>
                          </m:sSubSup>
                        </m:num>
                        <m:den>
                          <m:r>
                            <a:rPr lang="ru-RU" i="1"/>
                            <m:t>𝜕</m:t>
                          </m:r>
                          <m:sSubSup>
                            <m:sSubSupPr>
                              <m:ctrlPr>
                                <a:rPr lang="ru-RU" i="1"/>
                              </m:ctrlPr>
                            </m:sSubSupPr>
                            <m:e>
                              <m:r>
                                <a:rPr lang="ru-RU" i="1"/>
                                <m:t>𝑊</m:t>
                              </m:r>
                            </m:e>
                            <m:sub>
                              <m:r>
                                <a:rPr lang="ru-RU" i="1"/>
                                <m:t>𝑖𝑗</m:t>
                              </m:r>
                            </m:sub>
                            <m:sup>
                              <m:r>
                                <a:rPr lang="ru-RU"/>
                                <m:t>(</m:t>
                              </m:r>
                              <m:r>
                                <a:rPr lang="ru-RU" i="1"/>
                                <m:t>𝑙</m:t>
                              </m:r>
                              <m:r>
                                <a:rPr lang="ru-RU"/>
                                <m:t>)</m:t>
                              </m:r>
                            </m:sup>
                          </m:sSubSup>
                        </m:den>
                      </m:f>
                      <m:r>
                        <a:rPr lang="ru-RU"/>
                        <m:t>.</m:t>
                      </m:r>
                    </m:oMath>
                  </m:oMathPara>
                </a14:m>
                <a:endParaRPr lang="ru-RU" dirty="0"/>
              </a:p>
              <a:p>
                <a:r>
                  <a:rPr lang="ru-RU" dirty="0"/>
                  <a:t>Теперь используем явную форму </a:t>
                </a:r>
                <a14:m>
                  <m:oMath xmlns:m="http://schemas.openxmlformats.org/officeDocument/2006/math">
                    <m:sSup>
                      <m:sSupPr>
                        <m:ctrlPr>
                          <a:rPr lang="ru-RU" i="1"/>
                        </m:ctrlPr>
                      </m:sSupPr>
                      <m:e>
                        <m:r>
                          <a:rPr lang="ru-RU" i="1"/>
                          <m:t>𝑧</m:t>
                        </m:r>
                      </m:e>
                      <m:sup>
                        <m:r>
                          <a:rPr lang="ru-RU"/>
                          <m:t>(</m:t>
                        </m:r>
                        <m:r>
                          <a:rPr lang="ru-RU" i="1"/>
                          <m:t>𝑙</m:t>
                        </m:r>
                        <m:r>
                          <a:rPr lang="ru-RU"/>
                          <m:t>)</m:t>
                        </m:r>
                      </m:sup>
                    </m:sSup>
                    <m:r>
                      <a:rPr lang="ru-RU"/>
                      <m:t>=</m:t>
                    </m:r>
                    <m:sSup>
                      <m:sSupPr>
                        <m:ctrlPr>
                          <a:rPr lang="ru-RU" i="1"/>
                        </m:ctrlPr>
                      </m:sSupPr>
                      <m:e>
                        <m:r>
                          <a:rPr lang="ru-RU" i="1"/>
                          <m:t>𝑊</m:t>
                        </m:r>
                      </m:e>
                      <m:sup>
                        <m:r>
                          <a:rPr lang="ru-RU"/>
                          <m:t>(</m:t>
                        </m:r>
                        <m:r>
                          <a:rPr lang="ru-RU" i="1"/>
                          <m:t>𝑙</m:t>
                        </m:r>
                        <m:r>
                          <a:rPr lang="ru-RU"/>
                          <m:t>)</m:t>
                        </m:r>
                      </m:sup>
                    </m:sSup>
                    <m:sSup>
                      <m:sSupPr>
                        <m:ctrlPr>
                          <a:rPr lang="ru-RU" i="1"/>
                        </m:ctrlPr>
                      </m:sSupPr>
                      <m:e>
                        <m:r>
                          <a:rPr lang="ru-RU" i="1"/>
                          <m:t>h</m:t>
                        </m:r>
                      </m:e>
                      <m:sup>
                        <m:r>
                          <a:rPr lang="ru-RU"/>
                          <m:t>(</m:t>
                        </m:r>
                        <m:r>
                          <a:rPr lang="ru-RU" i="1"/>
                          <m:t>𝑙</m:t>
                        </m:r>
                        <m:r>
                          <a:rPr lang="ru-RU" i="1"/>
                          <m:t>−</m:t>
                        </m:r>
                        <m:r>
                          <a:rPr lang="ru-RU"/>
                          <m:t>1)</m:t>
                        </m:r>
                      </m:sup>
                    </m:sSup>
                    <m:r>
                      <a:rPr lang="ru-RU"/>
                      <m:t>+</m:t>
                    </m:r>
                    <m:sSup>
                      <m:sSupPr>
                        <m:ctrlPr>
                          <a:rPr lang="ru-RU" i="1"/>
                        </m:ctrlPr>
                      </m:sSupPr>
                      <m:e>
                        <m:r>
                          <a:rPr lang="ru-RU" i="1"/>
                          <m:t>𝑏</m:t>
                        </m:r>
                      </m:e>
                      <m:sup>
                        <m:r>
                          <a:rPr lang="ru-RU"/>
                          <m:t>(</m:t>
                        </m:r>
                        <m:r>
                          <a:rPr lang="ru-RU" i="1"/>
                          <m:t>𝑙</m:t>
                        </m:r>
                        <m:r>
                          <a:rPr lang="ru-RU"/>
                          <m:t>)</m:t>
                        </m:r>
                      </m:sup>
                    </m:sSup>
                  </m:oMath>
                </a14:m>
                <a:r>
                  <a:rPr lang="ru-RU" dirty="0"/>
                  <a:t>:</a:t>
                </a:r>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𝑧</m:t>
                          </m:r>
                        </m:e>
                        <m:sub>
                          <m:r>
                            <a:rPr lang="ru-RU" i="1"/>
                            <m:t>𝑟</m:t>
                          </m:r>
                        </m:sub>
                        <m:sup>
                          <m:r>
                            <a:rPr lang="ru-RU"/>
                            <m:t>(</m:t>
                          </m:r>
                          <m:r>
                            <a:rPr lang="ru-RU" i="1"/>
                            <m:t>𝑙</m:t>
                          </m:r>
                          <m:r>
                            <a:rPr lang="ru-RU"/>
                            <m:t>)</m:t>
                          </m:r>
                        </m:sup>
                      </m:sSubSup>
                      <m:r>
                        <a:rPr lang="ru-RU"/>
                        <m:t>=</m:t>
                      </m:r>
                      <m:nary>
                        <m:naryPr>
                          <m:chr m:val="∑"/>
                          <m:limLoc m:val="undOvr"/>
                          <m:grow m:val="on"/>
                          <m:ctrlPr>
                            <a:rPr lang="ru-RU" i="1"/>
                          </m:ctrlPr>
                        </m:naryPr>
                        <m:sub>
                          <m:r>
                            <a:rPr lang="ru-RU" i="1"/>
                            <m:t>𝑠</m:t>
                          </m:r>
                          <m:r>
                            <a:rPr lang="ru-RU"/>
                            <m:t>=1</m:t>
                          </m:r>
                        </m:sub>
                        <m:sup>
                          <m:sSub>
                            <m:sSubPr>
                              <m:ctrlPr>
                                <a:rPr lang="ru-RU" i="1"/>
                              </m:ctrlPr>
                            </m:sSubPr>
                            <m:e>
                              <m:r>
                                <a:rPr lang="ru-RU" i="1"/>
                                <m:t>𝑛</m:t>
                              </m:r>
                            </m:e>
                            <m:sub>
                              <m:r>
                                <a:rPr lang="ru-RU" i="1"/>
                                <m:t>𝑙</m:t>
                              </m:r>
                              <m:r>
                                <a:rPr lang="ru-RU" i="1"/>
                                <m:t>−</m:t>
                              </m:r>
                              <m:r>
                                <a:rPr lang="ru-RU"/>
                                <m:t>1</m:t>
                              </m:r>
                            </m:sub>
                          </m:sSub>
                        </m:sup>
                        <m:e>
                          <m:r>
                            <a:rPr lang="ru-RU"/>
                            <m:t> </m:t>
                          </m:r>
                        </m:e>
                      </m:nary>
                      <m:sSubSup>
                        <m:sSubSupPr>
                          <m:ctrlPr>
                            <a:rPr lang="ru-RU" i="1"/>
                          </m:ctrlPr>
                        </m:sSubSupPr>
                        <m:e>
                          <m:r>
                            <a:rPr lang="ru-RU" i="1"/>
                            <m:t>𝑊</m:t>
                          </m:r>
                        </m:e>
                        <m:sub>
                          <m:r>
                            <a:rPr lang="ru-RU" i="1"/>
                            <m:t>𝑟𝑠</m:t>
                          </m:r>
                        </m:sub>
                        <m:sup>
                          <m:r>
                            <a:rPr lang="ru-RU"/>
                            <m:t>(</m:t>
                          </m:r>
                          <m:r>
                            <a:rPr lang="ru-RU" i="1"/>
                            <m:t>𝑙</m:t>
                          </m:r>
                          <m:r>
                            <a:rPr lang="ru-RU"/>
                            <m:t>)</m:t>
                          </m:r>
                        </m:sup>
                      </m:sSubSup>
                      <m:sSubSup>
                        <m:sSubSupPr>
                          <m:ctrlPr>
                            <a:rPr lang="ru-RU" i="1"/>
                          </m:ctrlPr>
                        </m:sSubSupPr>
                        <m:e>
                          <m:r>
                            <a:rPr lang="ru-RU" i="1"/>
                            <m:t>h</m:t>
                          </m:r>
                        </m:e>
                        <m:sub>
                          <m:r>
                            <a:rPr lang="ru-RU" i="1"/>
                            <m:t>𝑠</m:t>
                          </m:r>
                        </m:sub>
                        <m:sup>
                          <m:r>
                            <a:rPr lang="ru-RU"/>
                            <m:t>(</m:t>
                          </m:r>
                          <m:r>
                            <a:rPr lang="ru-RU" i="1"/>
                            <m:t>𝑙</m:t>
                          </m:r>
                          <m:r>
                            <a:rPr lang="ru-RU" i="1"/>
                            <m:t>−</m:t>
                          </m:r>
                          <m:r>
                            <a:rPr lang="ru-RU"/>
                            <m:t>1)</m:t>
                          </m:r>
                        </m:sup>
                      </m:sSubSup>
                      <m:r>
                        <a:rPr lang="ru-RU"/>
                        <m:t>+</m:t>
                      </m:r>
                      <m:sSubSup>
                        <m:sSubSupPr>
                          <m:ctrlPr>
                            <a:rPr lang="ru-RU" i="1"/>
                          </m:ctrlPr>
                        </m:sSubSupPr>
                        <m:e>
                          <m:r>
                            <a:rPr lang="ru-RU" i="1"/>
                            <m:t>𝑏</m:t>
                          </m:r>
                        </m:e>
                        <m:sub>
                          <m:r>
                            <a:rPr lang="ru-RU" i="1"/>
                            <m:t>𝑟</m:t>
                          </m:r>
                        </m:sub>
                        <m:sup>
                          <m:r>
                            <a:rPr lang="ru-RU"/>
                            <m:t>(</m:t>
                          </m:r>
                          <m:r>
                            <a:rPr lang="ru-RU" i="1"/>
                            <m:t>𝑙</m:t>
                          </m:r>
                          <m:r>
                            <a:rPr lang="ru-RU"/>
                            <m:t>)</m:t>
                          </m:r>
                        </m:sup>
                      </m:sSubSup>
                      <m:r>
                        <a:rPr lang="ru-RU"/>
                        <m:t>.</m:t>
                      </m:r>
                    </m:oMath>
                  </m:oMathPara>
                </a14:m>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276" t="-754"/>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37</a:t>
            </a:fld>
            <a:endParaRPr lang="ru-RU" noProof="0" dirty="0"/>
          </a:p>
        </p:txBody>
      </p:sp>
    </p:spTree>
    <p:extLst>
      <p:ext uri="{BB962C8B-B14F-4D97-AF65-F5344CB8AC3E}">
        <p14:creationId xmlns:p14="http://schemas.microsoft.com/office/powerpoint/2010/main" val="2290528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Обратное распространение ошибки</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a:bodyPr>
              <a:lstStyle/>
              <a:p>
                <a:r>
                  <a:rPr lang="ru-RU" dirty="0"/>
                  <a:t>Отсюда:</a:t>
                </a:r>
              </a:p>
              <a:p>
                <a14:m>
                  <m:oMathPara xmlns:m="http://schemas.openxmlformats.org/officeDocument/2006/math">
                    <m:oMathParaPr>
                      <m:jc m:val="centerGroup"/>
                    </m:oMathParaPr>
                    <m:oMath xmlns:m="http://schemas.openxmlformats.org/officeDocument/2006/math">
                      <m:f>
                        <m:fPr>
                          <m:ctrlPr>
                            <a:rPr lang="ru-RU" i="1"/>
                          </m:ctrlPr>
                        </m:fPr>
                        <m:num>
                          <m:r>
                            <a:rPr lang="ru-RU" i="1"/>
                            <m:t>𝜕</m:t>
                          </m:r>
                          <m:sSubSup>
                            <m:sSubSupPr>
                              <m:ctrlPr>
                                <a:rPr lang="ru-RU" i="1"/>
                              </m:ctrlPr>
                            </m:sSubSupPr>
                            <m:e>
                              <m:r>
                                <a:rPr lang="ru-RU" i="1"/>
                                <m:t>𝑧</m:t>
                              </m:r>
                            </m:e>
                            <m:sub>
                              <m:r>
                                <a:rPr lang="ru-RU" i="1"/>
                                <m:t>𝑟</m:t>
                              </m:r>
                            </m:sub>
                            <m:sup>
                              <m:r>
                                <a:rPr lang="ru-RU"/>
                                <m:t>(</m:t>
                              </m:r>
                              <m:r>
                                <a:rPr lang="ru-RU" i="1"/>
                                <m:t>𝑙</m:t>
                              </m:r>
                              <m:r>
                                <a:rPr lang="ru-RU"/>
                                <m:t>)</m:t>
                              </m:r>
                            </m:sup>
                          </m:sSubSup>
                        </m:num>
                        <m:den>
                          <m:r>
                            <a:rPr lang="ru-RU" i="1"/>
                            <m:t>𝜕</m:t>
                          </m:r>
                          <m:sSubSup>
                            <m:sSubSupPr>
                              <m:ctrlPr>
                                <a:rPr lang="ru-RU" i="1"/>
                              </m:ctrlPr>
                            </m:sSubSupPr>
                            <m:e>
                              <m:r>
                                <a:rPr lang="ru-RU" i="1"/>
                                <m:t>𝑊</m:t>
                              </m:r>
                            </m:e>
                            <m:sub>
                              <m:r>
                                <a:rPr lang="ru-RU" i="1"/>
                                <m:t>𝑖𝑗</m:t>
                              </m:r>
                            </m:sub>
                            <m:sup>
                              <m:r>
                                <a:rPr lang="ru-RU"/>
                                <m:t>(</m:t>
                              </m:r>
                              <m:r>
                                <a:rPr lang="ru-RU" i="1"/>
                                <m:t>𝑙</m:t>
                              </m:r>
                              <m:r>
                                <a:rPr lang="ru-RU"/>
                                <m:t>)</m:t>
                              </m:r>
                            </m:sup>
                          </m:sSubSup>
                        </m:den>
                      </m:f>
                      <m:r>
                        <a:rPr lang="ru-RU"/>
                        <m:t>=</m:t>
                      </m:r>
                      <m:d>
                        <m:dPr>
                          <m:begChr m:val="{"/>
                          <m:endChr m:val=""/>
                          <m:ctrlPr>
                            <a:rPr lang="ru-RU" i="1"/>
                          </m:ctrlPr>
                        </m:dPr>
                        <m:e>
                          <m:m>
                            <m:mPr>
                              <m:plcHide m:val="on"/>
                              <m:mcs>
                                <m:mc>
                                  <m:mcPr>
                                    <m:count m:val="2"/>
                                    <m:mcJc m:val="center"/>
                                  </m:mcPr>
                                </m:mc>
                              </m:mcs>
                              <m:ctrlPr>
                                <a:rPr lang="ru-RU" i="1"/>
                              </m:ctrlPr>
                            </m:mPr>
                            <m:mr>
                              <m:e>
                                <m:sSubSup>
                                  <m:sSubSupPr>
                                    <m:ctrlPr>
                                      <a:rPr lang="ru-RU" i="1"/>
                                    </m:ctrlPr>
                                  </m:sSubSupPr>
                                  <m:e>
                                    <m:r>
                                      <a:rPr lang="ru-RU" i="1"/>
                                      <m:t>h</m:t>
                                    </m:r>
                                  </m:e>
                                  <m:sub>
                                    <m:r>
                                      <a:rPr lang="ru-RU" i="1"/>
                                      <m:t>𝑗</m:t>
                                    </m:r>
                                  </m:sub>
                                  <m:sup>
                                    <m:r>
                                      <a:rPr lang="ru-RU"/>
                                      <m:t>(</m:t>
                                    </m:r>
                                    <m:r>
                                      <a:rPr lang="ru-RU" i="1"/>
                                      <m:t>𝑙</m:t>
                                    </m:r>
                                    <m:r>
                                      <a:rPr lang="ru-RU" i="1"/>
                                      <m:t>−</m:t>
                                    </m:r>
                                    <m:r>
                                      <a:rPr lang="ru-RU"/>
                                      <m:t>1)</m:t>
                                    </m:r>
                                  </m:sup>
                                </m:sSubSup>
                                <m:r>
                                  <a:rPr lang="ru-RU"/>
                                  <m:t>,</m:t>
                                </m:r>
                              </m:e>
                              <m:e>
                                <m:r>
                                  <m:rPr>
                                    <m:nor/>
                                  </m:rPr>
                                  <a:rPr lang="ru-RU"/>
                                  <m:t>если</m:t>
                                </m:r>
                                <m:r>
                                  <m:rPr>
                                    <m:nor/>
                                  </m:rPr>
                                  <a:rPr lang="ru-RU" i="1"/>
                                  <m:t> </m:t>
                                </m:r>
                                <m:r>
                                  <a:rPr lang="ru-RU" i="1"/>
                                  <m:t>𝑟</m:t>
                                </m:r>
                                <m:r>
                                  <a:rPr lang="ru-RU"/>
                                  <m:t>=</m:t>
                                </m:r>
                                <m:r>
                                  <a:rPr lang="ru-RU" i="1"/>
                                  <m:t>𝑖</m:t>
                                </m:r>
                                <m:r>
                                  <a:rPr lang="ru-RU"/>
                                  <m:t>,</m:t>
                                </m:r>
                              </m:e>
                            </m:mr>
                            <m:mr>
                              <m:e>
                                <m:r>
                                  <a:rPr lang="ru-RU"/>
                                  <m:t>0,</m:t>
                                </m:r>
                              </m:e>
                              <m:e>
                                <m:r>
                                  <m:rPr>
                                    <m:nor/>
                                  </m:rPr>
                                  <a:rPr lang="ru-RU"/>
                                  <m:t>если</m:t>
                                </m:r>
                                <m:r>
                                  <m:rPr>
                                    <m:nor/>
                                  </m:rPr>
                                  <a:rPr lang="ru-RU" i="1"/>
                                  <m:t> </m:t>
                                </m:r>
                                <m:r>
                                  <a:rPr lang="ru-RU" i="1"/>
                                  <m:t>𝑟</m:t>
                                </m:r>
                                <m:r>
                                  <a:rPr lang="ru-RU"/>
                                  <m:t>≠</m:t>
                                </m:r>
                                <m:r>
                                  <a:rPr lang="ru-RU" i="1"/>
                                  <m:t>𝑖</m:t>
                                </m:r>
                                <m:r>
                                  <a:rPr lang="ru-RU"/>
                                  <m:t>.</m:t>
                                </m:r>
                              </m:e>
                            </m:mr>
                          </m:m>
                        </m:e>
                      </m:d>
                    </m:oMath>
                  </m:oMathPara>
                </a14:m>
                <a:endParaRPr lang="ru-RU" dirty="0"/>
              </a:p>
              <a:p>
                <a:r>
                  <a:rPr lang="ru-RU" dirty="0"/>
                  <a:t>Подставляем:</a:t>
                </a:r>
              </a:p>
              <a:p>
                <a14:m>
                  <m:oMathPara xmlns:m="http://schemas.openxmlformats.org/officeDocument/2006/math">
                    <m:oMathParaPr>
                      <m:jc m:val="centerGroup"/>
                    </m:oMathParaPr>
                    <m:oMath xmlns:m="http://schemas.openxmlformats.org/officeDocument/2006/math">
                      <m:f>
                        <m:fPr>
                          <m:ctrlPr>
                            <a:rPr lang="ru-RU" i="1"/>
                          </m:ctrlPr>
                        </m:fPr>
                        <m:num>
                          <m:r>
                            <a:rPr lang="ru-RU" i="1"/>
                            <m:t>𝜕</m:t>
                          </m:r>
                          <m:r>
                            <a:rPr lang="ru-RU" i="1"/>
                            <m:t>𝐸</m:t>
                          </m:r>
                        </m:num>
                        <m:den>
                          <m:r>
                            <a:rPr lang="ru-RU" i="1"/>
                            <m:t>𝜕</m:t>
                          </m:r>
                          <m:sSubSup>
                            <m:sSubSupPr>
                              <m:ctrlPr>
                                <a:rPr lang="ru-RU" i="1"/>
                              </m:ctrlPr>
                            </m:sSubSupPr>
                            <m:e>
                              <m:r>
                                <a:rPr lang="ru-RU" i="1"/>
                                <m:t>𝑊</m:t>
                              </m:r>
                            </m:e>
                            <m:sub>
                              <m:r>
                                <a:rPr lang="ru-RU" i="1"/>
                                <m:t>𝑖𝑗</m:t>
                              </m:r>
                            </m:sub>
                            <m:sup>
                              <m:r>
                                <a:rPr lang="ru-RU"/>
                                <m:t>(</m:t>
                              </m:r>
                              <m:r>
                                <a:rPr lang="ru-RU" i="1"/>
                                <m:t>𝑙</m:t>
                              </m:r>
                              <m:r>
                                <a:rPr lang="ru-RU"/>
                                <m:t>)</m:t>
                              </m:r>
                            </m:sup>
                          </m:sSubSup>
                        </m:den>
                      </m:f>
                      <m:r>
                        <a:rPr lang="ru-RU"/>
                        <m:t>=</m:t>
                      </m:r>
                      <m:sSubSup>
                        <m:sSubSupPr>
                          <m:ctrlPr>
                            <a:rPr lang="ru-RU" i="1"/>
                          </m:ctrlPr>
                        </m:sSubSupPr>
                        <m:e>
                          <m:r>
                            <a:rPr lang="ru-RU" i="1"/>
                            <m:t>𝛿</m:t>
                          </m:r>
                        </m:e>
                        <m:sub>
                          <m:r>
                            <a:rPr lang="ru-RU" i="1"/>
                            <m:t>𝑖</m:t>
                          </m:r>
                        </m:sub>
                        <m:sup>
                          <m:r>
                            <a:rPr lang="ru-RU"/>
                            <m:t>(</m:t>
                          </m:r>
                          <m:r>
                            <a:rPr lang="ru-RU" i="1"/>
                            <m:t>𝑙</m:t>
                          </m:r>
                          <m:r>
                            <a:rPr lang="ru-RU"/>
                            <m:t>)</m:t>
                          </m:r>
                        </m:sup>
                      </m:sSubSup>
                      <m:r>
                        <a:rPr lang="ru-RU"/>
                        <m:t>⋅</m:t>
                      </m:r>
                      <m:sSubSup>
                        <m:sSubSupPr>
                          <m:ctrlPr>
                            <a:rPr lang="ru-RU" i="1"/>
                          </m:ctrlPr>
                        </m:sSubSupPr>
                        <m:e>
                          <m:r>
                            <a:rPr lang="ru-RU" i="1"/>
                            <m:t>h</m:t>
                          </m:r>
                        </m:e>
                        <m:sub>
                          <m:r>
                            <a:rPr lang="ru-RU" i="1"/>
                            <m:t>𝑗</m:t>
                          </m:r>
                        </m:sub>
                        <m:sup>
                          <m:r>
                            <a:rPr lang="ru-RU"/>
                            <m:t>(</m:t>
                          </m:r>
                          <m:r>
                            <a:rPr lang="ru-RU" i="1"/>
                            <m:t>𝑙</m:t>
                          </m:r>
                          <m:r>
                            <a:rPr lang="ru-RU" i="1"/>
                            <m:t>−</m:t>
                          </m:r>
                          <m:r>
                            <a:rPr lang="ru-RU"/>
                            <m:t>1)</m:t>
                          </m:r>
                        </m:sup>
                      </m:sSubSup>
                      <m:r>
                        <a:rPr lang="ru-RU"/>
                        <m:t>.</m:t>
                      </m:r>
                    </m:oMath>
                  </m:oMathPara>
                </a14:m>
                <a:endParaRPr lang="ru-RU" dirty="0"/>
              </a:p>
              <a:p>
                <a:r>
                  <a:rPr lang="ru-RU" dirty="0"/>
                  <a:t>В матричной форме:</a:t>
                </a:r>
              </a:p>
              <a:p>
                <a14:m>
                  <m:oMathPara xmlns:m="http://schemas.openxmlformats.org/officeDocument/2006/math">
                    <m:oMathParaPr>
                      <m:jc m:val="centerGroup"/>
                    </m:oMathParaPr>
                    <m:oMath xmlns:m="http://schemas.openxmlformats.org/officeDocument/2006/math">
                      <m:f>
                        <m:fPr>
                          <m:ctrlPr>
                            <a:rPr lang="ru-RU" i="1"/>
                          </m:ctrlPr>
                        </m:fPr>
                        <m:num>
                          <m:r>
                            <a:rPr lang="ru-RU" i="1"/>
                            <m:t>𝜕</m:t>
                          </m:r>
                          <m:r>
                            <a:rPr lang="ru-RU" i="1"/>
                            <m:t>𝐸</m:t>
                          </m:r>
                        </m:num>
                        <m:den>
                          <m:r>
                            <a:rPr lang="ru-RU" i="1"/>
                            <m:t>𝜕</m:t>
                          </m:r>
                          <m:sSup>
                            <m:sSupPr>
                              <m:ctrlPr>
                                <a:rPr lang="ru-RU" i="1"/>
                              </m:ctrlPr>
                            </m:sSupPr>
                            <m:e>
                              <m:r>
                                <a:rPr lang="ru-RU" i="1"/>
                                <m:t>𝑊</m:t>
                              </m:r>
                            </m:e>
                            <m:sup>
                              <m:r>
                                <a:rPr lang="ru-RU"/>
                                <m:t>(</m:t>
                              </m:r>
                              <m:r>
                                <a:rPr lang="ru-RU" i="1"/>
                                <m:t>𝑙</m:t>
                              </m:r>
                              <m:r>
                                <a:rPr lang="ru-RU"/>
                                <m:t>)</m:t>
                              </m:r>
                            </m:sup>
                          </m:sSup>
                        </m:den>
                      </m:f>
                      <m:r>
                        <a:rPr lang="ru-RU"/>
                        <m:t>=</m:t>
                      </m:r>
                      <m:sSup>
                        <m:sSupPr>
                          <m:ctrlPr>
                            <a:rPr lang="ru-RU" i="1"/>
                          </m:ctrlPr>
                        </m:sSupPr>
                        <m:e>
                          <m:r>
                            <a:rPr lang="ru-RU" i="1"/>
                            <m:t>𝛿</m:t>
                          </m:r>
                        </m:e>
                        <m:sup>
                          <m:r>
                            <a:rPr lang="ru-RU"/>
                            <m:t>(</m:t>
                          </m:r>
                          <m:r>
                            <a:rPr lang="ru-RU" i="1"/>
                            <m:t>𝑙</m:t>
                          </m:r>
                          <m:r>
                            <a:rPr lang="ru-RU"/>
                            <m:t>)</m:t>
                          </m:r>
                        </m:sup>
                      </m:sSup>
                      <m:r>
                        <a:rPr lang="ru-RU"/>
                        <m:t>(</m:t>
                      </m:r>
                      <m:sSup>
                        <m:sSupPr>
                          <m:ctrlPr>
                            <a:rPr lang="ru-RU" i="1"/>
                          </m:ctrlPr>
                        </m:sSupPr>
                        <m:e>
                          <m:r>
                            <a:rPr lang="ru-RU" i="1"/>
                            <m:t>h</m:t>
                          </m:r>
                        </m:e>
                        <m:sup>
                          <m:r>
                            <a:rPr lang="ru-RU"/>
                            <m:t>(</m:t>
                          </m:r>
                          <m:r>
                            <a:rPr lang="ru-RU" i="1"/>
                            <m:t>𝑙</m:t>
                          </m:r>
                          <m:r>
                            <a:rPr lang="ru-RU" i="1"/>
                            <m:t>−</m:t>
                          </m:r>
                          <m:r>
                            <a:rPr lang="ru-RU"/>
                            <m:t>1)</m:t>
                          </m:r>
                        </m:sup>
                      </m:sSup>
                      <m:sSup>
                        <m:sSupPr>
                          <m:ctrlPr>
                            <a:rPr lang="ru-RU" i="1"/>
                          </m:ctrlPr>
                        </m:sSupPr>
                        <m:e>
                          <m:r>
                            <a:rPr lang="ru-RU"/>
                            <m:t>)</m:t>
                          </m:r>
                        </m:e>
                        <m:sup>
                          <m:r>
                            <a:rPr lang="ru-RU" i="1"/>
                            <m:t>𝑇</m:t>
                          </m:r>
                        </m:sup>
                      </m:sSup>
                      <m:r>
                        <a:rPr lang="ru-RU"/>
                        <m:t>.</m:t>
                      </m:r>
                    </m:oMath>
                  </m:oMathPara>
                </a14:m>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38</a:t>
            </a:fld>
            <a:endParaRPr lang="ru-RU" noProof="0" dirty="0"/>
          </a:p>
        </p:txBody>
      </p:sp>
    </p:spTree>
    <p:extLst>
      <p:ext uri="{BB962C8B-B14F-4D97-AF65-F5344CB8AC3E}">
        <p14:creationId xmlns:p14="http://schemas.microsoft.com/office/powerpoint/2010/main" val="4146314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Обратное распространение ошибки</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lstStyle/>
              <a:p>
                <a:r>
                  <a:rPr lang="ru-RU" dirty="0"/>
                  <a:t>Аналогично для смещений:</a:t>
                </a:r>
              </a:p>
              <a:p>
                <a:pPr/>
                <a14:m>
                  <m:oMathPara xmlns:m="http://schemas.openxmlformats.org/officeDocument/2006/math">
                    <m:oMathParaPr>
                      <m:jc m:val="centerGroup"/>
                    </m:oMathParaPr>
                    <m:oMath xmlns:m="http://schemas.openxmlformats.org/officeDocument/2006/math">
                      <m:f>
                        <m:fPr>
                          <m:ctrlPr>
                            <a:rPr lang="ru-RU" i="1">
                              <a:latin typeface="Cambria Math" panose="02040503050406030204" pitchFamily="18" charset="0"/>
                            </a:rPr>
                          </m:ctrlPr>
                        </m:fPr>
                        <m:num>
                          <m:r>
                            <a:rPr lang="ru-RU" i="1">
                              <a:latin typeface="Cambria Math" panose="02040503050406030204" pitchFamily="18" charset="0"/>
                            </a:rPr>
                            <m:t>𝜕</m:t>
                          </m:r>
                          <m:r>
                            <a:rPr lang="ru-RU" i="1">
                              <a:latin typeface="Cambria Math" panose="02040503050406030204" pitchFamily="18" charset="0"/>
                            </a:rPr>
                            <m:t>𝐸</m:t>
                          </m:r>
                        </m:num>
                        <m:den>
                          <m:r>
                            <a:rPr lang="ru-RU" i="1">
                              <a:latin typeface="Cambria Math" panose="02040503050406030204" pitchFamily="18" charset="0"/>
                            </a:rPr>
                            <m:t>𝜕</m:t>
                          </m:r>
                          <m:sSubSup>
                            <m:sSubSupPr>
                              <m:ctrlPr>
                                <a:rPr lang="ru-RU" i="1">
                                  <a:latin typeface="Cambria Math" panose="02040503050406030204" pitchFamily="18" charset="0"/>
                                </a:rPr>
                              </m:ctrlPr>
                            </m:sSubSupPr>
                            <m:e>
                              <m:r>
                                <a:rPr lang="ru-RU" i="1">
                                  <a:latin typeface="Cambria Math" panose="02040503050406030204" pitchFamily="18" charset="0"/>
                                </a:rPr>
                                <m:t>𝑏</m:t>
                              </m:r>
                            </m:e>
                            <m:sub>
                              <m:r>
                                <a:rPr lang="ru-RU" i="1">
                                  <a:latin typeface="Cambria Math" panose="02040503050406030204" pitchFamily="18" charset="0"/>
                                </a:rPr>
                                <m:t>𝑖</m:t>
                              </m:r>
                            </m:sub>
                            <m:sup>
                              <m:r>
                                <a:rPr lang="ru-RU">
                                  <a:latin typeface="Cambria Math" panose="02040503050406030204" pitchFamily="18" charset="0"/>
                                </a:rPr>
                                <m:t>(</m:t>
                              </m:r>
                              <m:r>
                                <a:rPr lang="ru-RU" i="1">
                                  <a:latin typeface="Cambria Math" panose="02040503050406030204" pitchFamily="18" charset="0"/>
                                </a:rPr>
                                <m:t>𝑙</m:t>
                              </m:r>
                              <m:r>
                                <a:rPr lang="ru-RU">
                                  <a:latin typeface="Cambria Math" panose="02040503050406030204" pitchFamily="18" charset="0"/>
                                </a:rPr>
                                <m:t>)</m:t>
                              </m:r>
                            </m:sup>
                          </m:sSubSup>
                        </m:den>
                      </m:f>
                      <m:r>
                        <a:rPr lang="ru-RU">
                          <a:latin typeface="Cambria Math" panose="02040503050406030204" pitchFamily="18" charset="0"/>
                        </a:rPr>
                        <m:t>=</m:t>
                      </m:r>
                      <m:nary>
                        <m:naryPr>
                          <m:chr m:val="∑"/>
                          <m:limLoc m:val="undOvr"/>
                          <m:grow m:val="on"/>
                          <m:ctrlPr>
                            <a:rPr lang="ru-RU" i="1">
                              <a:latin typeface="Cambria Math" panose="02040503050406030204" pitchFamily="18" charset="0"/>
                            </a:rPr>
                          </m:ctrlPr>
                        </m:naryPr>
                        <m:sub>
                          <m:r>
                            <a:rPr lang="ru-RU" i="1">
                              <a:latin typeface="Cambria Math" panose="02040503050406030204" pitchFamily="18" charset="0"/>
                            </a:rPr>
                            <m:t>𝑟</m:t>
                          </m:r>
                          <m:r>
                            <a:rPr lang="ru-RU">
                              <a:latin typeface="Cambria Math" panose="02040503050406030204" pitchFamily="18" charset="0"/>
                            </a:rPr>
                            <m:t>=1</m:t>
                          </m:r>
                        </m:sub>
                        <m:sup>
                          <m:sSub>
                            <m:sSubPr>
                              <m:ctrlPr>
                                <a:rPr lang="ru-RU" i="1">
                                  <a:latin typeface="Cambria Math" panose="02040503050406030204" pitchFamily="18" charset="0"/>
                                </a:rPr>
                              </m:ctrlPr>
                            </m:sSubPr>
                            <m:e>
                              <m:r>
                                <a:rPr lang="ru-RU" i="1">
                                  <a:latin typeface="Cambria Math" panose="02040503050406030204" pitchFamily="18" charset="0"/>
                                </a:rPr>
                                <m:t>𝑛</m:t>
                              </m:r>
                            </m:e>
                            <m:sub>
                              <m:r>
                                <a:rPr lang="ru-RU" i="1">
                                  <a:latin typeface="Cambria Math" panose="02040503050406030204" pitchFamily="18" charset="0"/>
                                </a:rPr>
                                <m:t>𝑙</m:t>
                              </m:r>
                            </m:sub>
                          </m:sSub>
                        </m:sup>
                        <m:e>
                          <m:r>
                            <a:rPr lang="ru-RU">
                              <a:latin typeface="Cambria Math" panose="02040503050406030204" pitchFamily="18" charset="0"/>
                            </a:rPr>
                            <m:t> </m:t>
                          </m:r>
                        </m:e>
                      </m:nary>
                      <m:f>
                        <m:fPr>
                          <m:ctrlPr>
                            <a:rPr lang="ru-RU" i="1">
                              <a:latin typeface="Cambria Math" panose="02040503050406030204" pitchFamily="18" charset="0"/>
                            </a:rPr>
                          </m:ctrlPr>
                        </m:fPr>
                        <m:num>
                          <m:r>
                            <a:rPr lang="ru-RU" i="1">
                              <a:latin typeface="Cambria Math" panose="02040503050406030204" pitchFamily="18" charset="0"/>
                            </a:rPr>
                            <m:t>𝜕</m:t>
                          </m:r>
                          <m:r>
                            <a:rPr lang="ru-RU" i="1">
                              <a:latin typeface="Cambria Math" panose="02040503050406030204" pitchFamily="18" charset="0"/>
                            </a:rPr>
                            <m:t>𝐸</m:t>
                          </m:r>
                        </m:num>
                        <m:den>
                          <m:r>
                            <a:rPr lang="ru-RU" i="1">
                              <a:latin typeface="Cambria Math" panose="02040503050406030204" pitchFamily="18" charset="0"/>
                            </a:rPr>
                            <m:t>𝜕</m:t>
                          </m:r>
                          <m:sSubSup>
                            <m:sSubSupPr>
                              <m:ctrlPr>
                                <a:rPr lang="ru-RU" i="1">
                                  <a:latin typeface="Cambria Math" panose="02040503050406030204" pitchFamily="18" charset="0"/>
                                </a:rPr>
                              </m:ctrlPr>
                            </m:sSubSupPr>
                            <m:e>
                              <m:r>
                                <a:rPr lang="ru-RU" i="1">
                                  <a:latin typeface="Cambria Math" panose="02040503050406030204" pitchFamily="18" charset="0"/>
                                </a:rPr>
                                <m:t>𝑧</m:t>
                              </m:r>
                            </m:e>
                            <m:sub>
                              <m:r>
                                <a:rPr lang="ru-RU" i="1">
                                  <a:latin typeface="Cambria Math" panose="02040503050406030204" pitchFamily="18" charset="0"/>
                                </a:rPr>
                                <m:t>𝑟</m:t>
                              </m:r>
                            </m:sub>
                            <m:sup>
                              <m:r>
                                <a:rPr lang="ru-RU">
                                  <a:latin typeface="Cambria Math" panose="02040503050406030204" pitchFamily="18" charset="0"/>
                                </a:rPr>
                                <m:t>(</m:t>
                              </m:r>
                              <m:r>
                                <a:rPr lang="ru-RU" i="1">
                                  <a:latin typeface="Cambria Math" panose="02040503050406030204" pitchFamily="18" charset="0"/>
                                </a:rPr>
                                <m:t>𝑙</m:t>
                              </m:r>
                              <m:r>
                                <a:rPr lang="ru-RU">
                                  <a:latin typeface="Cambria Math" panose="02040503050406030204" pitchFamily="18" charset="0"/>
                                </a:rPr>
                                <m:t>)</m:t>
                              </m:r>
                            </m:sup>
                          </m:sSubSup>
                        </m:den>
                      </m:f>
                      <m:r>
                        <a:rPr lang="ru-RU">
                          <a:latin typeface="Cambria Math" panose="02040503050406030204" pitchFamily="18" charset="0"/>
                        </a:rPr>
                        <m:t>⋅</m:t>
                      </m:r>
                      <m:f>
                        <m:fPr>
                          <m:ctrlPr>
                            <a:rPr lang="ru-RU" i="1">
                              <a:latin typeface="Cambria Math" panose="02040503050406030204" pitchFamily="18" charset="0"/>
                            </a:rPr>
                          </m:ctrlPr>
                        </m:fPr>
                        <m:num>
                          <m:r>
                            <a:rPr lang="ru-RU" i="1">
                              <a:latin typeface="Cambria Math" panose="02040503050406030204" pitchFamily="18" charset="0"/>
                            </a:rPr>
                            <m:t>𝜕</m:t>
                          </m:r>
                          <m:sSubSup>
                            <m:sSubSupPr>
                              <m:ctrlPr>
                                <a:rPr lang="ru-RU" i="1">
                                  <a:latin typeface="Cambria Math" panose="02040503050406030204" pitchFamily="18" charset="0"/>
                                </a:rPr>
                              </m:ctrlPr>
                            </m:sSubSupPr>
                            <m:e>
                              <m:r>
                                <a:rPr lang="ru-RU" i="1">
                                  <a:latin typeface="Cambria Math" panose="02040503050406030204" pitchFamily="18" charset="0"/>
                                </a:rPr>
                                <m:t>𝑧</m:t>
                              </m:r>
                            </m:e>
                            <m:sub>
                              <m:r>
                                <a:rPr lang="ru-RU" i="1">
                                  <a:latin typeface="Cambria Math" panose="02040503050406030204" pitchFamily="18" charset="0"/>
                                </a:rPr>
                                <m:t>𝑟</m:t>
                              </m:r>
                            </m:sub>
                            <m:sup>
                              <m:r>
                                <a:rPr lang="ru-RU">
                                  <a:latin typeface="Cambria Math" panose="02040503050406030204" pitchFamily="18" charset="0"/>
                                </a:rPr>
                                <m:t>(</m:t>
                              </m:r>
                              <m:r>
                                <a:rPr lang="ru-RU" i="1">
                                  <a:latin typeface="Cambria Math" panose="02040503050406030204" pitchFamily="18" charset="0"/>
                                </a:rPr>
                                <m:t>𝑙</m:t>
                              </m:r>
                              <m:r>
                                <a:rPr lang="ru-RU">
                                  <a:latin typeface="Cambria Math" panose="02040503050406030204" pitchFamily="18" charset="0"/>
                                </a:rPr>
                                <m:t>)</m:t>
                              </m:r>
                            </m:sup>
                          </m:sSubSup>
                        </m:num>
                        <m:den>
                          <m:r>
                            <a:rPr lang="ru-RU" i="1">
                              <a:latin typeface="Cambria Math" panose="02040503050406030204" pitchFamily="18" charset="0"/>
                            </a:rPr>
                            <m:t>𝜕</m:t>
                          </m:r>
                          <m:sSubSup>
                            <m:sSubSupPr>
                              <m:ctrlPr>
                                <a:rPr lang="ru-RU" i="1">
                                  <a:latin typeface="Cambria Math" panose="02040503050406030204" pitchFamily="18" charset="0"/>
                                </a:rPr>
                              </m:ctrlPr>
                            </m:sSubSupPr>
                            <m:e>
                              <m:r>
                                <a:rPr lang="ru-RU" i="1">
                                  <a:latin typeface="Cambria Math" panose="02040503050406030204" pitchFamily="18" charset="0"/>
                                </a:rPr>
                                <m:t>𝑏</m:t>
                              </m:r>
                            </m:e>
                            <m:sub>
                              <m:r>
                                <a:rPr lang="ru-RU" i="1">
                                  <a:latin typeface="Cambria Math" panose="02040503050406030204" pitchFamily="18" charset="0"/>
                                </a:rPr>
                                <m:t>𝑖</m:t>
                              </m:r>
                            </m:sub>
                            <m:sup>
                              <m:r>
                                <a:rPr lang="ru-RU">
                                  <a:latin typeface="Cambria Math" panose="02040503050406030204" pitchFamily="18" charset="0"/>
                                </a:rPr>
                                <m:t>(</m:t>
                              </m:r>
                              <m:r>
                                <a:rPr lang="ru-RU" i="1">
                                  <a:latin typeface="Cambria Math" panose="02040503050406030204" pitchFamily="18" charset="0"/>
                                </a:rPr>
                                <m:t>𝑙</m:t>
                              </m:r>
                              <m:r>
                                <a:rPr lang="ru-RU">
                                  <a:latin typeface="Cambria Math" panose="02040503050406030204" pitchFamily="18" charset="0"/>
                                </a:rPr>
                                <m:t>)</m:t>
                              </m:r>
                            </m:sup>
                          </m:sSubSup>
                        </m:den>
                      </m:f>
                      <m:r>
                        <a:rPr lang="ru-RU">
                          <a:latin typeface="Cambria Math" panose="02040503050406030204" pitchFamily="18" charset="0"/>
                        </a:rPr>
                        <m:t>=</m:t>
                      </m:r>
                      <m:sSubSup>
                        <m:sSubSupPr>
                          <m:ctrlPr>
                            <a:rPr lang="ru-RU" i="1">
                              <a:latin typeface="Cambria Math" panose="02040503050406030204" pitchFamily="18" charset="0"/>
                            </a:rPr>
                          </m:ctrlPr>
                        </m:sSubSupPr>
                        <m:e>
                          <m:r>
                            <a:rPr lang="ru-RU" i="1">
                              <a:latin typeface="Cambria Math" panose="02040503050406030204" pitchFamily="18" charset="0"/>
                            </a:rPr>
                            <m:t>𝛿</m:t>
                          </m:r>
                        </m:e>
                        <m:sub>
                          <m:r>
                            <a:rPr lang="ru-RU" i="1">
                              <a:latin typeface="Cambria Math" panose="02040503050406030204" pitchFamily="18" charset="0"/>
                            </a:rPr>
                            <m:t>𝑖</m:t>
                          </m:r>
                        </m:sub>
                        <m:sup>
                          <m:r>
                            <a:rPr lang="ru-RU">
                              <a:latin typeface="Cambria Math" panose="02040503050406030204" pitchFamily="18" charset="0"/>
                            </a:rPr>
                            <m:t>(</m:t>
                          </m:r>
                          <m:r>
                            <a:rPr lang="ru-RU" i="1">
                              <a:latin typeface="Cambria Math" panose="02040503050406030204" pitchFamily="18" charset="0"/>
                            </a:rPr>
                            <m:t>𝑙</m:t>
                          </m:r>
                          <m:r>
                            <a:rPr lang="ru-RU">
                              <a:latin typeface="Cambria Math" panose="02040503050406030204" pitchFamily="18" charset="0"/>
                            </a:rPr>
                            <m:t>)</m:t>
                          </m:r>
                        </m:sup>
                      </m:sSubSup>
                      <m:r>
                        <a:rPr lang="ru-RU">
                          <a:latin typeface="Cambria Math" panose="02040503050406030204" pitchFamily="18" charset="0"/>
                        </a:rPr>
                        <m:t>,</m:t>
                      </m:r>
                    </m:oMath>
                  </m:oMathPara>
                </a14:m>
                <a:endParaRPr lang="ru-RU" dirty="0"/>
              </a:p>
              <a:p>
                <a:r>
                  <a:rPr lang="ru-RU" dirty="0"/>
                  <a:t>так как </a:t>
                </a:r>
                <a14:m>
                  <m:oMath xmlns:m="http://schemas.openxmlformats.org/officeDocument/2006/math">
                    <m:r>
                      <a:rPr lang="ru-RU" i="1">
                        <a:latin typeface="Cambria Math" panose="02040503050406030204" pitchFamily="18" charset="0"/>
                      </a:rPr>
                      <m:t>𝜕</m:t>
                    </m:r>
                    <m:sSubSup>
                      <m:sSubSupPr>
                        <m:ctrlPr>
                          <a:rPr lang="ru-RU" i="1">
                            <a:latin typeface="Cambria Math" panose="02040503050406030204" pitchFamily="18" charset="0"/>
                          </a:rPr>
                        </m:ctrlPr>
                      </m:sSubSupPr>
                      <m:e>
                        <m:r>
                          <a:rPr lang="ru-RU" i="1">
                            <a:latin typeface="Cambria Math" panose="02040503050406030204" pitchFamily="18" charset="0"/>
                          </a:rPr>
                          <m:t>𝑧</m:t>
                        </m:r>
                      </m:e>
                      <m:sub>
                        <m:r>
                          <a:rPr lang="ru-RU" i="1">
                            <a:latin typeface="Cambria Math" panose="02040503050406030204" pitchFamily="18" charset="0"/>
                          </a:rPr>
                          <m:t>𝑟</m:t>
                        </m:r>
                      </m:sub>
                      <m:sup>
                        <m:r>
                          <a:rPr lang="ru-RU">
                            <a:latin typeface="Cambria Math" panose="02040503050406030204" pitchFamily="18" charset="0"/>
                          </a:rPr>
                          <m:t>(</m:t>
                        </m:r>
                        <m:r>
                          <a:rPr lang="ru-RU" i="1">
                            <a:latin typeface="Cambria Math" panose="02040503050406030204" pitchFamily="18" charset="0"/>
                          </a:rPr>
                          <m:t>𝑙</m:t>
                        </m:r>
                        <m:r>
                          <a:rPr lang="ru-RU">
                            <a:latin typeface="Cambria Math" panose="02040503050406030204" pitchFamily="18" charset="0"/>
                          </a:rPr>
                          <m:t>)</m:t>
                        </m:r>
                      </m:sup>
                    </m:sSubSup>
                    <m:r>
                      <a:rPr lang="ru-RU">
                        <a:latin typeface="Cambria Math" panose="02040503050406030204" pitchFamily="18" charset="0"/>
                      </a:rPr>
                      <m:t>/</m:t>
                    </m:r>
                    <m:r>
                      <a:rPr lang="ru-RU" i="1">
                        <a:latin typeface="Cambria Math" panose="02040503050406030204" pitchFamily="18" charset="0"/>
                      </a:rPr>
                      <m:t>𝜕</m:t>
                    </m:r>
                    <m:sSubSup>
                      <m:sSubSupPr>
                        <m:ctrlPr>
                          <a:rPr lang="ru-RU" i="1">
                            <a:latin typeface="Cambria Math" panose="02040503050406030204" pitchFamily="18" charset="0"/>
                          </a:rPr>
                        </m:ctrlPr>
                      </m:sSubSupPr>
                      <m:e>
                        <m:r>
                          <a:rPr lang="ru-RU" i="1">
                            <a:latin typeface="Cambria Math" panose="02040503050406030204" pitchFamily="18" charset="0"/>
                          </a:rPr>
                          <m:t>𝑏</m:t>
                        </m:r>
                      </m:e>
                      <m:sub>
                        <m:r>
                          <a:rPr lang="ru-RU" i="1">
                            <a:latin typeface="Cambria Math" panose="02040503050406030204" pitchFamily="18" charset="0"/>
                          </a:rPr>
                          <m:t>𝑖</m:t>
                        </m:r>
                      </m:sub>
                      <m:sup>
                        <m:r>
                          <a:rPr lang="ru-RU">
                            <a:latin typeface="Cambria Math" panose="02040503050406030204" pitchFamily="18" charset="0"/>
                          </a:rPr>
                          <m:t>(</m:t>
                        </m:r>
                        <m:r>
                          <a:rPr lang="ru-RU" i="1">
                            <a:latin typeface="Cambria Math" panose="02040503050406030204" pitchFamily="18" charset="0"/>
                          </a:rPr>
                          <m:t>𝑙</m:t>
                        </m:r>
                        <m:r>
                          <a:rPr lang="ru-RU">
                            <a:latin typeface="Cambria Math" panose="02040503050406030204" pitchFamily="18" charset="0"/>
                          </a:rPr>
                          <m:t>)</m:t>
                        </m:r>
                      </m:sup>
                    </m:sSubSup>
                    <m:r>
                      <a:rPr lang="ru-RU">
                        <a:latin typeface="Cambria Math" panose="02040503050406030204" pitchFamily="18" charset="0"/>
                      </a:rPr>
                      <m:t>=1</m:t>
                    </m:r>
                  </m:oMath>
                </a14:m>
                <a:r>
                  <a:rPr lang="ru-RU" dirty="0"/>
                  <a:t> при </a:t>
                </a:r>
                <a14:m>
                  <m:oMath xmlns:m="http://schemas.openxmlformats.org/officeDocument/2006/math">
                    <m:r>
                      <a:rPr lang="ru-RU" i="1">
                        <a:latin typeface="Cambria Math" panose="02040503050406030204" pitchFamily="18" charset="0"/>
                      </a:rPr>
                      <m:t>𝑟</m:t>
                    </m:r>
                    <m:r>
                      <a:rPr lang="ru-RU">
                        <a:latin typeface="Cambria Math" panose="02040503050406030204" pitchFamily="18" charset="0"/>
                      </a:rPr>
                      <m:t>=</m:t>
                    </m:r>
                    <m:r>
                      <a:rPr lang="ru-RU" i="1">
                        <a:latin typeface="Cambria Math" panose="02040503050406030204" pitchFamily="18" charset="0"/>
                      </a:rPr>
                      <m:t>𝑖</m:t>
                    </m:r>
                  </m:oMath>
                </a14:m>
                <a:r>
                  <a:rPr lang="ru-RU" dirty="0"/>
                  <a:t> и 0 иначе.</a:t>
                </a:r>
              </a:p>
              <a:p>
                <a:r>
                  <a:rPr lang="ru-RU" dirty="0" err="1" smtClean="0"/>
                  <a:t>Векторно</a:t>
                </a:r>
                <a:r>
                  <a:rPr lang="ru-RU" dirty="0"/>
                  <a:t>:</a:t>
                </a:r>
              </a:p>
              <a:p>
                <a14:m>
                  <m:oMathPara xmlns:m="http://schemas.openxmlformats.org/officeDocument/2006/math">
                    <m:oMathParaPr>
                      <m:jc m:val="centerGroup"/>
                    </m:oMathParaPr>
                    <m:oMath xmlns:m="http://schemas.openxmlformats.org/officeDocument/2006/math">
                      <m:f>
                        <m:fPr>
                          <m:ctrlPr>
                            <a:rPr lang="ru-RU" i="1"/>
                          </m:ctrlPr>
                        </m:fPr>
                        <m:num>
                          <m:r>
                            <a:rPr lang="ru-RU" i="1"/>
                            <m:t>𝜕</m:t>
                          </m:r>
                          <m:r>
                            <a:rPr lang="ru-RU" i="1"/>
                            <m:t>𝐸</m:t>
                          </m:r>
                        </m:num>
                        <m:den>
                          <m:r>
                            <a:rPr lang="ru-RU" i="1"/>
                            <m:t>𝜕</m:t>
                          </m:r>
                          <m:sSup>
                            <m:sSupPr>
                              <m:ctrlPr>
                                <a:rPr lang="ru-RU" i="1"/>
                              </m:ctrlPr>
                            </m:sSupPr>
                            <m:e>
                              <m:r>
                                <a:rPr lang="ru-RU" i="1"/>
                                <m:t>𝑏</m:t>
                              </m:r>
                            </m:e>
                            <m:sup>
                              <m:r>
                                <a:rPr lang="ru-RU"/>
                                <m:t>(</m:t>
                              </m:r>
                              <m:r>
                                <a:rPr lang="ru-RU" i="1"/>
                                <m:t>𝑙</m:t>
                              </m:r>
                              <m:r>
                                <a:rPr lang="ru-RU"/>
                                <m:t>)</m:t>
                              </m:r>
                            </m:sup>
                          </m:sSup>
                        </m:den>
                      </m:f>
                      <m:r>
                        <a:rPr lang="ru-RU"/>
                        <m:t>=</m:t>
                      </m:r>
                      <m:sSup>
                        <m:sSupPr>
                          <m:ctrlPr>
                            <a:rPr lang="ru-RU" i="1"/>
                          </m:ctrlPr>
                        </m:sSupPr>
                        <m:e>
                          <m:r>
                            <a:rPr lang="ru-RU" i="1"/>
                            <m:t>𝛿</m:t>
                          </m:r>
                        </m:e>
                        <m:sup>
                          <m:r>
                            <a:rPr lang="ru-RU"/>
                            <m:t>(</m:t>
                          </m:r>
                          <m:r>
                            <a:rPr lang="ru-RU" i="1"/>
                            <m:t>𝑙</m:t>
                          </m:r>
                          <m:r>
                            <a:rPr lang="ru-RU"/>
                            <m:t>)</m:t>
                          </m:r>
                        </m:sup>
                      </m:sSup>
                      <m:r>
                        <a:rPr lang="ru-RU"/>
                        <m:t>.</m:t>
                      </m:r>
                    </m:oMath>
                  </m:oMathPara>
                </a14:m>
                <a:endParaRPr lang="ru-RU" dirty="0"/>
              </a:p>
              <a:p>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39</a:t>
            </a:fld>
            <a:endParaRPr lang="ru-RU" noProof="0" dirty="0"/>
          </a:p>
        </p:txBody>
      </p:sp>
    </p:spTree>
    <p:extLst>
      <p:ext uri="{BB962C8B-B14F-4D97-AF65-F5344CB8AC3E}">
        <p14:creationId xmlns:p14="http://schemas.microsoft.com/office/powerpoint/2010/main" val="1812643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Обратное распространение ошибки</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lstStyle/>
              <a:p>
                <a:r>
                  <a:rPr lang="ru-RU" b="1" dirty="0"/>
                  <a:t>Шаг 2. Вывод </a:t>
                </a:r>
                <a14:m>
                  <m:oMath xmlns:m="http://schemas.openxmlformats.org/officeDocument/2006/math">
                    <m:sSup>
                      <m:sSupPr>
                        <m:ctrlPr>
                          <a:rPr lang="ru-RU" i="1"/>
                        </m:ctrlPr>
                      </m:sSupPr>
                      <m:e>
                        <m:r>
                          <a:rPr lang="ru-RU" i="1"/>
                          <m:t>𝛿</m:t>
                        </m:r>
                      </m:e>
                      <m:sup>
                        <m:r>
                          <a:rPr lang="ru-RU"/>
                          <m:t>(</m:t>
                        </m:r>
                        <m:r>
                          <a:rPr lang="ru-RU" i="1"/>
                          <m:t>𝐿</m:t>
                        </m:r>
                        <m:r>
                          <a:rPr lang="ru-RU"/>
                          <m:t>)</m:t>
                        </m:r>
                      </m:sup>
                    </m:sSup>
                  </m:oMath>
                </a14:m>
                <a:r>
                  <a:rPr lang="ru-RU" b="1" dirty="0"/>
                  <a:t> для выходного слоя</a:t>
                </a:r>
                <a:endParaRPr lang="ru-RU" dirty="0"/>
              </a:p>
              <a:p>
                <a:r>
                  <a:rPr lang="ru-RU" dirty="0"/>
                  <a:t>Для выходного слоя </a:t>
                </a:r>
                <a14:m>
                  <m:oMath xmlns:m="http://schemas.openxmlformats.org/officeDocument/2006/math">
                    <m:r>
                      <a:rPr lang="ru-RU" i="1"/>
                      <m:t>𝐿</m:t>
                    </m:r>
                  </m:oMath>
                </a14:m>
                <a:r>
                  <a:rPr lang="ru-RU" dirty="0"/>
                  <a:t> используем конкретную форму ошибки.</a:t>
                </a:r>
              </a:p>
              <a:p>
                <a:r>
                  <a:rPr lang="ru-RU" dirty="0"/>
                  <a:t>При MSE:</a:t>
                </a:r>
              </a:p>
              <a:p>
                <a14:m>
                  <m:oMathPara xmlns:m="http://schemas.openxmlformats.org/officeDocument/2006/math">
                    <m:oMathParaPr>
                      <m:jc m:val="centerGroup"/>
                    </m:oMathParaPr>
                    <m:oMath xmlns:m="http://schemas.openxmlformats.org/officeDocument/2006/math">
                      <m:r>
                        <a:rPr lang="ru-RU" i="1"/>
                        <m:t>𝐸</m:t>
                      </m:r>
                      <m:r>
                        <a:rPr lang="ru-RU"/>
                        <m:t>=</m:t>
                      </m:r>
                      <m:f>
                        <m:fPr>
                          <m:ctrlPr>
                            <a:rPr lang="ru-RU" i="1"/>
                          </m:ctrlPr>
                        </m:fPr>
                        <m:num>
                          <m:r>
                            <a:rPr lang="ru-RU"/>
                            <m:t>1</m:t>
                          </m:r>
                        </m:num>
                        <m:den>
                          <m:r>
                            <a:rPr lang="ru-RU"/>
                            <m:t>2</m:t>
                          </m:r>
                        </m:den>
                      </m:f>
                      <m:nary>
                        <m:naryPr>
                          <m:chr m:val="∑"/>
                          <m:limLoc m:val="undOvr"/>
                          <m:grow m:val="on"/>
                          <m:ctrlPr>
                            <a:rPr lang="ru-RU" i="1"/>
                          </m:ctrlPr>
                        </m:naryPr>
                        <m:sub>
                          <m:r>
                            <a:rPr lang="ru-RU" i="1"/>
                            <m:t>𝑘</m:t>
                          </m:r>
                          <m:r>
                            <a:rPr lang="ru-RU"/>
                            <m:t>=1</m:t>
                          </m:r>
                        </m:sub>
                        <m:sup>
                          <m:sSub>
                            <m:sSubPr>
                              <m:ctrlPr>
                                <a:rPr lang="ru-RU" i="1"/>
                              </m:ctrlPr>
                            </m:sSubPr>
                            <m:e>
                              <m:r>
                                <a:rPr lang="ru-RU" i="1"/>
                                <m:t>𝑛</m:t>
                              </m:r>
                            </m:e>
                            <m:sub>
                              <m:r>
                                <a:rPr lang="ru-RU" i="1"/>
                                <m:t>𝐿</m:t>
                              </m:r>
                            </m:sub>
                          </m:sSub>
                        </m:sup>
                        <m:e>
                          <m:r>
                            <a:rPr lang="ru-RU"/>
                            <m:t> </m:t>
                          </m:r>
                        </m:e>
                      </m:nary>
                      <m:r>
                        <a:rPr lang="ru-RU"/>
                        <m:t>(</m:t>
                      </m:r>
                      <m:sSubSup>
                        <m:sSubSupPr>
                          <m:ctrlPr>
                            <a:rPr lang="ru-RU" i="1"/>
                          </m:ctrlPr>
                        </m:sSubSupPr>
                        <m:e>
                          <m:r>
                            <a:rPr lang="ru-RU" i="1"/>
                            <m:t>h</m:t>
                          </m:r>
                        </m:e>
                        <m:sub>
                          <m:r>
                            <a:rPr lang="ru-RU" i="1"/>
                            <m:t>𝑘</m:t>
                          </m:r>
                        </m:sub>
                        <m:sup>
                          <m:r>
                            <a:rPr lang="ru-RU"/>
                            <m:t>(</m:t>
                          </m:r>
                          <m:r>
                            <a:rPr lang="ru-RU" i="1"/>
                            <m:t>𝐿</m:t>
                          </m:r>
                          <m:r>
                            <a:rPr lang="ru-RU"/>
                            <m:t>)</m:t>
                          </m:r>
                        </m:sup>
                      </m:sSubSup>
                      <m:r>
                        <a:rPr lang="ru-RU" i="1"/>
                        <m:t>−</m:t>
                      </m:r>
                      <m:sSub>
                        <m:sSubPr>
                          <m:ctrlPr>
                            <a:rPr lang="ru-RU" i="1"/>
                          </m:ctrlPr>
                        </m:sSubPr>
                        <m:e>
                          <m:r>
                            <a:rPr lang="ru-RU" i="1"/>
                            <m:t>𝑡</m:t>
                          </m:r>
                        </m:e>
                        <m:sub>
                          <m:r>
                            <a:rPr lang="ru-RU" i="1"/>
                            <m:t>𝑘</m:t>
                          </m:r>
                        </m:sub>
                      </m:sSub>
                      <m:sSup>
                        <m:sSupPr>
                          <m:ctrlPr>
                            <a:rPr lang="ru-RU" i="1"/>
                          </m:ctrlPr>
                        </m:sSupPr>
                        <m:e>
                          <m:r>
                            <a:rPr lang="ru-RU"/>
                            <m:t>)</m:t>
                          </m:r>
                        </m:e>
                        <m:sup>
                          <m:r>
                            <a:rPr lang="ru-RU"/>
                            <m:t>2</m:t>
                          </m:r>
                        </m:sup>
                      </m:sSup>
                      <m:r>
                        <a:rPr lang="ru-RU"/>
                        <m:t>.</m:t>
                      </m:r>
                    </m:oMath>
                  </m:oMathPara>
                </a14:m>
                <a:endParaRPr lang="ru-RU" dirty="0"/>
              </a:p>
              <a:p>
                <a:r>
                  <a:rPr lang="ru-RU" dirty="0"/>
                  <a:t>Сначала дифференцируем по </a:t>
                </a:r>
                <a14:m>
                  <m:oMath xmlns:m="http://schemas.openxmlformats.org/officeDocument/2006/math">
                    <m:sSubSup>
                      <m:sSubSupPr>
                        <m:ctrlPr>
                          <a:rPr lang="ru-RU" i="1"/>
                        </m:ctrlPr>
                      </m:sSubSupPr>
                      <m:e>
                        <m:r>
                          <a:rPr lang="ru-RU" i="1"/>
                          <m:t>h</m:t>
                        </m:r>
                      </m:e>
                      <m:sub>
                        <m:r>
                          <a:rPr lang="ru-RU" i="1"/>
                          <m:t>𝑘</m:t>
                        </m:r>
                      </m:sub>
                      <m:sup>
                        <m:r>
                          <a:rPr lang="ru-RU"/>
                          <m:t>(</m:t>
                        </m:r>
                        <m:r>
                          <a:rPr lang="ru-RU" i="1"/>
                          <m:t>𝐿</m:t>
                        </m:r>
                        <m:r>
                          <a:rPr lang="ru-RU"/>
                          <m:t>)</m:t>
                        </m:r>
                      </m:sup>
                    </m:sSubSup>
                  </m:oMath>
                </a14:m>
                <a:r>
                  <a:rPr lang="ru-RU" dirty="0"/>
                  <a:t>:</a:t>
                </a:r>
              </a:p>
              <a:p>
                <a14:m>
                  <m:oMathPara xmlns:m="http://schemas.openxmlformats.org/officeDocument/2006/math">
                    <m:oMathParaPr>
                      <m:jc m:val="centerGroup"/>
                    </m:oMathParaPr>
                    <m:oMath xmlns:m="http://schemas.openxmlformats.org/officeDocument/2006/math">
                      <m:f>
                        <m:fPr>
                          <m:ctrlPr>
                            <a:rPr lang="ru-RU" i="1"/>
                          </m:ctrlPr>
                        </m:fPr>
                        <m:num>
                          <m:r>
                            <a:rPr lang="ru-RU" i="1"/>
                            <m:t>𝜕</m:t>
                          </m:r>
                          <m:r>
                            <a:rPr lang="ru-RU" i="1"/>
                            <m:t>𝐸</m:t>
                          </m:r>
                        </m:num>
                        <m:den>
                          <m:r>
                            <a:rPr lang="ru-RU" i="1"/>
                            <m:t>𝜕</m:t>
                          </m:r>
                          <m:sSubSup>
                            <m:sSubSupPr>
                              <m:ctrlPr>
                                <a:rPr lang="ru-RU" i="1"/>
                              </m:ctrlPr>
                            </m:sSubSupPr>
                            <m:e>
                              <m:r>
                                <a:rPr lang="ru-RU" i="1"/>
                                <m:t>h</m:t>
                              </m:r>
                            </m:e>
                            <m:sub>
                              <m:r>
                                <a:rPr lang="ru-RU" i="1"/>
                                <m:t>𝑘</m:t>
                              </m:r>
                            </m:sub>
                            <m:sup>
                              <m:r>
                                <a:rPr lang="ru-RU"/>
                                <m:t>(</m:t>
                              </m:r>
                              <m:r>
                                <a:rPr lang="ru-RU" i="1"/>
                                <m:t>𝐿</m:t>
                              </m:r>
                              <m:r>
                                <a:rPr lang="ru-RU"/>
                                <m:t>)</m:t>
                              </m:r>
                            </m:sup>
                          </m:sSubSup>
                        </m:den>
                      </m:f>
                      <m:r>
                        <a:rPr lang="ru-RU"/>
                        <m:t>=</m:t>
                      </m:r>
                      <m:sSubSup>
                        <m:sSubSupPr>
                          <m:ctrlPr>
                            <a:rPr lang="ru-RU" i="1"/>
                          </m:ctrlPr>
                        </m:sSubSupPr>
                        <m:e>
                          <m:r>
                            <a:rPr lang="ru-RU" i="1"/>
                            <m:t>h</m:t>
                          </m:r>
                        </m:e>
                        <m:sub>
                          <m:r>
                            <a:rPr lang="ru-RU" i="1"/>
                            <m:t>𝑘</m:t>
                          </m:r>
                        </m:sub>
                        <m:sup>
                          <m:r>
                            <a:rPr lang="ru-RU"/>
                            <m:t>(</m:t>
                          </m:r>
                          <m:r>
                            <a:rPr lang="ru-RU" i="1"/>
                            <m:t>𝐿</m:t>
                          </m:r>
                          <m:r>
                            <a:rPr lang="ru-RU"/>
                            <m:t>)</m:t>
                          </m:r>
                        </m:sup>
                      </m:sSubSup>
                      <m:r>
                        <a:rPr lang="ru-RU" i="1"/>
                        <m:t>−</m:t>
                      </m:r>
                      <m:sSub>
                        <m:sSubPr>
                          <m:ctrlPr>
                            <a:rPr lang="ru-RU" i="1"/>
                          </m:ctrlPr>
                        </m:sSubPr>
                        <m:e>
                          <m:r>
                            <a:rPr lang="ru-RU" i="1"/>
                            <m:t>𝑡</m:t>
                          </m:r>
                        </m:e>
                        <m:sub>
                          <m:r>
                            <a:rPr lang="ru-RU" i="1"/>
                            <m:t>𝑘</m:t>
                          </m:r>
                        </m:sub>
                      </m:sSub>
                      <m:r>
                        <a:rPr lang="ru-RU"/>
                        <m:t>.</m:t>
                      </m:r>
                    </m:oMath>
                  </m:oMathPara>
                </a14:m>
                <a:endParaRPr lang="ru-RU" dirty="0"/>
              </a:p>
              <a:p>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62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40</a:t>
            </a:fld>
            <a:endParaRPr lang="ru-RU" noProof="0" dirty="0"/>
          </a:p>
        </p:txBody>
      </p:sp>
    </p:spTree>
    <p:extLst>
      <p:ext uri="{BB962C8B-B14F-4D97-AF65-F5344CB8AC3E}">
        <p14:creationId xmlns:p14="http://schemas.microsoft.com/office/powerpoint/2010/main" val="3172904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Обратное распространение ошибки</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lstStyle/>
              <a:p>
                <a:r>
                  <a:rPr lang="ru-RU" dirty="0"/>
                  <a:t>Далее применяем правило цепочки:</a:t>
                </a:r>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𝛿</m:t>
                          </m:r>
                        </m:e>
                        <m:sub>
                          <m:r>
                            <a:rPr lang="ru-RU" i="1"/>
                            <m:t>𝑘</m:t>
                          </m:r>
                        </m:sub>
                        <m:sup>
                          <m:r>
                            <a:rPr lang="ru-RU"/>
                            <m:t>(</m:t>
                          </m:r>
                          <m:r>
                            <a:rPr lang="ru-RU" i="1"/>
                            <m:t>𝐿</m:t>
                          </m:r>
                          <m:r>
                            <a:rPr lang="ru-RU"/>
                            <m:t>)</m:t>
                          </m:r>
                        </m:sup>
                      </m:sSubSup>
                      <m:r>
                        <a:rPr lang="ru-RU"/>
                        <m:t>=</m:t>
                      </m:r>
                      <m:f>
                        <m:fPr>
                          <m:ctrlPr>
                            <a:rPr lang="ru-RU" i="1"/>
                          </m:ctrlPr>
                        </m:fPr>
                        <m:num>
                          <m:r>
                            <a:rPr lang="ru-RU" i="1"/>
                            <m:t>𝜕</m:t>
                          </m:r>
                          <m:r>
                            <a:rPr lang="ru-RU" i="1"/>
                            <m:t>𝐸</m:t>
                          </m:r>
                        </m:num>
                        <m:den>
                          <m:r>
                            <a:rPr lang="ru-RU" i="1"/>
                            <m:t>𝜕</m:t>
                          </m:r>
                          <m:sSubSup>
                            <m:sSubSupPr>
                              <m:ctrlPr>
                                <a:rPr lang="ru-RU" i="1"/>
                              </m:ctrlPr>
                            </m:sSubSupPr>
                            <m:e>
                              <m:r>
                                <a:rPr lang="ru-RU" i="1"/>
                                <m:t>𝑧</m:t>
                              </m:r>
                            </m:e>
                            <m:sub>
                              <m:r>
                                <a:rPr lang="ru-RU" i="1"/>
                                <m:t>𝑘</m:t>
                              </m:r>
                            </m:sub>
                            <m:sup>
                              <m:r>
                                <a:rPr lang="ru-RU"/>
                                <m:t>(</m:t>
                              </m:r>
                              <m:r>
                                <a:rPr lang="ru-RU" i="1"/>
                                <m:t>𝐿</m:t>
                              </m:r>
                              <m:r>
                                <a:rPr lang="ru-RU"/>
                                <m:t>)</m:t>
                              </m:r>
                            </m:sup>
                          </m:sSubSup>
                        </m:den>
                      </m:f>
                      <m:r>
                        <a:rPr lang="ru-RU"/>
                        <m:t>=</m:t>
                      </m:r>
                      <m:f>
                        <m:fPr>
                          <m:ctrlPr>
                            <a:rPr lang="ru-RU" i="1"/>
                          </m:ctrlPr>
                        </m:fPr>
                        <m:num>
                          <m:r>
                            <a:rPr lang="ru-RU" i="1"/>
                            <m:t>𝜕</m:t>
                          </m:r>
                          <m:r>
                            <a:rPr lang="ru-RU" i="1"/>
                            <m:t>𝐸</m:t>
                          </m:r>
                        </m:num>
                        <m:den>
                          <m:r>
                            <a:rPr lang="ru-RU" i="1"/>
                            <m:t>𝜕</m:t>
                          </m:r>
                          <m:sSubSup>
                            <m:sSubSupPr>
                              <m:ctrlPr>
                                <a:rPr lang="ru-RU" i="1"/>
                              </m:ctrlPr>
                            </m:sSubSupPr>
                            <m:e>
                              <m:r>
                                <a:rPr lang="ru-RU" i="1"/>
                                <m:t>h</m:t>
                              </m:r>
                            </m:e>
                            <m:sub>
                              <m:r>
                                <a:rPr lang="ru-RU" i="1"/>
                                <m:t>𝑘</m:t>
                              </m:r>
                            </m:sub>
                            <m:sup>
                              <m:r>
                                <a:rPr lang="ru-RU"/>
                                <m:t>(</m:t>
                              </m:r>
                              <m:r>
                                <a:rPr lang="ru-RU" i="1"/>
                                <m:t>𝐿</m:t>
                              </m:r>
                              <m:r>
                                <a:rPr lang="ru-RU"/>
                                <m:t>)</m:t>
                              </m:r>
                            </m:sup>
                          </m:sSubSup>
                        </m:den>
                      </m:f>
                      <m:r>
                        <a:rPr lang="ru-RU"/>
                        <m:t>⋅</m:t>
                      </m:r>
                      <m:f>
                        <m:fPr>
                          <m:ctrlPr>
                            <a:rPr lang="ru-RU" i="1"/>
                          </m:ctrlPr>
                        </m:fPr>
                        <m:num>
                          <m:r>
                            <a:rPr lang="ru-RU" i="1"/>
                            <m:t>𝜕</m:t>
                          </m:r>
                          <m:sSubSup>
                            <m:sSubSupPr>
                              <m:ctrlPr>
                                <a:rPr lang="ru-RU" i="1"/>
                              </m:ctrlPr>
                            </m:sSubSupPr>
                            <m:e>
                              <m:r>
                                <a:rPr lang="ru-RU" i="1"/>
                                <m:t>h</m:t>
                              </m:r>
                            </m:e>
                            <m:sub>
                              <m:r>
                                <a:rPr lang="ru-RU" i="1"/>
                                <m:t>𝑘</m:t>
                              </m:r>
                            </m:sub>
                            <m:sup>
                              <m:r>
                                <a:rPr lang="ru-RU"/>
                                <m:t>(</m:t>
                              </m:r>
                              <m:r>
                                <a:rPr lang="ru-RU" i="1"/>
                                <m:t>𝐿</m:t>
                              </m:r>
                              <m:r>
                                <a:rPr lang="ru-RU"/>
                                <m:t>)</m:t>
                              </m:r>
                            </m:sup>
                          </m:sSubSup>
                        </m:num>
                        <m:den>
                          <m:r>
                            <a:rPr lang="ru-RU" i="1"/>
                            <m:t>𝜕</m:t>
                          </m:r>
                          <m:sSubSup>
                            <m:sSubSupPr>
                              <m:ctrlPr>
                                <a:rPr lang="ru-RU" i="1"/>
                              </m:ctrlPr>
                            </m:sSubSupPr>
                            <m:e>
                              <m:r>
                                <a:rPr lang="ru-RU" i="1"/>
                                <m:t>𝑧</m:t>
                              </m:r>
                            </m:e>
                            <m:sub>
                              <m:r>
                                <a:rPr lang="ru-RU" i="1"/>
                                <m:t>𝑘</m:t>
                              </m:r>
                            </m:sub>
                            <m:sup>
                              <m:r>
                                <a:rPr lang="ru-RU"/>
                                <m:t>(</m:t>
                              </m:r>
                              <m:r>
                                <a:rPr lang="ru-RU" i="1"/>
                                <m:t>𝐿</m:t>
                              </m:r>
                              <m:r>
                                <a:rPr lang="ru-RU"/>
                                <m:t>)</m:t>
                              </m:r>
                            </m:sup>
                          </m:sSubSup>
                        </m:den>
                      </m:f>
                      <m:r>
                        <a:rPr lang="ru-RU"/>
                        <m:t>=(</m:t>
                      </m:r>
                      <m:sSubSup>
                        <m:sSubSupPr>
                          <m:ctrlPr>
                            <a:rPr lang="ru-RU" i="1"/>
                          </m:ctrlPr>
                        </m:sSubSupPr>
                        <m:e>
                          <m:r>
                            <a:rPr lang="ru-RU" i="1"/>
                            <m:t>h</m:t>
                          </m:r>
                        </m:e>
                        <m:sub>
                          <m:r>
                            <a:rPr lang="ru-RU" i="1"/>
                            <m:t>𝑘</m:t>
                          </m:r>
                        </m:sub>
                        <m:sup>
                          <m:r>
                            <a:rPr lang="ru-RU"/>
                            <m:t>(</m:t>
                          </m:r>
                          <m:r>
                            <a:rPr lang="ru-RU" i="1"/>
                            <m:t>𝐿</m:t>
                          </m:r>
                          <m:r>
                            <a:rPr lang="ru-RU"/>
                            <m:t>)</m:t>
                          </m:r>
                        </m:sup>
                      </m:sSubSup>
                      <m:r>
                        <a:rPr lang="ru-RU" i="1"/>
                        <m:t>−</m:t>
                      </m:r>
                      <m:sSub>
                        <m:sSubPr>
                          <m:ctrlPr>
                            <a:rPr lang="ru-RU" i="1"/>
                          </m:ctrlPr>
                        </m:sSubPr>
                        <m:e>
                          <m:r>
                            <a:rPr lang="ru-RU" i="1"/>
                            <m:t>𝑡</m:t>
                          </m:r>
                        </m:e>
                        <m:sub>
                          <m:r>
                            <a:rPr lang="ru-RU" i="1"/>
                            <m:t>𝑘</m:t>
                          </m:r>
                        </m:sub>
                      </m:sSub>
                      <m:r>
                        <a:rPr lang="ru-RU"/>
                        <m:t>)⋅</m:t>
                      </m:r>
                      <m:sSup>
                        <m:sSupPr>
                          <m:ctrlPr>
                            <a:rPr lang="ru-RU" i="1"/>
                          </m:ctrlPr>
                        </m:sSupPr>
                        <m:e>
                          <m:r>
                            <a:rPr lang="ru-RU" i="1"/>
                            <m:t>𝑓</m:t>
                          </m:r>
                        </m:e>
                        <m:sup>
                          <m:r>
                            <a:rPr lang="ru-RU" i="1"/>
                            <m:t>′</m:t>
                          </m:r>
                          <m:r>
                            <a:rPr lang="ru-RU"/>
                            <m:t>(</m:t>
                          </m:r>
                          <m:r>
                            <a:rPr lang="ru-RU" i="1"/>
                            <m:t>𝐿</m:t>
                          </m:r>
                          <m:r>
                            <a:rPr lang="ru-RU"/>
                            <m:t>)</m:t>
                          </m:r>
                        </m:sup>
                      </m:sSup>
                      <m:r>
                        <a:rPr lang="ru-RU"/>
                        <m:t>(</m:t>
                      </m:r>
                      <m:sSubSup>
                        <m:sSubSupPr>
                          <m:ctrlPr>
                            <a:rPr lang="ru-RU" i="1"/>
                          </m:ctrlPr>
                        </m:sSubSupPr>
                        <m:e>
                          <m:r>
                            <a:rPr lang="ru-RU" i="1"/>
                            <m:t>𝑧</m:t>
                          </m:r>
                        </m:e>
                        <m:sub>
                          <m:r>
                            <a:rPr lang="ru-RU" i="1"/>
                            <m:t>𝑘</m:t>
                          </m:r>
                        </m:sub>
                        <m:sup>
                          <m:r>
                            <a:rPr lang="ru-RU"/>
                            <m:t>(</m:t>
                          </m:r>
                          <m:r>
                            <a:rPr lang="ru-RU" i="1"/>
                            <m:t>𝐿</m:t>
                          </m:r>
                          <m:r>
                            <a:rPr lang="ru-RU"/>
                            <m:t>)</m:t>
                          </m:r>
                        </m:sup>
                      </m:sSubSup>
                      <m:r>
                        <a:rPr lang="ru-RU"/>
                        <m:t>),</m:t>
                      </m:r>
                    </m:oMath>
                  </m:oMathPara>
                </a14:m>
                <a:endParaRPr lang="ru-RU" dirty="0"/>
              </a:p>
              <a:p>
                <a:r>
                  <a:rPr lang="ru-RU" dirty="0"/>
                  <a:t>где </a:t>
                </a:r>
                <a14:m>
                  <m:oMath xmlns:m="http://schemas.openxmlformats.org/officeDocument/2006/math">
                    <m:sSup>
                      <m:sSupPr>
                        <m:ctrlPr>
                          <a:rPr lang="ru-RU" i="1"/>
                        </m:ctrlPr>
                      </m:sSupPr>
                      <m:e>
                        <m:r>
                          <a:rPr lang="ru-RU" i="1"/>
                          <m:t>𝑓</m:t>
                        </m:r>
                      </m:e>
                      <m:sup>
                        <m:r>
                          <a:rPr lang="ru-RU" i="1"/>
                          <m:t>′</m:t>
                        </m:r>
                        <m:r>
                          <a:rPr lang="ru-RU"/>
                          <m:t>(</m:t>
                        </m:r>
                        <m:r>
                          <a:rPr lang="ru-RU" i="1"/>
                          <m:t>𝐿</m:t>
                        </m:r>
                        <m:r>
                          <a:rPr lang="ru-RU"/>
                          <m:t>)</m:t>
                        </m:r>
                      </m:sup>
                    </m:sSup>
                  </m:oMath>
                </a14:m>
                <a:r>
                  <a:rPr lang="ru-RU" dirty="0"/>
                  <a:t> — производная функции активации выходного слоя.</a:t>
                </a:r>
              </a:p>
              <a:p>
                <a:r>
                  <a:rPr lang="ru-RU" dirty="0" err="1"/>
                  <a:t>Векторно</a:t>
                </a:r>
                <a:r>
                  <a:rPr lang="ru-RU" dirty="0"/>
                  <a:t>:</a:t>
                </a:r>
              </a:p>
              <a:p>
                <a14:m>
                  <m:oMathPara xmlns:m="http://schemas.openxmlformats.org/officeDocument/2006/math">
                    <m:oMathParaPr>
                      <m:jc m:val="centerGroup"/>
                    </m:oMathParaPr>
                    <m:oMath xmlns:m="http://schemas.openxmlformats.org/officeDocument/2006/math">
                      <m:sSup>
                        <m:sSupPr>
                          <m:ctrlPr>
                            <a:rPr lang="ru-RU" i="1"/>
                          </m:ctrlPr>
                        </m:sSupPr>
                        <m:e>
                          <m:r>
                            <a:rPr lang="ru-RU" i="1"/>
                            <m:t>𝛿</m:t>
                          </m:r>
                        </m:e>
                        <m:sup>
                          <m:r>
                            <a:rPr lang="ru-RU"/>
                            <m:t>(</m:t>
                          </m:r>
                          <m:r>
                            <a:rPr lang="ru-RU" i="1"/>
                            <m:t>𝐿</m:t>
                          </m:r>
                          <m:r>
                            <a:rPr lang="ru-RU"/>
                            <m:t>)</m:t>
                          </m:r>
                        </m:sup>
                      </m:sSup>
                      <m:r>
                        <a:rPr lang="ru-RU"/>
                        <m:t>=(</m:t>
                      </m:r>
                      <m:sSup>
                        <m:sSupPr>
                          <m:ctrlPr>
                            <a:rPr lang="ru-RU" i="1"/>
                          </m:ctrlPr>
                        </m:sSupPr>
                        <m:e>
                          <m:r>
                            <a:rPr lang="ru-RU" i="1"/>
                            <m:t>h</m:t>
                          </m:r>
                        </m:e>
                        <m:sup>
                          <m:r>
                            <a:rPr lang="ru-RU"/>
                            <m:t>(</m:t>
                          </m:r>
                          <m:r>
                            <a:rPr lang="ru-RU" i="1"/>
                            <m:t>𝐿</m:t>
                          </m:r>
                          <m:r>
                            <a:rPr lang="ru-RU"/>
                            <m:t>)</m:t>
                          </m:r>
                        </m:sup>
                      </m:sSup>
                      <m:r>
                        <a:rPr lang="ru-RU" i="1"/>
                        <m:t>−</m:t>
                      </m:r>
                      <m:r>
                        <a:rPr lang="ru-RU" i="1"/>
                        <m:t>𝑡</m:t>
                      </m:r>
                      <m:r>
                        <a:rPr lang="ru-RU"/>
                        <m:t>)⊙</m:t>
                      </m:r>
                      <m:sSup>
                        <m:sSupPr>
                          <m:ctrlPr>
                            <a:rPr lang="ru-RU" i="1"/>
                          </m:ctrlPr>
                        </m:sSupPr>
                        <m:e>
                          <m:r>
                            <a:rPr lang="ru-RU" i="1"/>
                            <m:t>𝑓</m:t>
                          </m:r>
                        </m:e>
                        <m:sup>
                          <m:r>
                            <a:rPr lang="ru-RU" i="1"/>
                            <m:t>′</m:t>
                          </m:r>
                          <m:r>
                            <a:rPr lang="ru-RU"/>
                            <m:t>(</m:t>
                          </m:r>
                          <m:r>
                            <a:rPr lang="ru-RU" i="1"/>
                            <m:t>𝐿</m:t>
                          </m:r>
                          <m:r>
                            <a:rPr lang="ru-RU"/>
                            <m:t>)</m:t>
                          </m:r>
                        </m:sup>
                      </m:sSup>
                      <m:r>
                        <a:rPr lang="ru-RU"/>
                        <m:t>(</m:t>
                      </m:r>
                      <m:sSup>
                        <m:sSupPr>
                          <m:ctrlPr>
                            <a:rPr lang="ru-RU" i="1"/>
                          </m:ctrlPr>
                        </m:sSupPr>
                        <m:e>
                          <m:r>
                            <a:rPr lang="ru-RU" i="1"/>
                            <m:t>𝑧</m:t>
                          </m:r>
                        </m:e>
                        <m:sup>
                          <m:r>
                            <a:rPr lang="ru-RU"/>
                            <m:t>(</m:t>
                          </m:r>
                          <m:r>
                            <a:rPr lang="ru-RU" i="1"/>
                            <m:t>𝐿</m:t>
                          </m:r>
                          <m:r>
                            <a:rPr lang="ru-RU"/>
                            <m:t>)</m:t>
                          </m:r>
                        </m:sup>
                      </m:sSup>
                      <m:r>
                        <a:rPr lang="ru-RU"/>
                        <m:t>),</m:t>
                      </m:r>
                    </m:oMath>
                  </m:oMathPara>
                </a14:m>
                <a:endParaRPr lang="ru-RU" dirty="0"/>
              </a:p>
              <a:p>
                <a:r>
                  <a:rPr lang="ru-RU" dirty="0"/>
                  <a:t>где </a:t>
                </a:r>
                <a14:m>
                  <m:oMath xmlns:m="http://schemas.openxmlformats.org/officeDocument/2006/math">
                    <m:r>
                      <a:rPr lang="ru-RU"/>
                      <m:t>⊙</m:t>
                    </m:r>
                  </m:oMath>
                </a14:m>
                <a:r>
                  <a:rPr lang="ru-RU" dirty="0"/>
                  <a:t> — покомпонентное (</a:t>
                </a:r>
                <a:r>
                  <a:rPr lang="ru-RU" dirty="0" err="1"/>
                  <a:t>Хадамардово</a:t>
                </a:r>
                <a:r>
                  <a:rPr lang="ru-RU" dirty="0"/>
                  <a:t>) произведение.</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41</a:t>
            </a:fld>
            <a:endParaRPr lang="ru-RU" noProof="0" dirty="0"/>
          </a:p>
        </p:txBody>
      </p:sp>
    </p:spTree>
    <p:extLst>
      <p:ext uri="{BB962C8B-B14F-4D97-AF65-F5344CB8AC3E}">
        <p14:creationId xmlns:p14="http://schemas.microsoft.com/office/powerpoint/2010/main" val="438090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Обратное распространение ошибки</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fontScale="92500" lnSpcReduction="10000"/>
              </a:bodyPr>
              <a:lstStyle/>
              <a:p>
                <a:r>
                  <a:rPr lang="ru-RU" b="1" dirty="0"/>
                  <a:t>Шаг 3. Рекурсивная формула </a:t>
                </a:r>
                <a14:m>
                  <m:oMath xmlns:m="http://schemas.openxmlformats.org/officeDocument/2006/math">
                    <m:sSup>
                      <m:sSupPr>
                        <m:ctrlPr>
                          <a:rPr lang="ru-RU" i="1"/>
                        </m:ctrlPr>
                      </m:sSupPr>
                      <m:e>
                        <m:r>
                          <a:rPr lang="ru-RU" i="1"/>
                          <m:t>𝛿</m:t>
                        </m:r>
                      </m:e>
                      <m:sup>
                        <m:r>
                          <a:rPr lang="ru-RU"/>
                          <m:t>(</m:t>
                        </m:r>
                        <m:r>
                          <a:rPr lang="ru-RU" i="1"/>
                          <m:t>𝑙</m:t>
                        </m:r>
                        <m:r>
                          <a:rPr lang="ru-RU"/>
                          <m:t>)</m:t>
                        </m:r>
                      </m:sup>
                    </m:sSup>
                  </m:oMath>
                </a14:m>
                <a:r>
                  <a:rPr lang="ru-RU" b="1" dirty="0"/>
                  <a:t> для скрытых слоёв</a:t>
                </a:r>
                <a:endParaRPr lang="ru-RU" dirty="0"/>
              </a:p>
              <a:p>
                <a:r>
                  <a:rPr lang="ru-RU" dirty="0"/>
                  <a:t>Для скрытого слоя </a:t>
                </a:r>
                <a14:m>
                  <m:oMath xmlns:m="http://schemas.openxmlformats.org/officeDocument/2006/math">
                    <m:r>
                      <a:rPr lang="ru-RU" i="1"/>
                      <m:t>𝑙</m:t>
                    </m:r>
                    <m:r>
                      <a:rPr lang="ru-RU"/>
                      <m:t>&lt;</m:t>
                    </m:r>
                    <m:r>
                      <a:rPr lang="ru-RU" i="1"/>
                      <m:t>𝐿</m:t>
                    </m:r>
                  </m:oMath>
                </a14:m>
                <a:r>
                  <a:rPr lang="ru-RU" dirty="0"/>
                  <a:t> нужно выразить </a:t>
                </a:r>
                <a14:m>
                  <m:oMath xmlns:m="http://schemas.openxmlformats.org/officeDocument/2006/math">
                    <m:sSup>
                      <m:sSupPr>
                        <m:ctrlPr>
                          <a:rPr lang="ru-RU" i="1"/>
                        </m:ctrlPr>
                      </m:sSupPr>
                      <m:e>
                        <m:r>
                          <a:rPr lang="ru-RU" i="1"/>
                          <m:t>𝛿</m:t>
                        </m:r>
                      </m:e>
                      <m:sup>
                        <m:r>
                          <a:rPr lang="ru-RU"/>
                          <m:t>(</m:t>
                        </m:r>
                        <m:r>
                          <a:rPr lang="ru-RU" i="1"/>
                          <m:t>𝑙</m:t>
                        </m:r>
                        <m:r>
                          <a:rPr lang="ru-RU"/>
                          <m:t>)</m:t>
                        </m:r>
                      </m:sup>
                    </m:sSup>
                  </m:oMath>
                </a14:m>
                <a:r>
                  <a:rPr lang="ru-RU" dirty="0"/>
                  <a:t> через </a:t>
                </a:r>
                <a14:m>
                  <m:oMath xmlns:m="http://schemas.openxmlformats.org/officeDocument/2006/math">
                    <m:sSup>
                      <m:sSupPr>
                        <m:ctrlPr>
                          <a:rPr lang="ru-RU" i="1"/>
                        </m:ctrlPr>
                      </m:sSupPr>
                      <m:e>
                        <m:r>
                          <a:rPr lang="ru-RU" i="1"/>
                          <m:t>𝛿</m:t>
                        </m:r>
                      </m:e>
                      <m:sup>
                        <m:r>
                          <a:rPr lang="ru-RU"/>
                          <m:t>(</m:t>
                        </m:r>
                        <m:r>
                          <a:rPr lang="ru-RU" i="1"/>
                          <m:t>𝑙</m:t>
                        </m:r>
                        <m:r>
                          <a:rPr lang="ru-RU"/>
                          <m:t>+1)</m:t>
                        </m:r>
                      </m:sup>
                    </m:sSup>
                  </m:oMath>
                </a14:m>
                <a:r>
                  <a:rPr lang="ru-RU" dirty="0"/>
                  <a:t>.</a:t>
                </a:r>
              </a:p>
              <a:p>
                <a:r>
                  <a:rPr lang="ru-RU" dirty="0"/>
                  <a:t>Пишем:</a:t>
                </a:r>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𝛿</m:t>
                          </m:r>
                        </m:e>
                        <m:sub>
                          <m:r>
                            <a:rPr lang="ru-RU" i="1"/>
                            <m:t>𝑖</m:t>
                          </m:r>
                        </m:sub>
                        <m:sup>
                          <m:r>
                            <a:rPr lang="ru-RU"/>
                            <m:t>(</m:t>
                          </m:r>
                          <m:r>
                            <a:rPr lang="ru-RU" i="1"/>
                            <m:t>𝑙</m:t>
                          </m:r>
                          <m:r>
                            <a:rPr lang="ru-RU"/>
                            <m:t>)</m:t>
                          </m:r>
                        </m:sup>
                      </m:sSubSup>
                      <m:r>
                        <a:rPr lang="ru-RU"/>
                        <m:t>=</m:t>
                      </m:r>
                      <m:f>
                        <m:fPr>
                          <m:ctrlPr>
                            <a:rPr lang="ru-RU" i="1"/>
                          </m:ctrlPr>
                        </m:fPr>
                        <m:num>
                          <m:r>
                            <a:rPr lang="ru-RU" i="1"/>
                            <m:t>𝜕</m:t>
                          </m:r>
                          <m:r>
                            <a:rPr lang="ru-RU" i="1"/>
                            <m:t>𝐸</m:t>
                          </m:r>
                        </m:num>
                        <m:den>
                          <m:r>
                            <a:rPr lang="ru-RU" i="1"/>
                            <m:t>𝜕</m:t>
                          </m:r>
                          <m:sSubSup>
                            <m:sSubSupPr>
                              <m:ctrlPr>
                                <a:rPr lang="ru-RU" i="1"/>
                              </m:ctrlPr>
                            </m:sSubSupPr>
                            <m:e>
                              <m:r>
                                <a:rPr lang="ru-RU" i="1"/>
                                <m:t>𝑧</m:t>
                              </m:r>
                            </m:e>
                            <m:sub>
                              <m:r>
                                <a:rPr lang="ru-RU" i="1"/>
                                <m:t>𝑖</m:t>
                              </m:r>
                            </m:sub>
                            <m:sup>
                              <m:r>
                                <a:rPr lang="ru-RU"/>
                                <m:t>(</m:t>
                              </m:r>
                              <m:r>
                                <a:rPr lang="ru-RU" i="1"/>
                                <m:t>𝑙</m:t>
                              </m:r>
                              <m:r>
                                <a:rPr lang="ru-RU"/>
                                <m:t>)</m:t>
                              </m:r>
                            </m:sup>
                          </m:sSubSup>
                        </m:den>
                      </m:f>
                      <m:r>
                        <a:rPr lang="ru-RU"/>
                        <m:t>.</m:t>
                      </m:r>
                    </m:oMath>
                  </m:oMathPara>
                </a14:m>
                <a:endParaRPr lang="ru-RU" dirty="0"/>
              </a:p>
              <a:p>
                <a:r>
                  <a:rPr lang="ru-RU" dirty="0"/>
                  <a:t>Используем, что </a:t>
                </a:r>
                <a14:m>
                  <m:oMath xmlns:m="http://schemas.openxmlformats.org/officeDocument/2006/math">
                    <m:sSup>
                      <m:sSupPr>
                        <m:ctrlPr>
                          <a:rPr lang="ru-RU" i="1"/>
                        </m:ctrlPr>
                      </m:sSupPr>
                      <m:e>
                        <m:r>
                          <a:rPr lang="ru-RU" i="1"/>
                          <m:t>𝑧</m:t>
                        </m:r>
                      </m:e>
                      <m:sup>
                        <m:r>
                          <a:rPr lang="ru-RU"/>
                          <m:t>(</m:t>
                        </m:r>
                        <m:r>
                          <a:rPr lang="ru-RU" i="1"/>
                          <m:t>𝑙</m:t>
                        </m:r>
                        <m:r>
                          <a:rPr lang="ru-RU"/>
                          <m:t>)</m:t>
                        </m:r>
                      </m:sup>
                    </m:sSup>
                  </m:oMath>
                </a14:m>
                <a:r>
                  <a:rPr lang="ru-RU" dirty="0"/>
                  <a:t> влияет на ошибку только через </a:t>
                </a:r>
                <a14:m>
                  <m:oMath xmlns:m="http://schemas.openxmlformats.org/officeDocument/2006/math">
                    <m:sSup>
                      <m:sSupPr>
                        <m:ctrlPr>
                          <a:rPr lang="ru-RU" i="1"/>
                        </m:ctrlPr>
                      </m:sSupPr>
                      <m:e>
                        <m:r>
                          <a:rPr lang="ru-RU" i="1"/>
                          <m:t>𝑧</m:t>
                        </m:r>
                      </m:e>
                      <m:sup>
                        <m:r>
                          <a:rPr lang="ru-RU"/>
                          <m:t>(</m:t>
                        </m:r>
                        <m:r>
                          <a:rPr lang="ru-RU" i="1"/>
                          <m:t>𝑙</m:t>
                        </m:r>
                        <m:r>
                          <a:rPr lang="ru-RU"/>
                          <m:t>+1)</m:t>
                        </m:r>
                      </m:sup>
                    </m:sSup>
                    <m:r>
                      <a:rPr lang="ru-RU"/>
                      <m:t>,</m:t>
                    </m:r>
                    <m:sSup>
                      <m:sSupPr>
                        <m:ctrlPr>
                          <a:rPr lang="ru-RU" i="1"/>
                        </m:ctrlPr>
                      </m:sSupPr>
                      <m:e>
                        <m:r>
                          <a:rPr lang="ru-RU" i="1"/>
                          <m:t>𝑧</m:t>
                        </m:r>
                      </m:e>
                      <m:sup>
                        <m:r>
                          <a:rPr lang="ru-RU"/>
                          <m:t>(</m:t>
                        </m:r>
                        <m:r>
                          <a:rPr lang="ru-RU" i="1"/>
                          <m:t>𝑙</m:t>
                        </m:r>
                        <m:r>
                          <a:rPr lang="ru-RU"/>
                          <m:t>+2)</m:t>
                        </m:r>
                      </m:sup>
                    </m:sSup>
                    <m:r>
                      <a:rPr lang="ru-RU"/>
                      <m:t>,…,</m:t>
                    </m:r>
                    <m:sSup>
                      <m:sSupPr>
                        <m:ctrlPr>
                          <a:rPr lang="ru-RU" i="1"/>
                        </m:ctrlPr>
                      </m:sSupPr>
                      <m:e>
                        <m:r>
                          <a:rPr lang="ru-RU" i="1"/>
                          <m:t>𝑧</m:t>
                        </m:r>
                      </m:e>
                      <m:sup>
                        <m:r>
                          <a:rPr lang="ru-RU"/>
                          <m:t>(</m:t>
                        </m:r>
                        <m:r>
                          <a:rPr lang="ru-RU" i="1"/>
                          <m:t>𝐿</m:t>
                        </m:r>
                        <m:r>
                          <a:rPr lang="ru-RU"/>
                          <m:t>)</m:t>
                        </m:r>
                      </m:sup>
                    </m:sSup>
                  </m:oMath>
                </a14:m>
                <a:r>
                  <a:rPr lang="ru-RU" dirty="0"/>
                  <a:t>. Но в </a:t>
                </a:r>
                <a:r>
                  <a:rPr lang="ru-RU" dirty="0" err="1"/>
                  <a:t>feedforward</a:t>
                </a:r>
                <a:r>
                  <a:rPr lang="ru-RU" dirty="0"/>
                  <a:t>-сети с линейным слоем и покомпонентной активацией удобно идти шаг за шагом:</a:t>
                </a:r>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𝛿</m:t>
                          </m:r>
                        </m:e>
                        <m:sub>
                          <m:r>
                            <a:rPr lang="ru-RU" i="1"/>
                            <m:t>𝑖</m:t>
                          </m:r>
                        </m:sub>
                        <m:sup>
                          <m:r>
                            <a:rPr lang="ru-RU"/>
                            <m:t>(</m:t>
                          </m:r>
                          <m:r>
                            <a:rPr lang="ru-RU" i="1"/>
                            <m:t>𝑙</m:t>
                          </m:r>
                          <m:r>
                            <a:rPr lang="ru-RU"/>
                            <m:t>)</m:t>
                          </m:r>
                        </m:sup>
                      </m:sSubSup>
                      <m:r>
                        <a:rPr lang="ru-RU"/>
                        <m:t>=</m:t>
                      </m:r>
                      <m:nary>
                        <m:naryPr>
                          <m:chr m:val="∑"/>
                          <m:limLoc m:val="undOvr"/>
                          <m:grow m:val="on"/>
                          <m:ctrlPr>
                            <a:rPr lang="ru-RU" i="1"/>
                          </m:ctrlPr>
                        </m:naryPr>
                        <m:sub>
                          <m:r>
                            <a:rPr lang="ru-RU" i="1"/>
                            <m:t>𝑗</m:t>
                          </m:r>
                          <m:r>
                            <a:rPr lang="ru-RU"/>
                            <m:t>=1</m:t>
                          </m:r>
                        </m:sub>
                        <m:sup>
                          <m:sSub>
                            <m:sSubPr>
                              <m:ctrlPr>
                                <a:rPr lang="ru-RU" i="1"/>
                              </m:ctrlPr>
                            </m:sSubPr>
                            <m:e>
                              <m:r>
                                <a:rPr lang="ru-RU" i="1"/>
                                <m:t>𝑛</m:t>
                              </m:r>
                            </m:e>
                            <m:sub>
                              <m:r>
                                <a:rPr lang="ru-RU" i="1"/>
                                <m:t>𝑙</m:t>
                              </m:r>
                              <m:r>
                                <a:rPr lang="ru-RU"/>
                                <m:t>+1</m:t>
                              </m:r>
                            </m:sub>
                          </m:sSub>
                        </m:sup>
                        <m:e>
                          <m:r>
                            <a:rPr lang="ru-RU"/>
                            <m:t> </m:t>
                          </m:r>
                        </m:e>
                      </m:nary>
                      <m:f>
                        <m:fPr>
                          <m:ctrlPr>
                            <a:rPr lang="ru-RU" i="1"/>
                          </m:ctrlPr>
                        </m:fPr>
                        <m:num>
                          <m:r>
                            <a:rPr lang="ru-RU" i="1"/>
                            <m:t>𝜕</m:t>
                          </m:r>
                          <m:r>
                            <a:rPr lang="ru-RU" i="1"/>
                            <m:t>𝐸</m:t>
                          </m:r>
                        </m:num>
                        <m:den>
                          <m:r>
                            <a:rPr lang="ru-RU" i="1"/>
                            <m:t>𝜕</m:t>
                          </m:r>
                          <m:sSubSup>
                            <m:sSubSupPr>
                              <m:ctrlPr>
                                <a:rPr lang="ru-RU" i="1"/>
                              </m:ctrlPr>
                            </m:sSubSupPr>
                            <m:e>
                              <m:r>
                                <a:rPr lang="ru-RU" i="1"/>
                                <m:t>𝑧</m:t>
                              </m:r>
                            </m:e>
                            <m:sub>
                              <m:r>
                                <a:rPr lang="ru-RU" i="1"/>
                                <m:t>𝑗</m:t>
                              </m:r>
                            </m:sub>
                            <m:sup>
                              <m:r>
                                <a:rPr lang="ru-RU"/>
                                <m:t>(</m:t>
                              </m:r>
                              <m:r>
                                <a:rPr lang="ru-RU" i="1"/>
                                <m:t>𝑙</m:t>
                              </m:r>
                              <m:r>
                                <a:rPr lang="ru-RU"/>
                                <m:t>+1)</m:t>
                              </m:r>
                            </m:sup>
                          </m:sSubSup>
                        </m:den>
                      </m:f>
                      <m:r>
                        <a:rPr lang="ru-RU"/>
                        <m:t>⋅</m:t>
                      </m:r>
                      <m:f>
                        <m:fPr>
                          <m:ctrlPr>
                            <a:rPr lang="ru-RU" i="1"/>
                          </m:ctrlPr>
                        </m:fPr>
                        <m:num>
                          <m:r>
                            <a:rPr lang="ru-RU" i="1"/>
                            <m:t>𝜕</m:t>
                          </m:r>
                          <m:sSubSup>
                            <m:sSubSupPr>
                              <m:ctrlPr>
                                <a:rPr lang="ru-RU" i="1"/>
                              </m:ctrlPr>
                            </m:sSubSupPr>
                            <m:e>
                              <m:r>
                                <a:rPr lang="ru-RU" i="1"/>
                                <m:t>𝑧</m:t>
                              </m:r>
                            </m:e>
                            <m:sub>
                              <m:r>
                                <a:rPr lang="ru-RU" i="1"/>
                                <m:t>𝑗</m:t>
                              </m:r>
                            </m:sub>
                            <m:sup>
                              <m:r>
                                <a:rPr lang="ru-RU"/>
                                <m:t>(</m:t>
                              </m:r>
                              <m:r>
                                <a:rPr lang="ru-RU" i="1"/>
                                <m:t>𝑙</m:t>
                              </m:r>
                              <m:r>
                                <a:rPr lang="ru-RU"/>
                                <m:t>+1)</m:t>
                              </m:r>
                            </m:sup>
                          </m:sSubSup>
                        </m:num>
                        <m:den>
                          <m:r>
                            <a:rPr lang="ru-RU" i="1"/>
                            <m:t>𝜕</m:t>
                          </m:r>
                          <m:sSubSup>
                            <m:sSubSupPr>
                              <m:ctrlPr>
                                <a:rPr lang="ru-RU" i="1"/>
                              </m:ctrlPr>
                            </m:sSubSupPr>
                            <m:e>
                              <m:r>
                                <a:rPr lang="ru-RU" i="1"/>
                                <m:t>𝑧</m:t>
                              </m:r>
                            </m:e>
                            <m:sub>
                              <m:r>
                                <a:rPr lang="ru-RU" i="1"/>
                                <m:t>𝑖</m:t>
                              </m:r>
                            </m:sub>
                            <m:sup>
                              <m:r>
                                <a:rPr lang="ru-RU"/>
                                <m:t>(</m:t>
                              </m:r>
                              <m:r>
                                <a:rPr lang="ru-RU" i="1"/>
                                <m:t>𝑙</m:t>
                              </m:r>
                              <m:r>
                                <a:rPr lang="ru-RU"/>
                                <m:t>)</m:t>
                              </m:r>
                            </m:sup>
                          </m:sSubSup>
                        </m:den>
                      </m:f>
                      <m:r>
                        <a:rPr lang="ru-RU"/>
                        <m:t>=</m:t>
                      </m:r>
                      <m:nary>
                        <m:naryPr>
                          <m:chr m:val="∑"/>
                          <m:limLoc m:val="undOvr"/>
                          <m:grow m:val="on"/>
                          <m:ctrlPr>
                            <a:rPr lang="ru-RU" i="1"/>
                          </m:ctrlPr>
                        </m:naryPr>
                        <m:sub>
                          <m:r>
                            <a:rPr lang="ru-RU" i="1"/>
                            <m:t>𝑗</m:t>
                          </m:r>
                          <m:r>
                            <a:rPr lang="ru-RU"/>
                            <m:t>=1</m:t>
                          </m:r>
                        </m:sub>
                        <m:sup>
                          <m:sSub>
                            <m:sSubPr>
                              <m:ctrlPr>
                                <a:rPr lang="ru-RU" i="1"/>
                              </m:ctrlPr>
                            </m:sSubPr>
                            <m:e>
                              <m:r>
                                <a:rPr lang="ru-RU" i="1"/>
                                <m:t>𝑛</m:t>
                              </m:r>
                            </m:e>
                            <m:sub>
                              <m:r>
                                <a:rPr lang="ru-RU" i="1"/>
                                <m:t>𝑙</m:t>
                              </m:r>
                              <m:r>
                                <a:rPr lang="ru-RU"/>
                                <m:t>+1</m:t>
                              </m:r>
                            </m:sub>
                          </m:sSub>
                        </m:sup>
                        <m:e>
                          <m:r>
                            <a:rPr lang="ru-RU"/>
                            <m:t> </m:t>
                          </m:r>
                        </m:e>
                      </m:nary>
                      <m:sSubSup>
                        <m:sSubSupPr>
                          <m:ctrlPr>
                            <a:rPr lang="ru-RU" i="1"/>
                          </m:ctrlPr>
                        </m:sSubSupPr>
                        <m:e>
                          <m:r>
                            <a:rPr lang="ru-RU" i="1"/>
                            <m:t>𝛿</m:t>
                          </m:r>
                        </m:e>
                        <m:sub>
                          <m:r>
                            <a:rPr lang="ru-RU" i="1"/>
                            <m:t>𝑗</m:t>
                          </m:r>
                        </m:sub>
                        <m:sup>
                          <m:r>
                            <a:rPr lang="ru-RU"/>
                            <m:t>(</m:t>
                          </m:r>
                          <m:r>
                            <a:rPr lang="ru-RU" i="1"/>
                            <m:t>𝑙</m:t>
                          </m:r>
                          <m:r>
                            <a:rPr lang="ru-RU"/>
                            <m:t>+1)</m:t>
                          </m:r>
                        </m:sup>
                      </m:sSubSup>
                      <m:r>
                        <a:rPr lang="ru-RU"/>
                        <m:t>⋅</m:t>
                      </m:r>
                      <m:f>
                        <m:fPr>
                          <m:ctrlPr>
                            <a:rPr lang="ru-RU" i="1"/>
                          </m:ctrlPr>
                        </m:fPr>
                        <m:num>
                          <m:r>
                            <a:rPr lang="ru-RU" i="1"/>
                            <m:t>𝜕</m:t>
                          </m:r>
                          <m:sSubSup>
                            <m:sSubSupPr>
                              <m:ctrlPr>
                                <a:rPr lang="ru-RU" i="1"/>
                              </m:ctrlPr>
                            </m:sSubSupPr>
                            <m:e>
                              <m:r>
                                <a:rPr lang="ru-RU" i="1"/>
                                <m:t>𝑧</m:t>
                              </m:r>
                            </m:e>
                            <m:sub>
                              <m:r>
                                <a:rPr lang="ru-RU" i="1"/>
                                <m:t>𝑗</m:t>
                              </m:r>
                            </m:sub>
                            <m:sup>
                              <m:r>
                                <a:rPr lang="ru-RU"/>
                                <m:t>(</m:t>
                              </m:r>
                              <m:r>
                                <a:rPr lang="ru-RU" i="1"/>
                                <m:t>𝑙</m:t>
                              </m:r>
                              <m:r>
                                <a:rPr lang="ru-RU"/>
                                <m:t>+1)</m:t>
                              </m:r>
                            </m:sup>
                          </m:sSubSup>
                        </m:num>
                        <m:den>
                          <m:r>
                            <a:rPr lang="ru-RU" i="1"/>
                            <m:t>𝜕</m:t>
                          </m:r>
                          <m:sSubSup>
                            <m:sSubSupPr>
                              <m:ctrlPr>
                                <a:rPr lang="ru-RU" i="1"/>
                              </m:ctrlPr>
                            </m:sSubSupPr>
                            <m:e>
                              <m:r>
                                <a:rPr lang="ru-RU" i="1"/>
                                <m:t>𝑧</m:t>
                              </m:r>
                            </m:e>
                            <m:sub>
                              <m:r>
                                <a:rPr lang="ru-RU" i="1"/>
                                <m:t>𝑖</m:t>
                              </m:r>
                            </m:sub>
                            <m:sup>
                              <m:r>
                                <a:rPr lang="ru-RU"/>
                                <m:t>(</m:t>
                              </m:r>
                              <m:r>
                                <a:rPr lang="ru-RU" i="1"/>
                                <m:t>𝑙</m:t>
                              </m:r>
                              <m:r>
                                <a:rPr lang="ru-RU"/>
                                <m:t>)</m:t>
                              </m:r>
                            </m:sup>
                          </m:sSubSup>
                        </m:den>
                      </m:f>
                      <m:r>
                        <a:rPr lang="ru-RU"/>
                        <m:t>.</m:t>
                      </m:r>
                    </m:oMath>
                  </m:oMathPara>
                </a14:m>
                <a:endParaRPr lang="ru-RU" dirty="0"/>
              </a:p>
              <a:p>
                <a:r>
                  <a:rPr lang="ru-RU" dirty="0"/>
                  <a:t>Теперь распишем </a:t>
                </a:r>
                <a14:m>
                  <m:oMath xmlns:m="http://schemas.openxmlformats.org/officeDocument/2006/math">
                    <m:sSup>
                      <m:sSupPr>
                        <m:ctrlPr>
                          <a:rPr lang="ru-RU" i="1"/>
                        </m:ctrlPr>
                      </m:sSupPr>
                      <m:e>
                        <m:r>
                          <a:rPr lang="ru-RU" i="1"/>
                          <m:t>𝑧</m:t>
                        </m:r>
                      </m:e>
                      <m:sup>
                        <m:r>
                          <a:rPr lang="ru-RU"/>
                          <m:t>(</m:t>
                        </m:r>
                        <m:r>
                          <a:rPr lang="ru-RU" i="1"/>
                          <m:t>𝑙</m:t>
                        </m:r>
                        <m:r>
                          <a:rPr lang="ru-RU"/>
                          <m:t>+1)</m:t>
                        </m:r>
                      </m:sup>
                    </m:sSup>
                  </m:oMath>
                </a14:m>
                <a:r>
                  <a:rPr lang="ru-RU" dirty="0"/>
                  <a:t>:</a:t>
                </a:r>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𝑧</m:t>
                          </m:r>
                        </m:e>
                        <m:sub>
                          <m:r>
                            <a:rPr lang="ru-RU" i="1"/>
                            <m:t>𝑗</m:t>
                          </m:r>
                        </m:sub>
                        <m:sup>
                          <m:r>
                            <a:rPr lang="ru-RU"/>
                            <m:t>(</m:t>
                          </m:r>
                          <m:r>
                            <a:rPr lang="ru-RU" i="1"/>
                            <m:t>𝑙</m:t>
                          </m:r>
                          <m:r>
                            <a:rPr lang="ru-RU"/>
                            <m:t>+1)</m:t>
                          </m:r>
                        </m:sup>
                      </m:sSubSup>
                      <m:r>
                        <a:rPr lang="ru-RU"/>
                        <m:t>=</m:t>
                      </m:r>
                      <m:nary>
                        <m:naryPr>
                          <m:chr m:val="∑"/>
                          <m:limLoc m:val="undOvr"/>
                          <m:grow m:val="on"/>
                          <m:ctrlPr>
                            <a:rPr lang="ru-RU" i="1"/>
                          </m:ctrlPr>
                        </m:naryPr>
                        <m:sub>
                          <m:r>
                            <a:rPr lang="ru-RU" i="1"/>
                            <m:t>𝑠</m:t>
                          </m:r>
                          <m:r>
                            <a:rPr lang="ru-RU"/>
                            <m:t>=1</m:t>
                          </m:r>
                        </m:sub>
                        <m:sup>
                          <m:sSub>
                            <m:sSubPr>
                              <m:ctrlPr>
                                <a:rPr lang="ru-RU" i="1"/>
                              </m:ctrlPr>
                            </m:sSubPr>
                            <m:e>
                              <m:r>
                                <a:rPr lang="ru-RU" i="1"/>
                                <m:t>𝑛</m:t>
                              </m:r>
                            </m:e>
                            <m:sub>
                              <m:r>
                                <a:rPr lang="ru-RU" i="1"/>
                                <m:t>𝑙</m:t>
                              </m:r>
                            </m:sub>
                          </m:sSub>
                        </m:sup>
                        <m:e>
                          <m:r>
                            <a:rPr lang="ru-RU"/>
                            <m:t> </m:t>
                          </m:r>
                        </m:e>
                      </m:nary>
                      <m:sSubSup>
                        <m:sSubSupPr>
                          <m:ctrlPr>
                            <a:rPr lang="ru-RU" i="1"/>
                          </m:ctrlPr>
                        </m:sSubSupPr>
                        <m:e>
                          <m:r>
                            <a:rPr lang="ru-RU" i="1"/>
                            <m:t>𝑊</m:t>
                          </m:r>
                        </m:e>
                        <m:sub>
                          <m:r>
                            <a:rPr lang="ru-RU" i="1"/>
                            <m:t>𝑗𝑠</m:t>
                          </m:r>
                        </m:sub>
                        <m:sup>
                          <m:r>
                            <a:rPr lang="ru-RU"/>
                            <m:t>(</m:t>
                          </m:r>
                          <m:r>
                            <a:rPr lang="ru-RU" i="1"/>
                            <m:t>𝑙</m:t>
                          </m:r>
                          <m:r>
                            <a:rPr lang="ru-RU"/>
                            <m:t>+1)</m:t>
                          </m:r>
                        </m:sup>
                      </m:sSubSup>
                      <m:sSubSup>
                        <m:sSubSupPr>
                          <m:ctrlPr>
                            <a:rPr lang="ru-RU" i="1"/>
                          </m:ctrlPr>
                        </m:sSubSupPr>
                        <m:e>
                          <m:r>
                            <a:rPr lang="ru-RU" i="1"/>
                            <m:t>h</m:t>
                          </m:r>
                        </m:e>
                        <m:sub>
                          <m:r>
                            <a:rPr lang="ru-RU" i="1"/>
                            <m:t>𝑠</m:t>
                          </m:r>
                        </m:sub>
                        <m:sup>
                          <m:r>
                            <a:rPr lang="ru-RU"/>
                            <m:t>(</m:t>
                          </m:r>
                          <m:r>
                            <a:rPr lang="ru-RU" i="1"/>
                            <m:t>𝑙</m:t>
                          </m:r>
                          <m:r>
                            <a:rPr lang="ru-RU"/>
                            <m:t>)</m:t>
                          </m:r>
                        </m:sup>
                      </m:sSubSup>
                      <m:r>
                        <a:rPr lang="ru-RU"/>
                        <m:t>+</m:t>
                      </m:r>
                      <m:sSubSup>
                        <m:sSubSupPr>
                          <m:ctrlPr>
                            <a:rPr lang="ru-RU" i="1"/>
                          </m:ctrlPr>
                        </m:sSubSupPr>
                        <m:e>
                          <m:r>
                            <a:rPr lang="ru-RU" i="1"/>
                            <m:t>𝑏</m:t>
                          </m:r>
                        </m:e>
                        <m:sub>
                          <m:r>
                            <a:rPr lang="ru-RU" i="1"/>
                            <m:t>𝑗</m:t>
                          </m:r>
                        </m:sub>
                        <m:sup>
                          <m:r>
                            <a:rPr lang="ru-RU"/>
                            <m:t>(</m:t>
                          </m:r>
                          <m:r>
                            <a:rPr lang="ru-RU" i="1"/>
                            <m:t>𝑙</m:t>
                          </m:r>
                          <m:r>
                            <a:rPr lang="ru-RU"/>
                            <m:t>+1)</m:t>
                          </m:r>
                        </m:sup>
                      </m:sSubSup>
                      <m:r>
                        <a:rPr lang="ru-RU"/>
                        <m:t>=</m:t>
                      </m:r>
                      <m:nary>
                        <m:naryPr>
                          <m:chr m:val="∑"/>
                          <m:limLoc m:val="undOvr"/>
                          <m:grow m:val="on"/>
                          <m:ctrlPr>
                            <a:rPr lang="ru-RU" i="1"/>
                          </m:ctrlPr>
                        </m:naryPr>
                        <m:sub>
                          <m:r>
                            <a:rPr lang="ru-RU" i="1"/>
                            <m:t>𝑠</m:t>
                          </m:r>
                          <m:r>
                            <a:rPr lang="ru-RU"/>
                            <m:t>=1</m:t>
                          </m:r>
                        </m:sub>
                        <m:sup>
                          <m:sSub>
                            <m:sSubPr>
                              <m:ctrlPr>
                                <a:rPr lang="ru-RU" i="1"/>
                              </m:ctrlPr>
                            </m:sSubPr>
                            <m:e>
                              <m:r>
                                <a:rPr lang="ru-RU" i="1"/>
                                <m:t>𝑛</m:t>
                              </m:r>
                            </m:e>
                            <m:sub>
                              <m:r>
                                <a:rPr lang="ru-RU" i="1"/>
                                <m:t>𝑙</m:t>
                              </m:r>
                            </m:sub>
                          </m:sSub>
                        </m:sup>
                        <m:e>
                          <m:r>
                            <a:rPr lang="ru-RU"/>
                            <m:t> </m:t>
                          </m:r>
                        </m:e>
                      </m:nary>
                      <m:sSubSup>
                        <m:sSubSupPr>
                          <m:ctrlPr>
                            <a:rPr lang="ru-RU" i="1"/>
                          </m:ctrlPr>
                        </m:sSubSupPr>
                        <m:e>
                          <m:r>
                            <a:rPr lang="ru-RU" i="1"/>
                            <m:t>𝑊</m:t>
                          </m:r>
                        </m:e>
                        <m:sub>
                          <m:r>
                            <a:rPr lang="ru-RU" i="1"/>
                            <m:t>𝑗𝑠</m:t>
                          </m:r>
                        </m:sub>
                        <m:sup>
                          <m:r>
                            <a:rPr lang="ru-RU"/>
                            <m:t>(</m:t>
                          </m:r>
                          <m:r>
                            <a:rPr lang="ru-RU" i="1"/>
                            <m:t>𝑙</m:t>
                          </m:r>
                          <m:r>
                            <a:rPr lang="ru-RU"/>
                            <m:t>+1)</m:t>
                          </m:r>
                        </m:sup>
                      </m:sSubSup>
                      <m:sSup>
                        <m:sSupPr>
                          <m:ctrlPr>
                            <a:rPr lang="ru-RU" i="1"/>
                          </m:ctrlPr>
                        </m:sSupPr>
                        <m:e>
                          <m:r>
                            <a:rPr lang="ru-RU" i="1"/>
                            <m:t>𝑓</m:t>
                          </m:r>
                        </m:e>
                        <m:sup>
                          <m:r>
                            <a:rPr lang="ru-RU"/>
                            <m:t>(</m:t>
                          </m:r>
                          <m:r>
                            <a:rPr lang="ru-RU" i="1"/>
                            <m:t>𝑙</m:t>
                          </m:r>
                          <m:r>
                            <a:rPr lang="ru-RU"/>
                            <m:t>)</m:t>
                          </m:r>
                        </m:sup>
                      </m:sSup>
                      <m:r>
                        <a:rPr lang="ru-RU"/>
                        <m:t>(</m:t>
                      </m:r>
                      <m:sSubSup>
                        <m:sSubSupPr>
                          <m:ctrlPr>
                            <a:rPr lang="ru-RU" i="1"/>
                          </m:ctrlPr>
                        </m:sSubSupPr>
                        <m:e>
                          <m:r>
                            <a:rPr lang="ru-RU" i="1"/>
                            <m:t>𝑧</m:t>
                          </m:r>
                        </m:e>
                        <m:sub>
                          <m:r>
                            <a:rPr lang="ru-RU" i="1"/>
                            <m:t>𝑠</m:t>
                          </m:r>
                        </m:sub>
                        <m:sup>
                          <m:r>
                            <a:rPr lang="ru-RU"/>
                            <m:t>(</m:t>
                          </m:r>
                          <m:r>
                            <a:rPr lang="ru-RU" i="1"/>
                            <m:t>𝑙</m:t>
                          </m:r>
                          <m:r>
                            <a:rPr lang="ru-RU"/>
                            <m:t>)</m:t>
                          </m:r>
                        </m:sup>
                      </m:sSubSup>
                      <m:r>
                        <a:rPr lang="ru-RU"/>
                        <m:t>)+</m:t>
                      </m:r>
                      <m:sSubSup>
                        <m:sSubSupPr>
                          <m:ctrlPr>
                            <a:rPr lang="ru-RU" i="1"/>
                          </m:ctrlPr>
                        </m:sSubSupPr>
                        <m:e>
                          <m:r>
                            <a:rPr lang="ru-RU" i="1"/>
                            <m:t>𝑏</m:t>
                          </m:r>
                        </m:e>
                        <m:sub>
                          <m:r>
                            <a:rPr lang="ru-RU" i="1"/>
                            <m:t>𝑗</m:t>
                          </m:r>
                        </m:sub>
                        <m:sup>
                          <m:r>
                            <a:rPr lang="ru-RU"/>
                            <m:t>(</m:t>
                          </m:r>
                          <m:r>
                            <a:rPr lang="ru-RU" i="1"/>
                            <m:t>𝑙</m:t>
                          </m:r>
                          <m:r>
                            <a:rPr lang="ru-RU"/>
                            <m:t>+1)</m:t>
                          </m:r>
                        </m:sup>
                      </m:sSubSup>
                      <m:r>
                        <a:rPr lang="ru-RU"/>
                        <m:t>.</m:t>
                      </m:r>
                    </m:oMath>
                  </m:oMathPara>
                </a14:m>
                <a:endParaRPr lang="ru-RU" dirty="0"/>
              </a:p>
              <a:p>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276" t="-1131" r="-441"/>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42</a:t>
            </a:fld>
            <a:endParaRPr lang="ru-RU" noProof="0" dirty="0"/>
          </a:p>
        </p:txBody>
      </p:sp>
    </p:spTree>
    <p:extLst>
      <p:ext uri="{BB962C8B-B14F-4D97-AF65-F5344CB8AC3E}">
        <p14:creationId xmlns:p14="http://schemas.microsoft.com/office/powerpoint/2010/main" val="4159164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Обратное распространение ошибки</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lstStyle/>
              <a:p>
                <a:r>
                  <a:rPr lang="ru-RU" dirty="0"/>
                  <a:t>Дифференцируем по </a:t>
                </a:r>
                <a14:m>
                  <m:oMath xmlns:m="http://schemas.openxmlformats.org/officeDocument/2006/math">
                    <m:sSubSup>
                      <m:sSubSupPr>
                        <m:ctrlPr>
                          <a:rPr lang="ru-RU" i="1"/>
                        </m:ctrlPr>
                      </m:sSubSupPr>
                      <m:e>
                        <m:r>
                          <a:rPr lang="ru-RU" i="1"/>
                          <m:t>𝑧</m:t>
                        </m:r>
                      </m:e>
                      <m:sub>
                        <m:r>
                          <a:rPr lang="ru-RU" i="1"/>
                          <m:t>𝑖</m:t>
                        </m:r>
                      </m:sub>
                      <m:sup>
                        <m:r>
                          <a:rPr lang="ru-RU"/>
                          <m:t>(</m:t>
                        </m:r>
                        <m:r>
                          <a:rPr lang="ru-RU" i="1"/>
                          <m:t>𝑙</m:t>
                        </m:r>
                        <m:r>
                          <a:rPr lang="ru-RU"/>
                          <m:t>)</m:t>
                        </m:r>
                      </m:sup>
                    </m:sSubSup>
                  </m:oMath>
                </a14:m>
                <a:r>
                  <a:rPr lang="ru-RU" dirty="0"/>
                  <a:t>:</a:t>
                </a:r>
              </a:p>
              <a:p>
                <a14:m>
                  <m:oMathPara xmlns:m="http://schemas.openxmlformats.org/officeDocument/2006/math">
                    <m:oMathParaPr>
                      <m:jc m:val="centerGroup"/>
                    </m:oMathParaPr>
                    <m:oMath xmlns:m="http://schemas.openxmlformats.org/officeDocument/2006/math">
                      <m:f>
                        <m:fPr>
                          <m:ctrlPr>
                            <a:rPr lang="ru-RU" i="1"/>
                          </m:ctrlPr>
                        </m:fPr>
                        <m:num>
                          <m:r>
                            <a:rPr lang="ru-RU" i="1"/>
                            <m:t>𝜕</m:t>
                          </m:r>
                          <m:sSubSup>
                            <m:sSubSupPr>
                              <m:ctrlPr>
                                <a:rPr lang="ru-RU" i="1"/>
                              </m:ctrlPr>
                            </m:sSubSupPr>
                            <m:e>
                              <m:r>
                                <a:rPr lang="ru-RU" i="1"/>
                                <m:t>𝑧</m:t>
                              </m:r>
                            </m:e>
                            <m:sub>
                              <m:r>
                                <a:rPr lang="ru-RU" i="1"/>
                                <m:t>𝑗</m:t>
                              </m:r>
                            </m:sub>
                            <m:sup>
                              <m:r>
                                <a:rPr lang="ru-RU"/>
                                <m:t>(</m:t>
                              </m:r>
                              <m:r>
                                <a:rPr lang="ru-RU" i="1"/>
                                <m:t>𝑙</m:t>
                              </m:r>
                              <m:r>
                                <a:rPr lang="ru-RU"/>
                                <m:t>+1)</m:t>
                              </m:r>
                            </m:sup>
                          </m:sSubSup>
                        </m:num>
                        <m:den>
                          <m:r>
                            <a:rPr lang="ru-RU" i="1"/>
                            <m:t>𝜕</m:t>
                          </m:r>
                          <m:sSubSup>
                            <m:sSubSupPr>
                              <m:ctrlPr>
                                <a:rPr lang="ru-RU" i="1"/>
                              </m:ctrlPr>
                            </m:sSubSupPr>
                            <m:e>
                              <m:r>
                                <a:rPr lang="ru-RU" i="1"/>
                                <m:t>𝑧</m:t>
                              </m:r>
                            </m:e>
                            <m:sub>
                              <m:r>
                                <a:rPr lang="ru-RU" i="1"/>
                                <m:t>𝑖</m:t>
                              </m:r>
                            </m:sub>
                            <m:sup>
                              <m:r>
                                <a:rPr lang="ru-RU"/>
                                <m:t>(</m:t>
                              </m:r>
                              <m:r>
                                <a:rPr lang="ru-RU" i="1"/>
                                <m:t>𝑙</m:t>
                              </m:r>
                              <m:r>
                                <a:rPr lang="ru-RU"/>
                                <m:t>)</m:t>
                              </m:r>
                            </m:sup>
                          </m:sSubSup>
                        </m:den>
                      </m:f>
                      <m:r>
                        <a:rPr lang="ru-RU"/>
                        <m:t>=</m:t>
                      </m:r>
                      <m:sSubSup>
                        <m:sSubSupPr>
                          <m:ctrlPr>
                            <a:rPr lang="ru-RU" i="1"/>
                          </m:ctrlPr>
                        </m:sSubSupPr>
                        <m:e>
                          <m:r>
                            <a:rPr lang="ru-RU" i="1"/>
                            <m:t>𝑊</m:t>
                          </m:r>
                        </m:e>
                        <m:sub>
                          <m:r>
                            <a:rPr lang="ru-RU" i="1"/>
                            <m:t>𝑗𝑖</m:t>
                          </m:r>
                        </m:sub>
                        <m:sup>
                          <m:r>
                            <a:rPr lang="ru-RU"/>
                            <m:t>(</m:t>
                          </m:r>
                          <m:r>
                            <a:rPr lang="ru-RU" i="1"/>
                            <m:t>𝑙</m:t>
                          </m:r>
                          <m:r>
                            <a:rPr lang="ru-RU"/>
                            <m:t>+1)</m:t>
                          </m:r>
                        </m:sup>
                      </m:sSubSup>
                      <m:r>
                        <a:rPr lang="ru-RU"/>
                        <m:t>⋅</m:t>
                      </m:r>
                      <m:sSup>
                        <m:sSupPr>
                          <m:ctrlPr>
                            <a:rPr lang="ru-RU" i="1"/>
                          </m:ctrlPr>
                        </m:sSupPr>
                        <m:e>
                          <m:r>
                            <a:rPr lang="ru-RU" i="1"/>
                            <m:t>𝑓</m:t>
                          </m:r>
                        </m:e>
                        <m:sup>
                          <m:r>
                            <a:rPr lang="ru-RU" i="1"/>
                            <m:t>′</m:t>
                          </m:r>
                          <m:r>
                            <a:rPr lang="ru-RU"/>
                            <m:t>(</m:t>
                          </m:r>
                          <m:r>
                            <a:rPr lang="ru-RU" i="1"/>
                            <m:t>𝑙</m:t>
                          </m:r>
                          <m:r>
                            <a:rPr lang="ru-RU"/>
                            <m:t>)</m:t>
                          </m:r>
                        </m:sup>
                      </m:sSup>
                      <m:r>
                        <a:rPr lang="ru-RU"/>
                        <m:t>(</m:t>
                      </m:r>
                      <m:sSubSup>
                        <m:sSubSupPr>
                          <m:ctrlPr>
                            <a:rPr lang="ru-RU" i="1"/>
                          </m:ctrlPr>
                        </m:sSubSupPr>
                        <m:e>
                          <m:r>
                            <a:rPr lang="ru-RU" i="1"/>
                            <m:t>𝑧</m:t>
                          </m:r>
                        </m:e>
                        <m:sub>
                          <m:r>
                            <a:rPr lang="ru-RU" i="1"/>
                            <m:t>𝑖</m:t>
                          </m:r>
                        </m:sub>
                        <m:sup>
                          <m:r>
                            <a:rPr lang="ru-RU"/>
                            <m:t>(</m:t>
                          </m:r>
                          <m:r>
                            <a:rPr lang="ru-RU" i="1"/>
                            <m:t>𝑙</m:t>
                          </m:r>
                          <m:r>
                            <a:rPr lang="ru-RU"/>
                            <m:t>)</m:t>
                          </m:r>
                        </m:sup>
                      </m:sSubSup>
                      <m:r>
                        <a:rPr lang="ru-RU"/>
                        <m:t>),</m:t>
                      </m:r>
                    </m:oMath>
                  </m:oMathPara>
                </a14:m>
                <a:endParaRPr lang="ru-RU" dirty="0"/>
              </a:p>
              <a:p>
                <a:r>
                  <a:rPr lang="ru-RU" dirty="0"/>
                  <a:t>так как производная </a:t>
                </a:r>
                <a14:m>
                  <m:oMath xmlns:m="http://schemas.openxmlformats.org/officeDocument/2006/math">
                    <m:sSup>
                      <m:sSupPr>
                        <m:ctrlPr>
                          <a:rPr lang="ru-RU" i="1"/>
                        </m:ctrlPr>
                      </m:sSupPr>
                      <m:e>
                        <m:r>
                          <a:rPr lang="ru-RU" i="1"/>
                          <m:t>𝑓</m:t>
                        </m:r>
                      </m:e>
                      <m:sup>
                        <m:r>
                          <a:rPr lang="ru-RU"/>
                          <m:t>(</m:t>
                        </m:r>
                        <m:r>
                          <a:rPr lang="ru-RU" i="1"/>
                          <m:t>𝑙</m:t>
                        </m:r>
                        <m:r>
                          <a:rPr lang="ru-RU"/>
                          <m:t>)</m:t>
                        </m:r>
                      </m:sup>
                    </m:sSup>
                    <m:r>
                      <a:rPr lang="ru-RU"/>
                      <m:t>(</m:t>
                    </m:r>
                    <m:sSubSup>
                      <m:sSubSupPr>
                        <m:ctrlPr>
                          <a:rPr lang="ru-RU" i="1"/>
                        </m:ctrlPr>
                      </m:sSubSupPr>
                      <m:e>
                        <m:r>
                          <a:rPr lang="ru-RU" i="1"/>
                          <m:t>𝑧</m:t>
                        </m:r>
                      </m:e>
                      <m:sub>
                        <m:r>
                          <a:rPr lang="ru-RU" i="1"/>
                          <m:t>𝑠</m:t>
                        </m:r>
                      </m:sub>
                      <m:sup>
                        <m:r>
                          <a:rPr lang="ru-RU"/>
                          <m:t>(</m:t>
                        </m:r>
                        <m:r>
                          <a:rPr lang="ru-RU" i="1"/>
                          <m:t>𝑙</m:t>
                        </m:r>
                        <m:r>
                          <a:rPr lang="ru-RU"/>
                          <m:t>)</m:t>
                        </m:r>
                      </m:sup>
                    </m:sSubSup>
                    <m:r>
                      <a:rPr lang="ru-RU"/>
                      <m:t>)</m:t>
                    </m:r>
                  </m:oMath>
                </a14:m>
                <a:r>
                  <a:rPr lang="ru-RU" dirty="0"/>
                  <a:t> по </a:t>
                </a:r>
                <a14:m>
                  <m:oMath xmlns:m="http://schemas.openxmlformats.org/officeDocument/2006/math">
                    <m:sSubSup>
                      <m:sSubSupPr>
                        <m:ctrlPr>
                          <a:rPr lang="ru-RU" i="1"/>
                        </m:ctrlPr>
                      </m:sSubSupPr>
                      <m:e>
                        <m:r>
                          <a:rPr lang="ru-RU" i="1"/>
                          <m:t>𝑧</m:t>
                        </m:r>
                      </m:e>
                      <m:sub>
                        <m:r>
                          <a:rPr lang="ru-RU" i="1"/>
                          <m:t>𝑖</m:t>
                        </m:r>
                      </m:sub>
                      <m:sup>
                        <m:r>
                          <a:rPr lang="ru-RU"/>
                          <m:t>(</m:t>
                        </m:r>
                        <m:r>
                          <a:rPr lang="ru-RU" i="1"/>
                          <m:t>𝑙</m:t>
                        </m:r>
                        <m:r>
                          <a:rPr lang="ru-RU"/>
                          <m:t>)</m:t>
                        </m:r>
                      </m:sup>
                    </m:sSubSup>
                  </m:oMath>
                </a14:m>
                <a:r>
                  <a:rPr lang="ru-RU" dirty="0"/>
                  <a:t> даёт </a:t>
                </a:r>
                <a14:m>
                  <m:oMath xmlns:m="http://schemas.openxmlformats.org/officeDocument/2006/math">
                    <m:sSup>
                      <m:sSupPr>
                        <m:ctrlPr>
                          <a:rPr lang="ru-RU" i="1"/>
                        </m:ctrlPr>
                      </m:sSupPr>
                      <m:e>
                        <m:r>
                          <a:rPr lang="ru-RU" i="1"/>
                          <m:t>𝑓</m:t>
                        </m:r>
                      </m:e>
                      <m:sup>
                        <m:r>
                          <a:rPr lang="ru-RU" i="1"/>
                          <m:t>′</m:t>
                        </m:r>
                        <m:r>
                          <a:rPr lang="ru-RU"/>
                          <m:t>(</m:t>
                        </m:r>
                        <m:r>
                          <a:rPr lang="ru-RU" i="1"/>
                          <m:t>𝑙</m:t>
                        </m:r>
                        <m:r>
                          <a:rPr lang="ru-RU"/>
                          <m:t>)</m:t>
                        </m:r>
                      </m:sup>
                    </m:sSup>
                    <m:r>
                      <a:rPr lang="ru-RU"/>
                      <m:t>(</m:t>
                    </m:r>
                    <m:sSubSup>
                      <m:sSubSupPr>
                        <m:ctrlPr>
                          <a:rPr lang="ru-RU" i="1"/>
                        </m:ctrlPr>
                      </m:sSubSupPr>
                      <m:e>
                        <m:r>
                          <a:rPr lang="ru-RU" i="1"/>
                          <m:t>𝑧</m:t>
                        </m:r>
                      </m:e>
                      <m:sub>
                        <m:r>
                          <a:rPr lang="ru-RU" i="1"/>
                          <m:t>𝑖</m:t>
                        </m:r>
                      </m:sub>
                      <m:sup>
                        <m:r>
                          <a:rPr lang="ru-RU"/>
                          <m:t>(</m:t>
                        </m:r>
                        <m:r>
                          <a:rPr lang="ru-RU" i="1"/>
                          <m:t>𝑙</m:t>
                        </m:r>
                        <m:r>
                          <a:rPr lang="ru-RU"/>
                          <m:t>)</m:t>
                        </m:r>
                      </m:sup>
                    </m:sSubSup>
                    <m:r>
                      <a:rPr lang="ru-RU"/>
                      <m:t>)</m:t>
                    </m:r>
                  </m:oMath>
                </a14:m>
                <a:r>
                  <a:rPr lang="ru-RU" dirty="0"/>
                  <a:t> только при </a:t>
                </a:r>
                <a14:m>
                  <m:oMath xmlns:m="http://schemas.openxmlformats.org/officeDocument/2006/math">
                    <m:r>
                      <a:rPr lang="ru-RU" i="1"/>
                      <m:t>𝑠</m:t>
                    </m:r>
                    <m:r>
                      <a:rPr lang="ru-RU"/>
                      <m:t>=</m:t>
                    </m:r>
                    <m:r>
                      <a:rPr lang="ru-RU" i="1"/>
                      <m:t>𝑖</m:t>
                    </m:r>
                  </m:oMath>
                </a14:m>
                <a:r>
                  <a:rPr lang="ru-RU" dirty="0" smtClean="0"/>
                  <a:t>.</a:t>
                </a:r>
                <a:endParaRPr lang="ru-RU" dirty="0"/>
              </a:p>
              <a:p>
                <a:r>
                  <a:rPr lang="ru-RU" dirty="0"/>
                  <a:t>Подставляем:</a:t>
                </a:r>
              </a:p>
              <a:p>
                <a14:m>
                  <m:oMathPara xmlns:m="http://schemas.openxmlformats.org/officeDocument/2006/math">
                    <m:oMathParaPr>
                      <m:jc m:val="centerGroup"/>
                    </m:oMathParaPr>
                    <m:oMath xmlns:m="http://schemas.openxmlformats.org/officeDocument/2006/math">
                      <m:sSubSup>
                        <m:sSubSupPr>
                          <m:ctrlPr>
                            <a:rPr lang="ru-RU" i="1"/>
                          </m:ctrlPr>
                        </m:sSubSupPr>
                        <m:e>
                          <m:r>
                            <a:rPr lang="ru-RU" i="1"/>
                            <m:t>𝛿</m:t>
                          </m:r>
                        </m:e>
                        <m:sub>
                          <m:r>
                            <a:rPr lang="ru-RU" i="1"/>
                            <m:t>𝑖</m:t>
                          </m:r>
                        </m:sub>
                        <m:sup>
                          <m:r>
                            <a:rPr lang="ru-RU"/>
                            <m:t>(</m:t>
                          </m:r>
                          <m:r>
                            <a:rPr lang="ru-RU" i="1"/>
                            <m:t>𝑙</m:t>
                          </m:r>
                          <m:r>
                            <a:rPr lang="ru-RU"/>
                            <m:t>)</m:t>
                          </m:r>
                        </m:sup>
                      </m:sSubSup>
                      <m:r>
                        <a:rPr lang="ru-RU"/>
                        <m:t>=</m:t>
                      </m:r>
                      <m:sSup>
                        <m:sSupPr>
                          <m:ctrlPr>
                            <a:rPr lang="ru-RU" i="1"/>
                          </m:ctrlPr>
                        </m:sSupPr>
                        <m:e>
                          <m:r>
                            <a:rPr lang="ru-RU" i="1"/>
                            <m:t>𝑓</m:t>
                          </m:r>
                        </m:e>
                        <m:sup>
                          <m:r>
                            <a:rPr lang="ru-RU" i="1"/>
                            <m:t>′</m:t>
                          </m:r>
                          <m:r>
                            <a:rPr lang="ru-RU"/>
                            <m:t>(</m:t>
                          </m:r>
                          <m:r>
                            <a:rPr lang="ru-RU" i="1"/>
                            <m:t>𝑙</m:t>
                          </m:r>
                          <m:r>
                            <a:rPr lang="ru-RU"/>
                            <m:t>)</m:t>
                          </m:r>
                        </m:sup>
                      </m:sSup>
                      <m:r>
                        <a:rPr lang="ru-RU"/>
                        <m:t>(</m:t>
                      </m:r>
                      <m:sSubSup>
                        <m:sSubSupPr>
                          <m:ctrlPr>
                            <a:rPr lang="ru-RU" i="1"/>
                          </m:ctrlPr>
                        </m:sSubSupPr>
                        <m:e>
                          <m:r>
                            <a:rPr lang="ru-RU" i="1"/>
                            <m:t>𝑧</m:t>
                          </m:r>
                        </m:e>
                        <m:sub>
                          <m:r>
                            <a:rPr lang="ru-RU" i="1"/>
                            <m:t>𝑖</m:t>
                          </m:r>
                        </m:sub>
                        <m:sup>
                          <m:r>
                            <a:rPr lang="ru-RU"/>
                            <m:t>(</m:t>
                          </m:r>
                          <m:r>
                            <a:rPr lang="ru-RU" i="1"/>
                            <m:t>𝑙</m:t>
                          </m:r>
                          <m:r>
                            <a:rPr lang="ru-RU"/>
                            <m:t>)</m:t>
                          </m:r>
                        </m:sup>
                      </m:sSubSup>
                      <m:r>
                        <a:rPr lang="ru-RU"/>
                        <m:t>)</m:t>
                      </m:r>
                      <m:nary>
                        <m:naryPr>
                          <m:chr m:val="∑"/>
                          <m:limLoc m:val="undOvr"/>
                          <m:grow m:val="on"/>
                          <m:ctrlPr>
                            <a:rPr lang="ru-RU" i="1"/>
                          </m:ctrlPr>
                        </m:naryPr>
                        <m:sub>
                          <m:r>
                            <a:rPr lang="ru-RU" i="1"/>
                            <m:t>𝑗</m:t>
                          </m:r>
                          <m:r>
                            <a:rPr lang="ru-RU"/>
                            <m:t>=1</m:t>
                          </m:r>
                        </m:sub>
                        <m:sup>
                          <m:sSub>
                            <m:sSubPr>
                              <m:ctrlPr>
                                <a:rPr lang="ru-RU" i="1"/>
                              </m:ctrlPr>
                            </m:sSubPr>
                            <m:e>
                              <m:r>
                                <a:rPr lang="ru-RU" i="1"/>
                                <m:t>𝑛</m:t>
                              </m:r>
                            </m:e>
                            <m:sub>
                              <m:r>
                                <a:rPr lang="ru-RU" i="1"/>
                                <m:t>𝑙</m:t>
                              </m:r>
                              <m:r>
                                <a:rPr lang="ru-RU"/>
                                <m:t>+1</m:t>
                              </m:r>
                            </m:sub>
                          </m:sSub>
                        </m:sup>
                        <m:e>
                          <m:r>
                            <a:rPr lang="ru-RU"/>
                            <m:t> </m:t>
                          </m:r>
                        </m:e>
                      </m:nary>
                      <m:sSubSup>
                        <m:sSubSupPr>
                          <m:ctrlPr>
                            <a:rPr lang="ru-RU" i="1"/>
                          </m:ctrlPr>
                        </m:sSubSupPr>
                        <m:e>
                          <m:r>
                            <a:rPr lang="ru-RU" i="1"/>
                            <m:t>𝑊</m:t>
                          </m:r>
                        </m:e>
                        <m:sub>
                          <m:r>
                            <a:rPr lang="ru-RU" i="1"/>
                            <m:t>𝑗𝑖</m:t>
                          </m:r>
                        </m:sub>
                        <m:sup>
                          <m:r>
                            <a:rPr lang="ru-RU"/>
                            <m:t>(</m:t>
                          </m:r>
                          <m:r>
                            <a:rPr lang="ru-RU" i="1"/>
                            <m:t>𝑙</m:t>
                          </m:r>
                          <m:r>
                            <a:rPr lang="ru-RU"/>
                            <m:t>+1)</m:t>
                          </m:r>
                        </m:sup>
                      </m:sSubSup>
                      <m:sSubSup>
                        <m:sSubSupPr>
                          <m:ctrlPr>
                            <a:rPr lang="ru-RU" i="1"/>
                          </m:ctrlPr>
                        </m:sSubSupPr>
                        <m:e>
                          <m:r>
                            <a:rPr lang="ru-RU" i="1"/>
                            <m:t>𝛿</m:t>
                          </m:r>
                        </m:e>
                        <m:sub>
                          <m:r>
                            <a:rPr lang="ru-RU" i="1"/>
                            <m:t>𝑗</m:t>
                          </m:r>
                        </m:sub>
                        <m:sup>
                          <m:r>
                            <a:rPr lang="ru-RU"/>
                            <m:t>(</m:t>
                          </m:r>
                          <m:r>
                            <a:rPr lang="ru-RU" i="1"/>
                            <m:t>𝑙</m:t>
                          </m:r>
                          <m:r>
                            <a:rPr lang="ru-RU"/>
                            <m:t>+1)</m:t>
                          </m:r>
                        </m:sup>
                      </m:sSubSup>
                      <m:r>
                        <a:rPr lang="ru-RU"/>
                        <m:t>.</m:t>
                      </m:r>
                    </m:oMath>
                  </m:oMathPara>
                </a14:m>
                <a:endParaRPr lang="ru-RU" dirty="0"/>
              </a:p>
              <a:p>
                <a:r>
                  <a:rPr lang="ru-RU" dirty="0"/>
                  <a:t>Векторная форма:</a:t>
                </a:r>
              </a:p>
              <a:p>
                <a14:m>
                  <m:oMathPara xmlns:m="http://schemas.openxmlformats.org/officeDocument/2006/math">
                    <m:oMathParaPr>
                      <m:jc m:val="centerGroup"/>
                    </m:oMathParaPr>
                    <m:oMath xmlns:m="http://schemas.openxmlformats.org/officeDocument/2006/math">
                      <m:sSup>
                        <m:sSupPr>
                          <m:ctrlPr>
                            <a:rPr lang="ru-RU" i="1"/>
                          </m:ctrlPr>
                        </m:sSupPr>
                        <m:e>
                          <m:r>
                            <a:rPr lang="ru-RU" i="1"/>
                            <m:t>𝛿</m:t>
                          </m:r>
                        </m:e>
                        <m:sup>
                          <m:r>
                            <a:rPr lang="ru-RU"/>
                            <m:t>(</m:t>
                          </m:r>
                          <m:r>
                            <a:rPr lang="ru-RU" i="1"/>
                            <m:t>𝑙</m:t>
                          </m:r>
                          <m:r>
                            <a:rPr lang="ru-RU"/>
                            <m:t>)</m:t>
                          </m:r>
                        </m:sup>
                      </m:sSup>
                      <m:r>
                        <a:rPr lang="ru-RU"/>
                        <m:t>=(</m:t>
                      </m:r>
                      <m:sSup>
                        <m:sSupPr>
                          <m:ctrlPr>
                            <a:rPr lang="ru-RU" i="1"/>
                          </m:ctrlPr>
                        </m:sSupPr>
                        <m:e>
                          <m:r>
                            <a:rPr lang="ru-RU" i="1"/>
                            <m:t>𝑊</m:t>
                          </m:r>
                        </m:e>
                        <m:sup>
                          <m:r>
                            <a:rPr lang="ru-RU"/>
                            <m:t>(</m:t>
                          </m:r>
                          <m:r>
                            <a:rPr lang="ru-RU" i="1"/>
                            <m:t>𝑙</m:t>
                          </m:r>
                          <m:r>
                            <a:rPr lang="ru-RU"/>
                            <m:t>+1)</m:t>
                          </m:r>
                        </m:sup>
                      </m:sSup>
                      <m:sSup>
                        <m:sSupPr>
                          <m:ctrlPr>
                            <a:rPr lang="ru-RU" i="1"/>
                          </m:ctrlPr>
                        </m:sSupPr>
                        <m:e>
                          <m:r>
                            <a:rPr lang="ru-RU"/>
                            <m:t>)</m:t>
                          </m:r>
                        </m:e>
                        <m:sup>
                          <m:r>
                            <a:rPr lang="ru-RU" i="1"/>
                            <m:t>𝑇</m:t>
                          </m:r>
                        </m:sup>
                      </m:sSup>
                      <m:sSup>
                        <m:sSupPr>
                          <m:ctrlPr>
                            <a:rPr lang="ru-RU" i="1"/>
                          </m:ctrlPr>
                        </m:sSupPr>
                        <m:e>
                          <m:r>
                            <a:rPr lang="ru-RU" i="1"/>
                            <m:t>𝛿</m:t>
                          </m:r>
                        </m:e>
                        <m:sup>
                          <m:r>
                            <a:rPr lang="ru-RU"/>
                            <m:t>(</m:t>
                          </m:r>
                          <m:r>
                            <a:rPr lang="ru-RU" i="1"/>
                            <m:t>𝑙</m:t>
                          </m:r>
                          <m:r>
                            <a:rPr lang="ru-RU"/>
                            <m:t>+1)</m:t>
                          </m:r>
                        </m:sup>
                      </m:sSup>
                      <m:r>
                        <a:rPr lang="ru-RU"/>
                        <m:t>⊙</m:t>
                      </m:r>
                      <m:sSup>
                        <m:sSupPr>
                          <m:ctrlPr>
                            <a:rPr lang="ru-RU" i="1"/>
                          </m:ctrlPr>
                        </m:sSupPr>
                        <m:e>
                          <m:r>
                            <a:rPr lang="ru-RU" i="1"/>
                            <m:t>𝑓</m:t>
                          </m:r>
                        </m:e>
                        <m:sup>
                          <m:r>
                            <a:rPr lang="ru-RU" i="1"/>
                            <m:t>′</m:t>
                          </m:r>
                          <m:r>
                            <a:rPr lang="ru-RU"/>
                            <m:t>(</m:t>
                          </m:r>
                          <m:r>
                            <a:rPr lang="ru-RU" i="1"/>
                            <m:t>𝑙</m:t>
                          </m:r>
                          <m:r>
                            <a:rPr lang="ru-RU"/>
                            <m:t>)</m:t>
                          </m:r>
                        </m:sup>
                      </m:sSup>
                      <m:r>
                        <a:rPr lang="ru-RU"/>
                        <m:t>(</m:t>
                      </m:r>
                      <m:sSup>
                        <m:sSupPr>
                          <m:ctrlPr>
                            <a:rPr lang="ru-RU" i="1"/>
                          </m:ctrlPr>
                        </m:sSupPr>
                        <m:e>
                          <m:r>
                            <a:rPr lang="ru-RU" i="1"/>
                            <m:t>𝑧</m:t>
                          </m:r>
                        </m:e>
                        <m:sup>
                          <m:r>
                            <a:rPr lang="ru-RU"/>
                            <m:t>(</m:t>
                          </m:r>
                          <m:r>
                            <a:rPr lang="ru-RU" i="1"/>
                            <m:t>𝑙</m:t>
                          </m:r>
                          <m:r>
                            <a:rPr lang="ru-RU"/>
                            <m:t>)</m:t>
                          </m:r>
                        </m:sup>
                      </m:sSup>
                      <m:r>
                        <a:rPr lang="ru-RU"/>
                        <m:t>).</m:t>
                      </m:r>
                    </m:oMath>
                  </m:oMathPara>
                </a14:m>
                <a:endParaRPr lang="ru-RU" dirty="0"/>
              </a:p>
              <a:p>
                <a:r>
                  <a:rPr lang="ru-RU" dirty="0"/>
                  <a:t>Это и есть центральная рекурсивная формула обратного распространения ошибки.</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r="-827"/>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43</a:t>
            </a:fld>
            <a:endParaRPr lang="ru-RU" noProof="0" dirty="0"/>
          </a:p>
        </p:txBody>
      </p:sp>
    </p:spTree>
    <p:extLst>
      <p:ext uri="{BB962C8B-B14F-4D97-AF65-F5344CB8AC3E}">
        <p14:creationId xmlns:p14="http://schemas.microsoft.com/office/powerpoint/2010/main" val="1916081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Итоговые формулы алгоритма обратного распространения</a:t>
            </a:r>
            <a:endParaRPr lang="ru-RU" b="1"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lstStyle/>
              <a:p>
                <a:pPr lvl="0"/>
                <a:r>
                  <a:rPr lang="ru-RU" dirty="0" err="1"/>
                  <a:t>Forward</a:t>
                </a:r>
                <a:r>
                  <a:rPr lang="ru-RU" dirty="0"/>
                  <a:t> </a:t>
                </a:r>
                <a:r>
                  <a:rPr lang="ru-RU" dirty="0" err="1"/>
                  <a:t>pass</a:t>
                </a:r>
                <a:r>
                  <a:rPr lang="ru-RU" dirty="0"/>
                  <a:t> для примера </a:t>
                </a:r>
                <a14:m>
                  <m:oMath xmlns:m="http://schemas.openxmlformats.org/officeDocument/2006/math">
                    <m:r>
                      <a:rPr lang="ru-RU"/>
                      <m:t>(</m:t>
                    </m:r>
                    <m:r>
                      <a:rPr lang="ru-RU" i="1"/>
                      <m:t>𝑥</m:t>
                    </m:r>
                    <m:r>
                      <a:rPr lang="ru-RU"/>
                      <m:t>,</m:t>
                    </m:r>
                    <m:r>
                      <a:rPr lang="ru-RU" i="1"/>
                      <m:t>𝑡</m:t>
                    </m:r>
                    <m:r>
                      <a:rPr lang="ru-RU"/>
                      <m:t>)</m:t>
                    </m:r>
                  </m:oMath>
                </a14:m>
                <a:r>
                  <a:rPr lang="ru-RU" dirty="0"/>
                  <a:t>:</a:t>
                </a:r>
              </a:p>
              <a:p>
                <a:pPr lvl="1"/>
                <a14:m>
                  <m:oMath xmlns:m="http://schemas.openxmlformats.org/officeDocument/2006/math">
                    <m:sSup>
                      <m:sSupPr>
                        <m:ctrlPr>
                          <a:rPr lang="ru-RU" i="1"/>
                        </m:ctrlPr>
                      </m:sSupPr>
                      <m:e>
                        <m:r>
                          <a:rPr lang="ru-RU" i="1"/>
                          <m:t>h</m:t>
                        </m:r>
                      </m:e>
                      <m:sup>
                        <m:r>
                          <a:rPr lang="ru-RU"/>
                          <m:t>(0)</m:t>
                        </m:r>
                      </m:sup>
                    </m:sSup>
                    <m:r>
                      <a:rPr lang="ru-RU"/>
                      <m:t>=</m:t>
                    </m:r>
                    <m:r>
                      <a:rPr lang="ru-RU" i="1"/>
                      <m:t>𝑥</m:t>
                    </m:r>
                  </m:oMath>
                </a14:m>
                <a:r>
                  <a:rPr lang="ru-RU" dirty="0"/>
                  <a:t>.</a:t>
                </a:r>
              </a:p>
              <a:p>
                <a:pPr lvl="1"/>
                <a:r>
                  <a:rPr lang="ru-RU" dirty="0"/>
                  <a:t>Для </a:t>
                </a:r>
                <a14:m>
                  <m:oMath xmlns:m="http://schemas.openxmlformats.org/officeDocument/2006/math">
                    <m:r>
                      <a:rPr lang="ru-RU" i="1"/>
                      <m:t>𝑙</m:t>
                    </m:r>
                    <m:r>
                      <a:rPr lang="ru-RU"/>
                      <m:t>=1,…,</m:t>
                    </m:r>
                    <m:r>
                      <a:rPr lang="ru-RU" i="1"/>
                      <m:t>𝐿</m:t>
                    </m:r>
                  </m:oMath>
                </a14:m>
                <a:r>
                  <a:rPr lang="ru-RU" dirty="0"/>
                  <a:t>:</a:t>
                </a:r>
                <a14:m>
                  <m:oMath xmlns:m="http://schemas.openxmlformats.org/officeDocument/2006/math">
                    <m:sSup>
                      <m:sSupPr>
                        <m:ctrlPr>
                          <a:rPr lang="ru-RU" i="1"/>
                        </m:ctrlPr>
                      </m:sSupPr>
                      <m:e>
                        <m:r>
                          <a:rPr lang="ru-RU" i="1"/>
                          <m:t>𝑧</m:t>
                        </m:r>
                      </m:e>
                      <m:sup>
                        <m:r>
                          <a:rPr lang="ru-RU"/>
                          <m:t>(</m:t>
                        </m:r>
                        <m:r>
                          <a:rPr lang="ru-RU" i="1"/>
                          <m:t>𝑙</m:t>
                        </m:r>
                        <m:r>
                          <a:rPr lang="ru-RU"/>
                          <m:t>)</m:t>
                        </m:r>
                      </m:sup>
                    </m:sSup>
                    <m:r>
                      <a:rPr lang="ru-RU"/>
                      <m:t>=</m:t>
                    </m:r>
                    <m:sSup>
                      <m:sSupPr>
                        <m:ctrlPr>
                          <a:rPr lang="ru-RU" i="1"/>
                        </m:ctrlPr>
                      </m:sSupPr>
                      <m:e>
                        <m:r>
                          <a:rPr lang="ru-RU" i="1"/>
                          <m:t>𝑊</m:t>
                        </m:r>
                      </m:e>
                      <m:sup>
                        <m:r>
                          <a:rPr lang="ru-RU"/>
                          <m:t>(</m:t>
                        </m:r>
                        <m:r>
                          <a:rPr lang="ru-RU" i="1"/>
                          <m:t>𝑙</m:t>
                        </m:r>
                        <m:r>
                          <a:rPr lang="ru-RU"/>
                          <m:t>)</m:t>
                        </m:r>
                      </m:sup>
                    </m:sSup>
                    <m:sSup>
                      <m:sSupPr>
                        <m:ctrlPr>
                          <a:rPr lang="ru-RU" i="1"/>
                        </m:ctrlPr>
                      </m:sSupPr>
                      <m:e>
                        <m:r>
                          <a:rPr lang="ru-RU" i="1"/>
                          <m:t>h</m:t>
                        </m:r>
                      </m:e>
                      <m:sup>
                        <m:r>
                          <a:rPr lang="ru-RU"/>
                          <m:t>(</m:t>
                        </m:r>
                        <m:r>
                          <a:rPr lang="ru-RU" i="1"/>
                          <m:t>𝑙</m:t>
                        </m:r>
                        <m:r>
                          <a:rPr lang="ru-RU" i="1"/>
                          <m:t>−</m:t>
                        </m:r>
                        <m:r>
                          <a:rPr lang="ru-RU"/>
                          <m:t>1)</m:t>
                        </m:r>
                      </m:sup>
                    </m:sSup>
                    <m:r>
                      <a:rPr lang="ru-RU"/>
                      <m:t>+</m:t>
                    </m:r>
                    <m:sSup>
                      <m:sSupPr>
                        <m:ctrlPr>
                          <a:rPr lang="ru-RU" i="1"/>
                        </m:ctrlPr>
                      </m:sSupPr>
                      <m:e>
                        <m:r>
                          <a:rPr lang="ru-RU" i="1"/>
                          <m:t>𝑏</m:t>
                        </m:r>
                      </m:e>
                      <m:sup>
                        <m:r>
                          <a:rPr lang="ru-RU"/>
                          <m:t>(</m:t>
                        </m:r>
                        <m:r>
                          <a:rPr lang="ru-RU" i="1"/>
                          <m:t>𝑙</m:t>
                        </m:r>
                        <m:r>
                          <a:rPr lang="ru-RU"/>
                          <m:t>)</m:t>
                        </m:r>
                      </m:sup>
                    </m:sSup>
                    <m:r>
                      <a:rPr lang="ru-RU"/>
                      <m:t>, </m:t>
                    </m:r>
                    <m:sSup>
                      <m:sSupPr>
                        <m:ctrlPr>
                          <a:rPr lang="ru-RU" i="1"/>
                        </m:ctrlPr>
                      </m:sSupPr>
                      <m:e>
                        <m:r>
                          <a:rPr lang="ru-RU" i="1"/>
                          <m:t>h</m:t>
                        </m:r>
                      </m:e>
                      <m:sup>
                        <m:r>
                          <a:rPr lang="ru-RU"/>
                          <m:t>(</m:t>
                        </m:r>
                        <m:r>
                          <a:rPr lang="ru-RU" i="1"/>
                          <m:t>𝑙</m:t>
                        </m:r>
                        <m:r>
                          <a:rPr lang="ru-RU"/>
                          <m:t>)</m:t>
                        </m:r>
                      </m:sup>
                    </m:sSup>
                    <m:r>
                      <a:rPr lang="ru-RU"/>
                      <m:t>=</m:t>
                    </m:r>
                    <m:sSup>
                      <m:sSupPr>
                        <m:ctrlPr>
                          <a:rPr lang="ru-RU" i="1"/>
                        </m:ctrlPr>
                      </m:sSupPr>
                      <m:e>
                        <m:r>
                          <a:rPr lang="ru-RU" i="1"/>
                          <m:t>𝑓</m:t>
                        </m:r>
                      </m:e>
                      <m:sup>
                        <m:r>
                          <a:rPr lang="ru-RU"/>
                          <m:t>(</m:t>
                        </m:r>
                        <m:r>
                          <a:rPr lang="ru-RU" i="1"/>
                          <m:t>𝑙</m:t>
                        </m:r>
                        <m:r>
                          <a:rPr lang="ru-RU"/>
                          <m:t>)</m:t>
                        </m:r>
                      </m:sup>
                    </m:sSup>
                    <m:r>
                      <a:rPr lang="ru-RU" sz="3600"/>
                      <m:t>(</m:t>
                    </m:r>
                    <m:sSup>
                      <m:sSupPr>
                        <m:ctrlPr>
                          <a:rPr lang="ru-RU" i="1"/>
                        </m:ctrlPr>
                      </m:sSupPr>
                      <m:e>
                        <m:r>
                          <a:rPr lang="ru-RU" i="1"/>
                          <m:t>𝑧</m:t>
                        </m:r>
                      </m:e>
                      <m:sup>
                        <m:r>
                          <a:rPr lang="ru-RU"/>
                          <m:t>(</m:t>
                        </m:r>
                        <m:r>
                          <a:rPr lang="ru-RU" i="1"/>
                          <m:t>𝑙</m:t>
                        </m:r>
                        <m:r>
                          <a:rPr lang="ru-RU"/>
                          <m:t>)</m:t>
                        </m:r>
                      </m:sup>
                    </m:sSup>
                    <m:r>
                      <a:rPr lang="ru-RU" sz="3600"/>
                      <m:t>)</m:t>
                    </m:r>
                    <m:r>
                      <a:rPr lang="ru-RU"/>
                      <m:t>.</m:t>
                    </m:r>
                  </m:oMath>
                </a14:m>
                <a:endParaRPr lang="ru-RU" dirty="0"/>
              </a:p>
              <a:p>
                <a:pPr lvl="0"/>
                <a:r>
                  <a:rPr lang="ru-RU" dirty="0"/>
                  <a:t>Инициализация «ошибки» выходного слоя:</a:t>
                </a:r>
                <a14:m>
                  <m:oMath xmlns:m="http://schemas.openxmlformats.org/officeDocument/2006/math">
                    <m:sSup>
                      <m:sSupPr>
                        <m:ctrlPr>
                          <a:rPr lang="ru-RU" i="1"/>
                        </m:ctrlPr>
                      </m:sSupPr>
                      <m:e>
                        <m:r>
                          <a:rPr lang="ru-RU" i="1"/>
                          <m:t>𝛿</m:t>
                        </m:r>
                      </m:e>
                      <m:sup>
                        <m:r>
                          <a:rPr lang="ru-RU"/>
                          <m:t>(</m:t>
                        </m:r>
                        <m:r>
                          <a:rPr lang="ru-RU" i="1"/>
                          <m:t>𝐿</m:t>
                        </m:r>
                        <m:r>
                          <a:rPr lang="ru-RU"/>
                          <m:t>)</m:t>
                        </m:r>
                      </m:sup>
                    </m:sSup>
                    <m:r>
                      <a:rPr lang="ru-RU"/>
                      <m:t>=</m:t>
                    </m:r>
                    <m:r>
                      <a:rPr lang="ru-RU" sz="3600"/>
                      <m:t>(</m:t>
                    </m:r>
                    <m:sSup>
                      <m:sSupPr>
                        <m:ctrlPr>
                          <a:rPr lang="ru-RU" i="1"/>
                        </m:ctrlPr>
                      </m:sSupPr>
                      <m:e>
                        <m:r>
                          <a:rPr lang="ru-RU" i="1"/>
                          <m:t>h</m:t>
                        </m:r>
                      </m:e>
                      <m:sup>
                        <m:r>
                          <a:rPr lang="ru-RU"/>
                          <m:t>(</m:t>
                        </m:r>
                        <m:r>
                          <a:rPr lang="ru-RU" i="1"/>
                          <m:t>𝐿</m:t>
                        </m:r>
                        <m:r>
                          <a:rPr lang="ru-RU"/>
                          <m:t>)</m:t>
                        </m:r>
                      </m:sup>
                    </m:sSup>
                    <m:r>
                      <a:rPr lang="ru-RU" i="1"/>
                      <m:t>−</m:t>
                    </m:r>
                    <m:r>
                      <a:rPr lang="ru-RU" i="1"/>
                      <m:t>𝑡</m:t>
                    </m:r>
                    <m:r>
                      <a:rPr lang="ru-RU" sz="3600"/>
                      <m:t>)</m:t>
                    </m:r>
                    <m:r>
                      <a:rPr lang="ru-RU"/>
                      <m:t>⊙</m:t>
                    </m:r>
                    <m:sSup>
                      <m:sSupPr>
                        <m:ctrlPr>
                          <a:rPr lang="ru-RU" i="1"/>
                        </m:ctrlPr>
                      </m:sSupPr>
                      <m:e>
                        <m:r>
                          <a:rPr lang="ru-RU" i="1"/>
                          <m:t>𝑓</m:t>
                        </m:r>
                      </m:e>
                      <m:sup>
                        <m:r>
                          <a:rPr lang="ru-RU" i="1"/>
                          <m:t>′</m:t>
                        </m:r>
                        <m:r>
                          <a:rPr lang="ru-RU"/>
                          <m:t>(</m:t>
                        </m:r>
                        <m:r>
                          <a:rPr lang="ru-RU" i="1"/>
                          <m:t>𝐿</m:t>
                        </m:r>
                        <m:r>
                          <a:rPr lang="ru-RU"/>
                          <m:t>)</m:t>
                        </m:r>
                      </m:sup>
                    </m:sSup>
                    <m:r>
                      <a:rPr lang="ru-RU" sz="3600"/>
                      <m:t>(</m:t>
                    </m:r>
                    <m:sSup>
                      <m:sSupPr>
                        <m:ctrlPr>
                          <a:rPr lang="ru-RU" i="1"/>
                        </m:ctrlPr>
                      </m:sSupPr>
                      <m:e>
                        <m:r>
                          <a:rPr lang="ru-RU" i="1"/>
                          <m:t>𝑧</m:t>
                        </m:r>
                      </m:e>
                      <m:sup>
                        <m:r>
                          <a:rPr lang="ru-RU"/>
                          <m:t>(</m:t>
                        </m:r>
                        <m:r>
                          <a:rPr lang="ru-RU" i="1"/>
                          <m:t>𝐿</m:t>
                        </m:r>
                        <m:r>
                          <a:rPr lang="ru-RU"/>
                          <m:t>)</m:t>
                        </m:r>
                      </m:sup>
                    </m:sSup>
                    <m:r>
                      <a:rPr lang="ru-RU" sz="3600"/>
                      <m:t>)</m:t>
                    </m:r>
                    <m:r>
                      <a:rPr lang="ru-RU"/>
                      <m:t>.</m:t>
                    </m:r>
                  </m:oMath>
                </a14:m>
                <a:endParaRPr lang="ru-RU" dirty="0"/>
              </a:p>
              <a:p>
                <a:pPr lvl="0"/>
                <a:r>
                  <a:rPr lang="ru-RU" dirty="0"/>
                  <a:t>Рекурсия для скрытых слоёв </a:t>
                </a:r>
                <a14:m>
                  <m:oMath xmlns:m="http://schemas.openxmlformats.org/officeDocument/2006/math">
                    <m:r>
                      <a:rPr lang="ru-RU" i="1"/>
                      <m:t>𝑙</m:t>
                    </m:r>
                    <m:r>
                      <a:rPr lang="ru-RU"/>
                      <m:t>=</m:t>
                    </m:r>
                    <m:r>
                      <a:rPr lang="ru-RU" i="1"/>
                      <m:t>𝐿</m:t>
                    </m:r>
                    <m:r>
                      <a:rPr lang="ru-RU" i="1"/>
                      <m:t>−</m:t>
                    </m:r>
                    <m:r>
                      <a:rPr lang="ru-RU"/>
                      <m:t>1,…,1</m:t>
                    </m:r>
                  </m:oMath>
                </a14:m>
                <a:r>
                  <a:rPr lang="ru-RU" dirty="0"/>
                  <a:t>:</a:t>
                </a:r>
                <a14:m>
                  <m:oMath xmlns:m="http://schemas.openxmlformats.org/officeDocument/2006/math">
                    <m:sSup>
                      <m:sSupPr>
                        <m:ctrlPr>
                          <a:rPr lang="ru-RU" i="1"/>
                        </m:ctrlPr>
                      </m:sSupPr>
                      <m:e>
                        <m:r>
                          <a:rPr lang="ru-RU" i="1"/>
                          <m:t>𝛿</m:t>
                        </m:r>
                      </m:e>
                      <m:sup>
                        <m:r>
                          <a:rPr lang="ru-RU"/>
                          <m:t>(</m:t>
                        </m:r>
                        <m:r>
                          <a:rPr lang="ru-RU" i="1"/>
                          <m:t>𝑙</m:t>
                        </m:r>
                        <m:r>
                          <a:rPr lang="ru-RU"/>
                          <m:t>)</m:t>
                        </m:r>
                      </m:sup>
                    </m:sSup>
                    <m:r>
                      <a:rPr lang="ru-RU"/>
                      <m:t>=</m:t>
                    </m:r>
                    <m:r>
                      <a:rPr lang="ru-RU" sz="3600"/>
                      <m:t>(</m:t>
                    </m:r>
                    <m:sSup>
                      <m:sSupPr>
                        <m:ctrlPr>
                          <a:rPr lang="ru-RU" i="1"/>
                        </m:ctrlPr>
                      </m:sSupPr>
                      <m:e>
                        <m:r>
                          <a:rPr lang="ru-RU" i="1"/>
                          <m:t>𝑊</m:t>
                        </m:r>
                      </m:e>
                      <m:sup>
                        <m:r>
                          <a:rPr lang="ru-RU"/>
                          <m:t>(</m:t>
                        </m:r>
                        <m:r>
                          <a:rPr lang="ru-RU" i="1"/>
                          <m:t>𝑙</m:t>
                        </m:r>
                        <m:r>
                          <a:rPr lang="ru-RU"/>
                          <m:t>+1)</m:t>
                        </m:r>
                      </m:sup>
                    </m:sSup>
                    <m:sSup>
                      <m:sSupPr>
                        <m:ctrlPr>
                          <a:rPr lang="ru-RU" i="1"/>
                        </m:ctrlPr>
                      </m:sSupPr>
                      <m:e>
                        <m:r>
                          <a:rPr lang="ru-RU" sz="3600"/>
                          <m:t>)</m:t>
                        </m:r>
                      </m:e>
                      <m:sup>
                        <m:r>
                          <a:rPr lang="ru-RU" i="1"/>
                          <m:t>𝑇</m:t>
                        </m:r>
                      </m:sup>
                    </m:sSup>
                    <m:sSup>
                      <m:sSupPr>
                        <m:ctrlPr>
                          <a:rPr lang="ru-RU" i="1"/>
                        </m:ctrlPr>
                      </m:sSupPr>
                      <m:e>
                        <m:r>
                          <a:rPr lang="ru-RU" i="1"/>
                          <m:t>𝛿</m:t>
                        </m:r>
                      </m:e>
                      <m:sup>
                        <m:r>
                          <a:rPr lang="ru-RU"/>
                          <m:t>(</m:t>
                        </m:r>
                        <m:r>
                          <a:rPr lang="ru-RU" i="1"/>
                          <m:t>𝑙</m:t>
                        </m:r>
                        <m:r>
                          <a:rPr lang="ru-RU"/>
                          <m:t>+1)</m:t>
                        </m:r>
                      </m:sup>
                    </m:sSup>
                    <m:r>
                      <a:rPr lang="ru-RU"/>
                      <m:t>⊙</m:t>
                    </m:r>
                    <m:sSup>
                      <m:sSupPr>
                        <m:ctrlPr>
                          <a:rPr lang="ru-RU" i="1"/>
                        </m:ctrlPr>
                      </m:sSupPr>
                      <m:e>
                        <m:r>
                          <a:rPr lang="ru-RU" i="1"/>
                          <m:t>𝑓</m:t>
                        </m:r>
                      </m:e>
                      <m:sup>
                        <m:r>
                          <a:rPr lang="ru-RU" i="1"/>
                          <m:t>′</m:t>
                        </m:r>
                        <m:r>
                          <a:rPr lang="ru-RU"/>
                          <m:t>(</m:t>
                        </m:r>
                        <m:r>
                          <a:rPr lang="ru-RU" i="1"/>
                          <m:t>𝑙</m:t>
                        </m:r>
                        <m:r>
                          <a:rPr lang="ru-RU"/>
                          <m:t>)</m:t>
                        </m:r>
                      </m:sup>
                    </m:sSup>
                    <m:r>
                      <a:rPr lang="ru-RU" sz="3600"/>
                      <m:t>(</m:t>
                    </m:r>
                    <m:sSup>
                      <m:sSupPr>
                        <m:ctrlPr>
                          <a:rPr lang="ru-RU" i="1"/>
                        </m:ctrlPr>
                      </m:sSupPr>
                      <m:e>
                        <m:r>
                          <a:rPr lang="ru-RU" i="1"/>
                          <m:t>𝑧</m:t>
                        </m:r>
                      </m:e>
                      <m:sup>
                        <m:r>
                          <a:rPr lang="ru-RU"/>
                          <m:t>(</m:t>
                        </m:r>
                        <m:r>
                          <a:rPr lang="ru-RU" i="1"/>
                          <m:t>𝑙</m:t>
                        </m:r>
                        <m:r>
                          <a:rPr lang="ru-RU"/>
                          <m:t>)</m:t>
                        </m:r>
                      </m:sup>
                    </m:sSup>
                    <m:r>
                      <a:rPr lang="ru-RU" sz="3600"/>
                      <m:t>)</m:t>
                    </m:r>
                    <m:r>
                      <a:rPr lang="ru-RU"/>
                      <m:t>.</m:t>
                    </m:r>
                  </m:oMath>
                </a14:m>
                <a:endParaRPr lang="ru-RU" dirty="0"/>
              </a:p>
              <a:p>
                <a:pPr lvl="0"/>
                <a:r>
                  <a:rPr lang="ru-RU" dirty="0"/>
                  <a:t>Градиенты для данного примера:</a:t>
                </a:r>
                <a14:m>
                  <m:oMath xmlns:m="http://schemas.openxmlformats.org/officeDocument/2006/math">
                    <m:f>
                      <m:fPr>
                        <m:ctrlPr>
                          <a:rPr lang="ru-RU" i="1"/>
                        </m:ctrlPr>
                      </m:fPr>
                      <m:num>
                        <m:r>
                          <a:rPr lang="ru-RU" i="1"/>
                          <m:t>𝜕</m:t>
                        </m:r>
                        <m:r>
                          <a:rPr lang="ru-RU" i="1"/>
                          <m:t>𝐸</m:t>
                        </m:r>
                      </m:num>
                      <m:den>
                        <m:r>
                          <a:rPr lang="ru-RU" i="1"/>
                          <m:t>𝜕</m:t>
                        </m:r>
                        <m:sSup>
                          <m:sSupPr>
                            <m:ctrlPr>
                              <a:rPr lang="ru-RU" i="1"/>
                            </m:ctrlPr>
                          </m:sSupPr>
                          <m:e>
                            <m:r>
                              <a:rPr lang="ru-RU" i="1"/>
                              <m:t>𝑊</m:t>
                            </m:r>
                          </m:e>
                          <m:sup>
                            <m:r>
                              <a:rPr lang="ru-RU"/>
                              <m:t>(</m:t>
                            </m:r>
                            <m:r>
                              <a:rPr lang="ru-RU" i="1"/>
                              <m:t>𝑙</m:t>
                            </m:r>
                            <m:r>
                              <a:rPr lang="ru-RU"/>
                              <m:t>)</m:t>
                            </m:r>
                          </m:sup>
                        </m:sSup>
                      </m:den>
                    </m:f>
                    <m:r>
                      <a:rPr lang="ru-RU"/>
                      <m:t>=</m:t>
                    </m:r>
                    <m:sSup>
                      <m:sSupPr>
                        <m:ctrlPr>
                          <a:rPr lang="ru-RU" i="1"/>
                        </m:ctrlPr>
                      </m:sSupPr>
                      <m:e>
                        <m:r>
                          <a:rPr lang="ru-RU" i="1"/>
                          <m:t>𝛿</m:t>
                        </m:r>
                      </m:e>
                      <m:sup>
                        <m:r>
                          <a:rPr lang="ru-RU"/>
                          <m:t>(</m:t>
                        </m:r>
                        <m:r>
                          <a:rPr lang="ru-RU" i="1"/>
                          <m:t>𝑙</m:t>
                        </m:r>
                        <m:r>
                          <a:rPr lang="ru-RU"/>
                          <m:t>)</m:t>
                        </m:r>
                      </m:sup>
                    </m:sSup>
                    <m:r>
                      <a:rPr lang="ru-RU" sz="3600"/>
                      <m:t>(</m:t>
                    </m:r>
                    <m:sSup>
                      <m:sSupPr>
                        <m:ctrlPr>
                          <a:rPr lang="ru-RU" i="1"/>
                        </m:ctrlPr>
                      </m:sSupPr>
                      <m:e>
                        <m:r>
                          <a:rPr lang="ru-RU" i="1"/>
                          <m:t>h</m:t>
                        </m:r>
                      </m:e>
                      <m:sup>
                        <m:r>
                          <a:rPr lang="ru-RU"/>
                          <m:t>(</m:t>
                        </m:r>
                        <m:r>
                          <a:rPr lang="ru-RU" i="1"/>
                          <m:t>𝑙</m:t>
                        </m:r>
                        <m:r>
                          <a:rPr lang="ru-RU" i="1"/>
                          <m:t>−</m:t>
                        </m:r>
                        <m:r>
                          <a:rPr lang="ru-RU"/>
                          <m:t>1)</m:t>
                        </m:r>
                      </m:sup>
                    </m:sSup>
                    <m:sSup>
                      <m:sSupPr>
                        <m:ctrlPr>
                          <a:rPr lang="ru-RU" i="1"/>
                        </m:ctrlPr>
                      </m:sSupPr>
                      <m:e>
                        <m:r>
                          <a:rPr lang="ru-RU" sz="3600"/>
                          <m:t>)</m:t>
                        </m:r>
                      </m:e>
                      <m:sup>
                        <m:r>
                          <a:rPr lang="ru-RU" i="1"/>
                          <m:t>𝑇</m:t>
                        </m:r>
                      </m:sup>
                    </m:sSup>
                    <m:r>
                      <a:rPr lang="ru-RU"/>
                      <m:t>, </m:t>
                    </m:r>
                    <m:f>
                      <m:fPr>
                        <m:ctrlPr>
                          <a:rPr lang="ru-RU" i="1"/>
                        </m:ctrlPr>
                      </m:fPr>
                      <m:num>
                        <m:r>
                          <a:rPr lang="ru-RU" i="1"/>
                          <m:t>𝜕</m:t>
                        </m:r>
                        <m:r>
                          <a:rPr lang="ru-RU" i="1"/>
                          <m:t>𝐸</m:t>
                        </m:r>
                      </m:num>
                      <m:den>
                        <m:r>
                          <a:rPr lang="ru-RU" i="1"/>
                          <m:t>𝜕</m:t>
                        </m:r>
                        <m:sSup>
                          <m:sSupPr>
                            <m:ctrlPr>
                              <a:rPr lang="ru-RU" i="1"/>
                            </m:ctrlPr>
                          </m:sSupPr>
                          <m:e>
                            <m:r>
                              <a:rPr lang="ru-RU" i="1"/>
                              <m:t>𝑏</m:t>
                            </m:r>
                          </m:e>
                          <m:sup>
                            <m:r>
                              <a:rPr lang="ru-RU"/>
                              <m:t>(</m:t>
                            </m:r>
                            <m:r>
                              <a:rPr lang="ru-RU" i="1"/>
                              <m:t>𝑙</m:t>
                            </m:r>
                            <m:r>
                              <a:rPr lang="ru-RU"/>
                              <m:t>)</m:t>
                            </m:r>
                          </m:sup>
                        </m:sSup>
                      </m:den>
                    </m:f>
                    <m:r>
                      <a:rPr lang="ru-RU"/>
                      <m:t>=</m:t>
                    </m:r>
                    <m:sSup>
                      <m:sSupPr>
                        <m:ctrlPr>
                          <a:rPr lang="ru-RU" i="1"/>
                        </m:ctrlPr>
                      </m:sSupPr>
                      <m:e>
                        <m:r>
                          <a:rPr lang="ru-RU" i="1"/>
                          <m:t>𝛿</m:t>
                        </m:r>
                      </m:e>
                      <m:sup>
                        <m:r>
                          <a:rPr lang="ru-RU"/>
                          <m:t>(</m:t>
                        </m:r>
                        <m:r>
                          <a:rPr lang="ru-RU" i="1"/>
                          <m:t>𝑙</m:t>
                        </m:r>
                        <m:r>
                          <a:rPr lang="ru-RU"/>
                          <m:t>)</m:t>
                        </m:r>
                      </m:sup>
                    </m:sSup>
                    <m:r>
                      <a:rPr lang="ru-RU"/>
                      <m:t>.</m:t>
                    </m:r>
                  </m:oMath>
                </a14:m>
                <a:endParaRPr lang="ru-RU" dirty="0"/>
              </a:p>
              <a:p>
                <a:pPr lvl="0"/>
                <a:r>
                  <a:rPr lang="ru-RU" dirty="0"/>
                  <a:t>Обновление параметров (градиентный спуск):</a:t>
                </a:r>
                <a14:m>
                  <m:oMath xmlns:m="http://schemas.openxmlformats.org/officeDocument/2006/math">
                    <m:sSup>
                      <m:sSupPr>
                        <m:ctrlPr>
                          <a:rPr lang="ru-RU" i="1"/>
                        </m:ctrlPr>
                      </m:sSupPr>
                      <m:e>
                        <m:r>
                          <a:rPr lang="ru-RU" i="1"/>
                          <m:t>𝑊</m:t>
                        </m:r>
                      </m:e>
                      <m:sup>
                        <m:r>
                          <a:rPr lang="ru-RU"/>
                          <m:t>(</m:t>
                        </m:r>
                        <m:r>
                          <a:rPr lang="ru-RU" i="1"/>
                          <m:t>𝑙</m:t>
                        </m:r>
                        <m:r>
                          <a:rPr lang="ru-RU"/>
                          <m:t>)</m:t>
                        </m:r>
                      </m:sup>
                    </m:sSup>
                    <m:r>
                      <a:rPr lang="ru-RU"/>
                      <m:t>←</m:t>
                    </m:r>
                    <m:sSup>
                      <m:sSupPr>
                        <m:ctrlPr>
                          <a:rPr lang="ru-RU" i="1"/>
                        </m:ctrlPr>
                      </m:sSupPr>
                      <m:e>
                        <m:r>
                          <a:rPr lang="ru-RU" i="1"/>
                          <m:t>𝑊</m:t>
                        </m:r>
                      </m:e>
                      <m:sup>
                        <m:r>
                          <a:rPr lang="ru-RU"/>
                          <m:t>(</m:t>
                        </m:r>
                        <m:r>
                          <a:rPr lang="ru-RU" i="1"/>
                          <m:t>𝑙</m:t>
                        </m:r>
                        <m:r>
                          <a:rPr lang="ru-RU"/>
                          <m:t>)</m:t>
                        </m:r>
                      </m:sup>
                    </m:sSup>
                    <m:r>
                      <a:rPr lang="ru-RU" i="1"/>
                      <m:t>−</m:t>
                    </m:r>
                    <m:r>
                      <a:rPr lang="ru-RU" i="1"/>
                      <m:t>𝜂</m:t>
                    </m:r>
                    <m:f>
                      <m:fPr>
                        <m:ctrlPr>
                          <a:rPr lang="ru-RU" i="1"/>
                        </m:ctrlPr>
                      </m:fPr>
                      <m:num>
                        <m:r>
                          <a:rPr lang="ru-RU" i="1"/>
                          <m:t>𝜕</m:t>
                        </m:r>
                        <m:r>
                          <a:rPr lang="ru-RU" i="1"/>
                          <m:t>𝐸</m:t>
                        </m:r>
                      </m:num>
                      <m:den>
                        <m:r>
                          <a:rPr lang="ru-RU" i="1"/>
                          <m:t>𝜕</m:t>
                        </m:r>
                        <m:sSup>
                          <m:sSupPr>
                            <m:ctrlPr>
                              <a:rPr lang="ru-RU" i="1"/>
                            </m:ctrlPr>
                          </m:sSupPr>
                          <m:e>
                            <m:r>
                              <a:rPr lang="ru-RU" i="1"/>
                              <m:t>𝑊</m:t>
                            </m:r>
                          </m:e>
                          <m:sup>
                            <m:r>
                              <a:rPr lang="ru-RU"/>
                              <m:t>(</m:t>
                            </m:r>
                            <m:r>
                              <a:rPr lang="ru-RU" i="1"/>
                              <m:t>𝑙</m:t>
                            </m:r>
                            <m:r>
                              <a:rPr lang="ru-RU"/>
                              <m:t>)</m:t>
                            </m:r>
                          </m:sup>
                        </m:sSup>
                      </m:den>
                    </m:f>
                    <m:r>
                      <a:rPr lang="ru-RU"/>
                      <m:t>, </m:t>
                    </m:r>
                    <m:sSup>
                      <m:sSupPr>
                        <m:ctrlPr>
                          <a:rPr lang="ru-RU" i="1"/>
                        </m:ctrlPr>
                      </m:sSupPr>
                      <m:e>
                        <m:r>
                          <a:rPr lang="ru-RU" i="1"/>
                          <m:t>𝑏</m:t>
                        </m:r>
                      </m:e>
                      <m:sup>
                        <m:r>
                          <a:rPr lang="ru-RU"/>
                          <m:t>(</m:t>
                        </m:r>
                        <m:r>
                          <a:rPr lang="ru-RU" i="1"/>
                          <m:t>𝑙</m:t>
                        </m:r>
                        <m:r>
                          <a:rPr lang="ru-RU"/>
                          <m:t>)</m:t>
                        </m:r>
                      </m:sup>
                    </m:sSup>
                    <m:r>
                      <a:rPr lang="ru-RU"/>
                      <m:t>←</m:t>
                    </m:r>
                    <m:sSup>
                      <m:sSupPr>
                        <m:ctrlPr>
                          <a:rPr lang="ru-RU" i="1"/>
                        </m:ctrlPr>
                      </m:sSupPr>
                      <m:e>
                        <m:r>
                          <a:rPr lang="ru-RU" i="1"/>
                          <m:t>𝑏</m:t>
                        </m:r>
                      </m:e>
                      <m:sup>
                        <m:r>
                          <a:rPr lang="ru-RU"/>
                          <m:t>(</m:t>
                        </m:r>
                        <m:r>
                          <a:rPr lang="ru-RU" i="1"/>
                          <m:t>𝑙</m:t>
                        </m:r>
                        <m:r>
                          <a:rPr lang="ru-RU"/>
                          <m:t>)</m:t>
                        </m:r>
                      </m:sup>
                    </m:sSup>
                    <m:r>
                      <a:rPr lang="ru-RU" i="1"/>
                      <m:t>−</m:t>
                    </m:r>
                    <m:r>
                      <a:rPr lang="ru-RU" i="1"/>
                      <m:t>𝜂</m:t>
                    </m:r>
                    <m:f>
                      <m:fPr>
                        <m:ctrlPr>
                          <a:rPr lang="ru-RU" i="1"/>
                        </m:ctrlPr>
                      </m:fPr>
                      <m:num>
                        <m:r>
                          <a:rPr lang="ru-RU" i="1"/>
                          <m:t>𝜕</m:t>
                        </m:r>
                        <m:r>
                          <a:rPr lang="ru-RU" i="1"/>
                          <m:t>𝐸</m:t>
                        </m:r>
                      </m:num>
                      <m:den>
                        <m:r>
                          <a:rPr lang="ru-RU" i="1"/>
                          <m:t>𝜕</m:t>
                        </m:r>
                        <m:sSup>
                          <m:sSupPr>
                            <m:ctrlPr>
                              <a:rPr lang="ru-RU" i="1"/>
                            </m:ctrlPr>
                          </m:sSupPr>
                          <m:e>
                            <m:r>
                              <a:rPr lang="ru-RU" i="1"/>
                              <m:t>𝑏</m:t>
                            </m:r>
                          </m:e>
                          <m:sup>
                            <m:r>
                              <a:rPr lang="ru-RU"/>
                              <m:t>(</m:t>
                            </m:r>
                            <m:r>
                              <a:rPr lang="ru-RU" i="1"/>
                              <m:t>𝑙</m:t>
                            </m:r>
                            <m:r>
                              <a:rPr lang="ru-RU"/>
                              <m:t>)</m:t>
                            </m:r>
                          </m:sup>
                        </m:sSup>
                      </m:den>
                    </m:f>
                    <m:r>
                      <a:rPr lang="ru-RU"/>
                      <m:t>.</m:t>
                    </m:r>
                  </m:oMath>
                </a14:m>
                <a:endParaRPr lang="ru-RU" dirty="0"/>
              </a:p>
              <a:p>
                <a:r>
                  <a:rPr lang="ru-RU" dirty="0"/>
                  <a:t>Для мини-</a:t>
                </a:r>
                <a:r>
                  <a:rPr lang="ru-RU" dirty="0" err="1"/>
                  <a:t>батча</a:t>
                </a:r>
                <a:r>
                  <a:rPr lang="ru-RU" dirty="0"/>
                  <a:t> из нескольких примеров градиенты берутся как сумма (или среднее) по примерам.</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b="-62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44</a:t>
            </a:fld>
            <a:endParaRPr lang="ru-RU" noProof="0" dirty="0"/>
          </a:p>
        </p:txBody>
      </p:sp>
    </p:spTree>
    <p:extLst>
      <p:ext uri="{BB962C8B-B14F-4D97-AF65-F5344CB8AC3E}">
        <p14:creationId xmlns:p14="http://schemas.microsoft.com/office/powerpoint/2010/main" val="2243177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Итоговые формулы алгоритма обратного распространения</a:t>
            </a:r>
            <a:endParaRPr lang="ru-RU" b="1"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lstStyle/>
              <a:p>
                <a:r>
                  <a:rPr lang="ru-RU" dirty="0" smtClean="0"/>
                  <a:t>Подразумеваем что </a:t>
                </a:r>
                <a14:m>
                  <m:oMath xmlns:m="http://schemas.openxmlformats.org/officeDocument/2006/math">
                    <m:r>
                      <a:rPr lang="ru-RU" i="1"/>
                      <m:t>𝑥</m:t>
                    </m:r>
                  </m:oMath>
                </a14:m>
                <a:r>
                  <a:rPr lang="ru-RU" dirty="0"/>
                  <a:t> — </a:t>
                </a:r>
                <a:r>
                  <a:rPr lang="ru-RU" dirty="0" smtClean="0"/>
                  <a:t>это </a:t>
                </a:r>
                <a:r>
                  <a:rPr lang="ru-RU" dirty="0"/>
                  <a:t>вектор пикселей изображения:</a:t>
                </a:r>
              </a:p>
              <a:p>
                <a:pPr lvl="0"/>
                <a14:m>
                  <m:oMath xmlns:m="http://schemas.openxmlformats.org/officeDocument/2006/math">
                    <m:r>
                      <a:rPr lang="ru-RU" i="1"/>
                      <m:t>𝑥</m:t>
                    </m:r>
                    <m:r>
                      <a:rPr lang="ru-RU"/>
                      <m:t>∈</m:t>
                    </m:r>
                    <m:sSup>
                      <m:sSupPr>
                        <m:ctrlPr>
                          <a:rPr lang="ru-RU" i="1"/>
                        </m:ctrlPr>
                      </m:sSupPr>
                      <m:e>
                        <m:r>
                          <a:rPr lang="ru-RU" i="1"/>
                          <m:t>ℝ</m:t>
                        </m:r>
                      </m:e>
                      <m:sup>
                        <m:r>
                          <a:rPr lang="ru-RU" i="1"/>
                          <m:t>𝑑</m:t>
                        </m:r>
                      </m:sup>
                    </m:sSup>
                  </m:oMath>
                </a14:m>
                <a:r>
                  <a:rPr lang="ru-RU" dirty="0"/>
                  <a:t>, где </a:t>
                </a:r>
                <a14:m>
                  <m:oMath xmlns:m="http://schemas.openxmlformats.org/officeDocument/2006/math">
                    <m:r>
                      <a:rPr lang="ru-RU" i="1"/>
                      <m:t>𝑑</m:t>
                    </m:r>
                    <m:r>
                      <a:rPr lang="ru-RU"/>
                      <m:t>=</m:t>
                    </m:r>
                    <m:r>
                      <a:rPr lang="ru-RU" i="1"/>
                      <m:t>𝑚</m:t>
                    </m:r>
                    <m:r>
                      <a:rPr lang="ru-RU"/>
                      <m:t>⋅</m:t>
                    </m:r>
                    <m:r>
                      <a:rPr lang="ru-RU" i="1"/>
                      <m:t>𝑛</m:t>
                    </m:r>
                  </m:oMath>
                </a14:m>
                <a:r>
                  <a:rPr lang="ru-RU" dirty="0"/>
                  <a:t> для изображения </a:t>
                </a:r>
                <a14:m>
                  <m:oMath xmlns:m="http://schemas.openxmlformats.org/officeDocument/2006/math">
                    <m:r>
                      <a:rPr lang="ru-RU" i="1"/>
                      <m:t>𝑚</m:t>
                    </m:r>
                    <m:r>
                      <a:rPr lang="ru-RU"/>
                      <m:t>×</m:t>
                    </m:r>
                    <m:r>
                      <a:rPr lang="ru-RU" i="1"/>
                      <m:t>𝑛</m:t>
                    </m:r>
                  </m:oMath>
                </a14:m>
                <a:r>
                  <a:rPr lang="ru-RU" dirty="0"/>
                  <a:t>, пиксели развёрнуты в вектор.</a:t>
                </a:r>
              </a:p>
              <a:p>
                <a:pPr lvl="0"/>
                <a:r>
                  <a:rPr lang="ru-RU" dirty="0"/>
                  <a:t>Веса первого слоя </a:t>
                </a:r>
                <a14:m>
                  <m:oMath xmlns:m="http://schemas.openxmlformats.org/officeDocument/2006/math">
                    <m:sSup>
                      <m:sSupPr>
                        <m:ctrlPr>
                          <a:rPr lang="ru-RU" i="1"/>
                        </m:ctrlPr>
                      </m:sSupPr>
                      <m:e>
                        <m:r>
                          <a:rPr lang="ru-RU" i="1"/>
                          <m:t>𝑊</m:t>
                        </m:r>
                      </m:e>
                      <m:sup>
                        <m:r>
                          <a:rPr lang="ru-RU"/>
                          <m:t>(1)</m:t>
                        </m:r>
                      </m:sup>
                    </m:sSup>
                  </m:oMath>
                </a14:m>
                <a:r>
                  <a:rPr lang="ru-RU" dirty="0"/>
                  <a:t> задают линейные фильтры над пикселями (по сути, «проекции» изображения).</a:t>
                </a:r>
              </a:p>
              <a:p>
                <a:r>
                  <a:rPr lang="ru-RU" dirty="0"/>
                  <a:t>Дальнейшие слои создают всё более сложные нелинейные комбинации этих </a:t>
                </a:r>
                <a:r>
                  <a:rPr lang="ru-RU" dirty="0" smtClean="0"/>
                  <a:t>фрагментов.</a:t>
                </a:r>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005"/>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45</a:t>
            </a:fld>
            <a:endParaRPr lang="ru-RU" noProof="0" dirty="0"/>
          </a:p>
        </p:txBody>
      </p:sp>
    </p:spTree>
    <p:extLst>
      <p:ext uri="{BB962C8B-B14F-4D97-AF65-F5344CB8AC3E}">
        <p14:creationId xmlns:p14="http://schemas.microsoft.com/office/powerpoint/2010/main" val="1846504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Полный алгоритм обучения MLP</a:t>
            </a:r>
            <a:endParaRPr lang="ru-RU" sz="2800" dirty="0"/>
          </a:p>
        </p:txBody>
      </p:sp>
      <p:sp>
        <p:nvSpPr>
          <p:cNvPr id="3" name="Объект 2"/>
          <p:cNvSpPr>
            <a:spLocks noGrp="1"/>
          </p:cNvSpPr>
          <p:nvPr>
            <p:ph idx="1"/>
          </p:nvPr>
        </p:nvSpPr>
        <p:spPr/>
        <p:txBody>
          <a:bodyPr/>
          <a:lstStyle/>
          <a:p>
            <a:pPr lvl="0"/>
            <a:r>
              <a:rPr lang="ru-RU" dirty="0" smtClean="0"/>
              <a:t>Один </a:t>
            </a:r>
            <a:r>
              <a:rPr lang="ru-RU" dirty="0"/>
              <a:t>цикл обучения:</a:t>
            </a:r>
          </a:p>
          <a:p>
            <a:pPr marL="387350" indent="-342900">
              <a:buFont typeface="Arial" panose="020B0604020202020204" pitchFamily="34" charset="0"/>
              <a:buChar char="•"/>
            </a:pPr>
            <a:r>
              <a:rPr lang="ru-RU" dirty="0"/>
              <a:t>Инициализация весов.</a:t>
            </a:r>
          </a:p>
          <a:p>
            <a:pPr marL="387350" indent="-342900">
              <a:buFont typeface="Arial" panose="020B0604020202020204" pitchFamily="34" charset="0"/>
              <a:buChar char="•"/>
            </a:pPr>
            <a:r>
              <a:rPr lang="ru-RU" dirty="0"/>
              <a:t>Прямой проход.</a:t>
            </a:r>
          </a:p>
          <a:p>
            <a:pPr marL="387350" indent="-342900">
              <a:buFont typeface="Arial" panose="020B0604020202020204" pitchFamily="34" charset="0"/>
              <a:buChar char="•"/>
            </a:pPr>
            <a:r>
              <a:rPr lang="ru-RU" dirty="0"/>
              <a:t>Вычисление ошибки.</a:t>
            </a:r>
          </a:p>
          <a:p>
            <a:pPr marL="387350" indent="-342900">
              <a:buFont typeface="Arial" panose="020B0604020202020204" pitchFamily="34" charset="0"/>
              <a:buChar char="•"/>
            </a:pPr>
            <a:r>
              <a:rPr lang="ru-RU" dirty="0"/>
              <a:t>Обратный проход.</a:t>
            </a:r>
          </a:p>
          <a:p>
            <a:pPr marL="387350" indent="-342900">
              <a:buFont typeface="Arial" panose="020B0604020202020204" pitchFamily="34" charset="0"/>
              <a:buChar char="•"/>
            </a:pPr>
            <a:r>
              <a:rPr lang="ru-RU" dirty="0"/>
              <a:t>Обновление весов.</a:t>
            </a:r>
          </a:p>
          <a:p>
            <a:pPr marL="387350" indent="-342900">
              <a:buFont typeface="Arial" panose="020B0604020202020204" pitchFamily="34" charset="0"/>
              <a:buChar char="•"/>
            </a:pPr>
            <a:r>
              <a:rPr lang="ru-RU" dirty="0"/>
              <a:t>Переход к следующему примеру/</a:t>
            </a:r>
            <a:r>
              <a:rPr lang="ru-RU" dirty="0" err="1"/>
              <a:t>батчу</a:t>
            </a:r>
            <a:r>
              <a:rPr lang="ru-RU" dirty="0"/>
              <a:t>/эпохе.</a:t>
            </a:r>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46</a:t>
            </a:fld>
            <a:endParaRPr lang="ru-RU" noProof="0" dirty="0"/>
          </a:p>
        </p:txBody>
      </p:sp>
    </p:spTree>
    <p:extLst>
      <p:ext uri="{BB962C8B-B14F-4D97-AF65-F5344CB8AC3E}">
        <p14:creationId xmlns:p14="http://schemas.microsoft.com/office/powerpoint/2010/main" val="2240769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Переобучение нейронной сети</a:t>
            </a:r>
          </a:p>
        </p:txBody>
      </p:sp>
      <p:sp>
        <p:nvSpPr>
          <p:cNvPr id="3" name="Текст 2"/>
          <p:cNvSpPr>
            <a:spLocks noGrp="1"/>
          </p:cNvSpPr>
          <p:nvPr>
            <p:ph type="body" idx="1"/>
          </p:nvPr>
        </p:nvSpPr>
        <p:spPr/>
        <p:txBody>
          <a:bodyPr/>
          <a:lstStyle/>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47</a:t>
            </a:fld>
            <a:endParaRPr lang="ru-RU" noProof="0" dirty="0"/>
          </a:p>
        </p:txBody>
      </p:sp>
    </p:spTree>
    <p:extLst>
      <p:ext uri="{BB962C8B-B14F-4D97-AF65-F5344CB8AC3E}">
        <p14:creationId xmlns:p14="http://schemas.microsoft.com/office/powerpoint/2010/main" val="680886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Проблема переобучения</a:t>
            </a:r>
            <a:endParaRPr lang="ru-RU" dirty="0"/>
          </a:p>
        </p:txBody>
      </p:sp>
      <p:sp>
        <p:nvSpPr>
          <p:cNvPr id="3" name="Объект 2"/>
          <p:cNvSpPr>
            <a:spLocks noGrp="1"/>
          </p:cNvSpPr>
          <p:nvPr>
            <p:ph idx="1"/>
          </p:nvPr>
        </p:nvSpPr>
        <p:spPr/>
        <p:txBody>
          <a:bodyPr>
            <a:normAutofit/>
          </a:bodyPr>
          <a:lstStyle/>
          <a:p>
            <a:r>
              <a:rPr lang="ru-RU" dirty="0"/>
              <a:t>Переобучение, или чрезмерно близкая подгонка - излишне точное соответствие нейронной сети конкретному набору обучающих примеров, при котором сеть теряет способность к обобщению</a:t>
            </a:r>
            <a:r>
              <a:rPr lang="ru-RU" dirty="0" smtClean="0"/>
              <a:t>.</a:t>
            </a:r>
          </a:p>
          <a:p>
            <a:r>
              <a:rPr lang="ru-RU" dirty="0"/>
              <a:t>Переобучение (</a:t>
            </a:r>
            <a:r>
              <a:rPr lang="en-US" dirty="0"/>
              <a:t>overfitting</a:t>
            </a:r>
            <a:r>
              <a:rPr lang="ru-RU" dirty="0"/>
              <a:t>) связано с тем, что выбор обучающего (тренировочного) множества является случайным. С первых шагов обучения происходит уменьшение ошибки. На последующих шагах с целью уменьшения ошибки (целевой функции) параметры подстраиваются под особенности обучающего множества. Однако при этом происходит "подстройка" не под общие закономерности ряда, а под особенности его части - обучающего подмножества. При этом точность прогноза уменьшается.</a:t>
            </a:r>
          </a:p>
          <a:p>
            <a:endParaRPr lang="ru-RU" dirty="0"/>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48</a:t>
            </a:fld>
            <a:endParaRPr lang="ru-RU" noProof="0" dirty="0"/>
          </a:p>
        </p:txBody>
      </p:sp>
    </p:spTree>
    <p:extLst>
      <p:ext uri="{BB962C8B-B14F-4D97-AF65-F5344CB8AC3E}">
        <p14:creationId xmlns:p14="http://schemas.microsoft.com/office/powerpoint/2010/main" val="3939987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err="1"/>
              <a:t>Недообучение</a:t>
            </a:r>
            <a:r>
              <a:rPr lang="ru-RU" b="1" dirty="0"/>
              <a:t> и переобучение</a:t>
            </a:r>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49</a:t>
            </a:fld>
            <a:endParaRPr lang="ru-RU" noProof="0" dirty="0"/>
          </a:p>
        </p:txBody>
      </p:sp>
      <p:pic>
        <p:nvPicPr>
          <p:cNvPr id="2054" name="Picture 6" descr="https://studfile.net/html/ea/ea7c/ea7cf5625efeb9fd77e5678423c106a5cb9a6825829f87d96d2c09a0e7200e70/img-QXgepo.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3757" y="1262669"/>
            <a:ext cx="9582232" cy="2820787"/>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173757" y="4329175"/>
            <a:ext cx="9582231" cy="506292"/>
          </a:xfrm>
          <a:prstGeom prst="rect">
            <a:avLst/>
          </a:prstGeom>
        </p:spPr>
        <p:txBody>
          <a:bodyPr wrap="square">
            <a:spAutoFit/>
          </a:bodyPr>
          <a:lstStyle/>
          <a:p>
            <a:pPr lvl="1">
              <a:lnSpc>
                <a:spcPct val="150000"/>
              </a:lnSpc>
              <a:spcBef>
                <a:spcPts val="525"/>
              </a:spcBef>
              <a:spcAft>
                <a:spcPts val="525"/>
              </a:spcAft>
              <a:tabLst>
                <a:tab pos="914400" algn="l"/>
              </a:tabLst>
            </a:pPr>
            <a:r>
              <a:rPr lang="ru-RU" sz="2000" dirty="0" err="1">
                <a:latin typeface="+mj-lt"/>
                <a:ea typeface="source serif 4"/>
                <a:cs typeface="source serif 4"/>
              </a:rPr>
              <a:t>недообучение</a:t>
            </a:r>
            <a:r>
              <a:rPr lang="ru-RU" sz="2000" dirty="0" smtClean="0">
                <a:latin typeface="+mj-lt"/>
                <a:ea typeface="source serif 4"/>
                <a:cs typeface="source serif 4"/>
              </a:rPr>
              <a:t>, 		хорошее </a:t>
            </a:r>
            <a:r>
              <a:rPr lang="ru-RU" sz="2000" dirty="0">
                <a:latin typeface="+mj-lt"/>
                <a:ea typeface="source serif 4"/>
                <a:cs typeface="source serif 4"/>
              </a:rPr>
              <a:t>обобщение</a:t>
            </a:r>
            <a:r>
              <a:rPr lang="ru-RU" sz="2000" dirty="0" smtClean="0">
                <a:latin typeface="+mj-lt"/>
                <a:ea typeface="source serif 4"/>
                <a:cs typeface="source serif 4"/>
              </a:rPr>
              <a:t>, 		переобучение</a:t>
            </a:r>
            <a:r>
              <a:rPr lang="ru-RU" sz="2000" dirty="0">
                <a:latin typeface="+mj-lt"/>
                <a:ea typeface="source serif 4"/>
                <a:cs typeface="source serif 4"/>
              </a:rPr>
              <a:t>.</a:t>
            </a:r>
            <a:endParaRPr lang="ru-RU" sz="4000" dirty="0">
              <a:latin typeface="+mj-lt"/>
            </a:endParaRPr>
          </a:p>
        </p:txBody>
      </p:sp>
    </p:spTree>
    <p:extLst>
      <p:ext uri="{BB962C8B-B14F-4D97-AF65-F5344CB8AC3E}">
        <p14:creationId xmlns:p14="http://schemas.microsoft.com/office/powerpoint/2010/main" val="1286727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Причины переобучения</a:t>
            </a:r>
            <a:endParaRPr lang="ru-RU" dirty="0"/>
          </a:p>
        </p:txBody>
      </p:sp>
      <p:sp>
        <p:nvSpPr>
          <p:cNvPr id="3" name="Объект 2"/>
          <p:cNvSpPr>
            <a:spLocks noGrp="1"/>
          </p:cNvSpPr>
          <p:nvPr>
            <p:ph idx="1"/>
          </p:nvPr>
        </p:nvSpPr>
        <p:spPr/>
        <p:txBody>
          <a:bodyPr/>
          <a:lstStyle/>
          <a:p>
            <a:pPr marL="388620" lvl="0" indent="-342900">
              <a:buFont typeface="Arial" panose="020B0604020202020204" pitchFamily="34" charset="0"/>
              <a:buChar char="•"/>
            </a:pPr>
            <a:r>
              <a:rPr lang="ru-RU" dirty="0" smtClean="0"/>
              <a:t>Недостаток </a:t>
            </a:r>
            <a:r>
              <a:rPr lang="ru-RU" dirty="0"/>
              <a:t>данных.</a:t>
            </a:r>
          </a:p>
          <a:p>
            <a:pPr marL="388620" lvl="0" indent="-342900">
              <a:buFont typeface="Arial" panose="020B0604020202020204" pitchFamily="34" charset="0"/>
              <a:buChar char="•"/>
            </a:pPr>
            <a:r>
              <a:rPr lang="ru-RU" dirty="0"/>
              <a:t>Слишком сложная модель.</a:t>
            </a:r>
          </a:p>
          <a:p>
            <a:pPr marL="388620" lvl="0" indent="-342900">
              <a:buFont typeface="Arial" panose="020B0604020202020204" pitchFamily="34" charset="0"/>
              <a:buChar char="•"/>
            </a:pPr>
            <a:r>
              <a:rPr lang="ru-RU" dirty="0"/>
              <a:t>Слишком долгое обучение.</a:t>
            </a:r>
          </a:p>
          <a:p>
            <a:pPr marL="388620" indent="-342900">
              <a:buFont typeface="Arial" panose="020B0604020202020204" pitchFamily="34" charset="0"/>
              <a:buChar char="•"/>
            </a:pPr>
            <a:r>
              <a:rPr lang="ru-RU" dirty="0"/>
              <a:t>Шумные или нерепрезентативные данные.</a:t>
            </a:r>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50</a:t>
            </a:fld>
            <a:endParaRPr lang="ru-RU" noProof="0" dirty="0"/>
          </a:p>
        </p:txBody>
      </p:sp>
    </p:spTree>
    <p:extLst>
      <p:ext uri="{BB962C8B-B14F-4D97-AF65-F5344CB8AC3E}">
        <p14:creationId xmlns:p14="http://schemas.microsoft.com/office/powerpoint/2010/main" val="32531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Методы борьбы с </a:t>
            </a:r>
            <a:r>
              <a:rPr lang="ru-RU" b="1" dirty="0" smtClean="0"/>
              <a:t>переобучением</a:t>
            </a:r>
            <a:endParaRPr lang="ru-RU" dirty="0"/>
          </a:p>
        </p:txBody>
      </p:sp>
      <p:sp>
        <p:nvSpPr>
          <p:cNvPr id="3" name="Объект 2"/>
          <p:cNvSpPr>
            <a:spLocks noGrp="1"/>
          </p:cNvSpPr>
          <p:nvPr>
            <p:ph idx="1"/>
          </p:nvPr>
        </p:nvSpPr>
        <p:spPr/>
        <p:txBody>
          <a:bodyPr/>
          <a:lstStyle/>
          <a:p>
            <a:pPr lvl="0"/>
            <a:r>
              <a:rPr lang="ru-RU" dirty="0" smtClean="0"/>
              <a:t>Регуляризация </a:t>
            </a:r>
            <a:r>
              <a:rPr lang="ru-RU" dirty="0"/>
              <a:t>весов.</a:t>
            </a:r>
          </a:p>
          <a:p>
            <a:pPr lvl="0"/>
            <a:r>
              <a:rPr lang="ru-RU" dirty="0"/>
              <a:t>Разделение на</a:t>
            </a:r>
            <a:r>
              <a:rPr lang="en-US" dirty="0"/>
              <a:t> train/validation/test.</a:t>
            </a:r>
            <a:endParaRPr lang="ru-RU" dirty="0"/>
          </a:p>
          <a:p>
            <a:pPr lvl="0"/>
            <a:r>
              <a:rPr lang="ru-RU" dirty="0"/>
              <a:t>Ранняя остановка.</a:t>
            </a:r>
          </a:p>
          <a:p>
            <a:pPr lvl="0"/>
            <a:r>
              <a:rPr lang="ru-RU" dirty="0"/>
              <a:t>Кросс-валидация.</a:t>
            </a:r>
          </a:p>
          <a:p>
            <a:r>
              <a:rPr lang="ru-RU" dirty="0"/>
              <a:t>Добавление шума/аугментация.</a:t>
            </a:r>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51</a:t>
            </a:fld>
            <a:endParaRPr lang="ru-RU" noProof="0" dirty="0"/>
          </a:p>
        </p:txBody>
      </p:sp>
    </p:spTree>
    <p:extLst>
      <p:ext uri="{BB962C8B-B14F-4D97-AF65-F5344CB8AC3E}">
        <p14:creationId xmlns:p14="http://schemas.microsoft.com/office/powerpoint/2010/main" val="1344671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Сине-зеленые полосы (16:9)">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3247022_TF02895254.potx" id="{198CF2A0-90BF-459D-9533-A31A2DA98B2D}" vid="{4210E57F-7762-4228-BD18-F5500C92346E}"/>
    </a:ext>
  </a:extLst>
</a:theme>
</file>

<file path=ppt/theme/theme2.xml><?xml version="1.0" encoding="utf-8"?>
<a:theme xmlns:a="http://schemas.openxmlformats.org/drawingml/2006/main" name="Тема Offic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Тема Offic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0B0D886-CB8D-4564-A797-C05BC7D513A8}">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40262f94-9f35-4ac3-9a90-690165a166b7"/>
    <ds:schemaRef ds:uri="a4f35948-e619-41b3-aa29-22878b09cfd2"/>
    <ds:schemaRef ds:uri="http://www.w3.org/XML/1998/namespace"/>
    <ds:schemaRef ds:uri="http://purl.org/dc/dcmitype/"/>
  </ds:schemaRefs>
</ds:datastoreItem>
</file>

<file path=customXml/itemProps2.xml><?xml version="1.0" encoding="utf-8"?>
<ds:datastoreItem xmlns:ds="http://schemas.openxmlformats.org/officeDocument/2006/customXml" ds:itemID="{ED65A2C9-CB67-4F36-A412-EEC1AD297F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AC2023F-644C-4F7E-8E8C-CDBE4A63C7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Презентация с сине-зеленой каймой (широкоэкранный формат)</Template>
  <TotalTime>512</TotalTime>
  <Words>5091</Words>
  <Application>Microsoft Office PowerPoint</Application>
  <PresentationFormat>Широкоэкранный</PresentationFormat>
  <Paragraphs>341</Paragraphs>
  <Slides>51</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51</vt:i4>
      </vt:variant>
    </vt:vector>
  </HeadingPairs>
  <TitlesOfParts>
    <vt:vector size="56" baseType="lpstr">
      <vt:lpstr>Arial</vt:lpstr>
      <vt:lpstr>Calibri</vt:lpstr>
      <vt:lpstr>Cambria Math</vt:lpstr>
      <vt:lpstr>source serif 4</vt:lpstr>
      <vt:lpstr>Сине-зеленые полосы (16:9)</vt:lpstr>
      <vt:lpstr>Многослойные нейронные сети</vt:lpstr>
      <vt:lpstr>План лекции</vt:lpstr>
      <vt:lpstr>Ограничения однослойного персептрона</vt:lpstr>
      <vt:lpstr>Переход к многослойной сети</vt:lpstr>
      <vt:lpstr>Переход к многослойной сети</vt:lpstr>
      <vt:lpstr>Переход к многослойной сети</vt:lpstr>
      <vt:lpstr>Переход к многослойной сети</vt:lpstr>
      <vt:lpstr>Переход к многослойной сети</vt:lpstr>
      <vt:lpstr>Переход к многослойной сети</vt:lpstr>
      <vt:lpstr>Формальная запись нейрона слоя</vt:lpstr>
      <vt:lpstr>Формальная запись нейрона слоя</vt:lpstr>
      <vt:lpstr>Формальная запись нейрона слоя</vt:lpstr>
      <vt:lpstr>Формальная запись нейрона слоя</vt:lpstr>
      <vt:lpstr>Формальная запись нейрона слоя</vt:lpstr>
      <vt:lpstr>Формальная запись нейрона слоя</vt:lpstr>
      <vt:lpstr>Формальная модель слоя в векторно-матричной форме</vt:lpstr>
      <vt:lpstr>Формальная модель слоя в векторно-матричной форме</vt:lpstr>
      <vt:lpstr>Почему нужна нелинейность</vt:lpstr>
      <vt:lpstr>Метод обратного распространения ошибки</vt:lpstr>
      <vt:lpstr>Презентация PowerPoint</vt:lpstr>
      <vt:lpstr>Прямое распространение (forward pass)</vt:lpstr>
      <vt:lpstr>Прямое распространение (forward pass)</vt:lpstr>
      <vt:lpstr>Прямое распространение (forward pass)</vt:lpstr>
      <vt:lpstr>Прямое распространение (forward pass)</vt:lpstr>
      <vt:lpstr>Прямое распространение (forward pass)</vt:lpstr>
      <vt:lpstr>Прямое распространение (forward pass)</vt:lpstr>
      <vt:lpstr>Ошибка и задача обучения</vt:lpstr>
      <vt:lpstr>Ошибка и задача обучения</vt:lpstr>
      <vt:lpstr>Ошибка и задача обучения</vt:lpstr>
      <vt:lpstr>Ошибка и задача обучения</vt:lpstr>
      <vt:lpstr>Ошибка и задача обучения</vt:lpstr>
      <vt:lpstr>Идея градиентного обучения</vt:lpstr>
      <vt:lpstr>Идея градиентного обучения</vt:lpstr>
      <vt:lpstr>Идея градиентного обучения</vt:lpstr>
      <vt:lpstr>Обратное распространение ошибки</vt:lpstr>
      <vt:lpstr>Обратное распространение ошибки</vt:lpstr>
      <vt:lpstr>Обратное распространение ошибки</vt:lpstr>
      <vt:lpstr>Обратное распространение ошибки</vt:lpstr>
      <vt:lpstr>Обратное распространение ошибки</vt:lpstr>
      <vt:lpstr>Обратное распространение ошибки</vt:lpstr>
      <vt:lpstr>Обратное распространение ошибки</vt:lpstr>
      <vt:lpstr>Обратное распространение ошибки</vt:lpstr>
      <vt:lpstr>Обратное распространение ошибки</vt:lpstr>
      <vt:lpstr>Итоговые формулы алгоритма обратного распространения</vt:lpstr>
      <vt:lpstr>Итоговые формулы алгоритма обратного распространения</vt:lpstr>
      <vt:lpstr>Полный алгоритм обучения MLP</vt:lpstr>
      <vt:lpstr>Переобучение нейронной сети</vt:lpstr>
      <vt:lpstr>Проблема переобучения</vt:lpstr>
      <vt:lpstr>Недообучение и переобучение</vt:lpstr>
      <vt:lpstr>Причины переобучения</vt:lpstr>
      <vt:lpstr>Методы борьбы с переобучением</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Макет заголовка</dc:title>
  <dc:creator>Сергей Н. Ткаченко</dc:creator>
  <cp:lastModifiedBy>Сергей Н. Ткаченко</cp:lastModifiedBy>
  <cp:revision>112</cp:revision>
  <dcterms:created xsi:type="dcterms:W3CDTF">2026-07-22T14:53:45Z</dcterms:created>
  <dcterms:modified xsi:type="dcterms:W3CDTF">2026-07-25T15:03:56Z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
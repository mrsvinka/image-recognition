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8"/>
  </p:notesMasterIdLst>
  <p:handoutMasterIdLst>
    <p:handoutMasterId r:id="rId59"/>
  </p:handoutMasterIdLst>
  <p:sldIdLst>
    <p:sldId id="256" r:id="rId5"/>
    <p:sldId id="265" r:id="rId6"/>
    <p:sldId id="328" r:id="rId7"/>
    <p:sldId id="272" r:id="rId8"/>
    <p:sldId id="273" r:id="rId9"/>
    <p:sldId id="329" r:id="rId10"/>
    <p:sldId id="280" r:id="rId11"/>
    <p:sldId id="330" r:id="rId12"/>
    <p:sldId id="281" r:id="rId13"/>
    <p:sldId id="331" r:id="rId14"/>
    <p:sldId id="277" r:id="rId15"/>
    <p:sldId id="332" r:id="rId16"/>
    <p:sldId id="278" r:id="rId17"/>
    <p:sldId id="279" r:id="rId18"/>
    <p:sldId id="333" r:id="rId19"/>
    <p:sldId id="282" r:id="rId20"/>
    <p:sldId id="335" r:id="rId21"/>
    <p:sldId id="336" r:id="rId22"/>
    <p:sldId id="337" r:id="rId23"/>
    <p:sldId id="338" r:id="rId24"/>
    <p:sldId id="316" r:id="rId25"/>
    <p:sldId id="339" r:id="rId26"/>
    <p:sldId id="340" r:id="rId27"/>
    <p:sldId id="341" r:id="rId28"/>
    <p:sldId id="342" r:id="rId29"/>
    <p:sldId id="343" r:id="rId30"/>
    <p:sldId id="344" r:id="rId31"/>
    <p:sldId id="345" r:id="rId32"/>
    <p:sldId id="351" r:id="rId33"/>
    <p:sldId id="352" r:id="rId34"/>
    <p:sldId id="346" r:id="rId35"/>
    <p:sldId id="347" r:id="rId36"/>
    <p:sldId id="348" r:id="rId37"/>
    <p:sldId id="349" r:id="rId38"/>
    <p:sldId id="350" r:id="rId39"/>
    <p:sldId id="334" r:id="rId40"/>
    <p:sldId id="353" r:id="rId41"/>
    <p:sldId id="354" r:id="rId42"/>
    <p:sldId id="355" r:id="rId43"/>
    <p:sldId id="356" r:id="rId44"/>
    <p:sldId id="357" r:id="rId45"/>
    <p:sldId id="358" r:id="rId46"/>
    <p:sldId id="359" r:id="rId47"/>
    <p:sldId id="360" r:id="rId48"/>
    <p:sldId id="361" r:id="rId49"/>
    <p:sldId id="362" r:id="rId50"/>
    <p:sldId id="363" r:id="rId51"/>
    <p:sldId id="364" r:id="rId52"/>
    <p:sldId id="365" r:id="rId53"/>
    <p:sldId id="366" r:id="rId54"/>
    <p:sldId id="367" r:id="rId55"/>
    <p:sldId id="368" r:id="rId56"/>
    <p:sldId id="369" r:id="rId57"/>
  </p:sldIdLst>
  <p:sldSz cx="12192000" cy="6858000"/>
  <p:notesSz cx="6858000" cy="9144000"/>
  <p:defaultTextStyle>
    <a:defPPr rtl="0">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301B821-A1FF-4177-AEE7-76D212191A0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5294" autoAdjust="0"/>
  </p:normalViewPr>
  <p:slideViewPr>
    <p:cSldViewPr snapToGrid="0">
      <p:cViewPr varScale="1">
        <p:scale>
          <a:sx n="111" d="100"/>
          <a:sy n="111" d="100"/>
        </p:scale>
        <p:origin x="456" y="114"/>
      </p:cViewPr>
      <p:guideLst>
        <p:guide pos="3840"/>
        <p:guide orient="horz" pos="2160"/>
      </p:guideLst>
    </p:cSldViewPr>
  </p:slideViewPr>
  <p:notesTextViewPr>
    <p:cViewPr>
      <p:scale>
        <a:sx n="1" d="1"/>
        <a:sy n="1" d="1"/>
      </p:scale>
      <p:origin x="0" y="0"/>
    </p:cViewPr>
  </p:notesTextViewPr>
  <p:notesViewPr>
    <p:cSldViewPr snapToGrid="0">
      <p:cViewPr varScale="1">
        <p:scale>
          <a:sx n="89" d="100"/>
          <a:sy n="89" d="100"/>
        </p:scale>
        <p:origin x="2790"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u-RU" dirty="0"/>
          </a:p>
        </p:txBody>
      </p:sp>
      <p:sp>
        <p:nvSpPr>
          <p:cNvPr id="3" name="Дата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76E5D075-ABA8-4C7E-84CB-BCB64A05DF7B}" type="datetime1">
              <a:rPr lang="ru-RU" smtClean="0"/>
              <a:t>23.07.2026</a:t>
            </a:fld>
            <a:endParaRPr lang="ru-RU" dirty="0"/>
          </a:p>
        </p:txBody>
      </p:sp>
      <p:sp>
        <p:nvSpPr>
          <p:cNvPr id="4" name="Нижний колонтитул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u-RU" dirty="0"/>
          </a:p>
        </p:txBody>
      </p:sp>
      <p:sp>
        <p:nvSpPr>
          <p:cNvPr id="5" name="Номер слайда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7BAE14B8-3CC9-472D-9BC5-A84D80684DE2}" type="slidenum">
              <a:rPr lang="ru-RU" smtClean="0"/>
              <a:t>‹#›</a:t>
            </a:fld>
            <a:endParaRPr lang="ru-RU" dirty="0"/>
          </a:p>
        </p:txBody>
      </p:sp>
    </p:spTree>
    <p:extLst>
      <p:ext uri="{BB962C8B-B14F-4D97-AF65-F5344CB8AC3E}">
        <p14:creationId xmlns:p14="http://schemas.microsoft.com/office/powerpoint/2010/main" val="257782754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u-RU" noProof="0" dirty="0"/>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836B297E-E64E-45A1-B633-5E623F46F5D1}" type="datetime1">
              <a:rPr lang="ru-RU" noProof="0" smtClean="0"/>
              <a:t>23.07.2026</a:t>
            </a:fld>
            <a:endParaRPr lang="ru-RU" noProof="0" dirty="0"/>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ru-RU" noProof="0" dirty="0"/>
          </a:p>
        </p:txBody>
      </p:sp>
      <p:sp>
        <p:nvSpPr>
          <p:cNvPr id="5" name="Заметки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rtl="0"/>
            <a:r>
              <a:rPr lang="ru-RU" noProof="0" dirty="0" smtClean="0"/>
              <a:t>Образец текста</a:t>
            </a:r>
          </a:p>
          <a:p>
            <a:pPr lvl="1" rtl="0"/>
            <a:r>
              <a:rPr lang="ru-RU" noProof="0" dirty="0" smtClean="0"/>
              <a:t>Второй уровень</a:t>
            </a:r>
          </a:p>
          <a:p>
            <a:pPr lvl="2" rtl="0"/>
            <a:r>
              <a:rPr lang="ru-RU" noProof="0" dirty="0" smtClean="0"/>
              <a:t>Третий уровень</a:t>
            </a:r>
          </a:p>
          <a:p>
            <a:pPr lvl="3" rtl="0"/>
            <a:r>
              <a:rPr lang="ru-RU" noProof="0" dirty="0" smtClean="0"/>
              <a:t>Четвертый уровень</a:t>
            </a:r>
          </a:p>
          <a:p>
            <a:pPr lvl="4" rtl="0"/>
            <a:r>
              <a:rPr lang="ru-RU" noProof="0" dirty="0" smtClean="0"/>
              <a:t>Пятый уровень</a:t>
            </a:r>
            <a:endParaRPr lang="ru-RU" noProof="0" dirty="0"/>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u-RU" noProof="0" dirty="0"/>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7FB667E1-E601-4AAF-B95C-B25720D70A60}" type="slidenum">
              <a:rPr lang="ru-RU" noProof="0" smtClean="0"/>
              <a:t>‹#›</a:t>
            </a:fld>
            <a:endParaRPr lang="ru-RU" noProof="0" dirty="0"/>
          </a:p>
        </p:txBody>
      </p:sp>
    </p:spTree>
    <p:extLst>
      <p:ext uri="{BB962C8B-B14F-4D97-AF65-F5344CB8AC3E}">
        <p14:creationId xmlns:p14="http://schemas.microsoft.com/office/powerpoint/2010/main" val="71113671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pPr rtl="0"/>
            <a:fld id="{7FB667E1-E601-4AAF-B95C-B25720D70A60}" type="slidenum">
              <a:rPr lang="ru-RU" noProof="0" smtClean="0"/>
              <a:t>1</a:t>
            </a:fld>
            <a:endParaRPr lang="ru-RU" noProof="0" dirty="0"/>
          </a:p>
        </p:txBody>
      </p:sp>
    </p:spTree>
    <p:extLst>
      <p:ext uri="{BB962C8B-B14F-4D97-AF65-F5344CB8AC3E}">
        <p14:creationId xmlns:p14="http://schemas.microsoft.com/office/powerpoint/2010/main" val="2175291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pPr rtl="0"/>
            <a:fld id="{7FB667E1-E601-4AAF-B95C-B25720D70A60}" type="slidenum">
              <a:rPr lang="ru-RU" noProof="0" smtClean="0"/>
              <a:t>2</a:t>
            </a:fld>
            <a:endParaRPr lang="ru-RU" noProof="0" dirty="0"/>
          </a:p>
        </p:txBody>
      </p:sp>
    </p:spTree>
    <p:extLst>
      <p:ext uri="{BB962C8B-B14F-4D97-AF65-F5344CB8AC3E}">
        <p14:creationId xmlns:p14="http://schemas.microsoft.com/office/powerpoint/2010/main" val="9438278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8" name="Прямоугольник 7"/>
          <p:cNvSpPr/>
          <p:nvPr/>
        </p:nvSpPr>
        <p:spPr>
          <a:xfrm>
            <a:off x="-1" y="0"/>
            <a:ext cx="12188826" cy="1905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rtl="0"/>
            <a:endParaRPr lang="ru-RU" noProof="0" dirty="0"/>
          </a:p>
        </p:txBody>
      </p:sp>
      <p:sp>
        <p:nvSpPr>
          <p:cNvPr id="9" name="Прямоугольник 8"/>
          <p:cNvSpPr/>
          <p:nvPr/>
        </p:nvSpPr>
        <p:spPr>
          <a:xfrm>
            <a:off x="-1" y="5102352"/>
            <a:ext cx="12188826" cy="17556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rtl="0"/>
            <a:endParaRPr lang="ru-RU" noProof="0" dirty="0"/>
          </a:p>
        </p:txBody>
      </p:sp>
      <p:sp>
        <p:nvSpPr>
          <p:cNvPr id="2" name="Заголовок 1"/>
          <p:cNvSpPr>
            <a:spLocks noGrp="1"/>
          </p:cNvSpPr>
          <p:nvPr>
            <p:ph type="ctrTitle"/>
          </p:nvPr>
        </p:nvSpPr>
        <p:spPr>
          <a:xfrm>
            <a:off x="1295400" y="2286000"/>
            <a:ext cx="9601200" cy="1517904"/>
          </a:xfrm>
        </p:spPr>
        <p:txBody>
          <a:bodyPr rtlCol="0" anchor="b"/>
          <a:lstStyle>
            <a:lvl1pPr algn="ctr">
              <a:defRPr sz="5400"/>
            </a:lvl1pPr>
          </a:lstStyle>
          <a:p>
            <a:pPr rtl="0"/>
            <a:r>
              <a:rPr lang="ru-RU" noProof="0" smtClean="0"/>
              <a:t>Образец заголовка</a:t>
            </a:r>
            <a:endParaRPr lang="ru-RU" noProof="0" dirty="0"/>
          </a:p>
        </p:txBody>
      </p:sp>
      <p:sp>
        <p:nvSpPr>
          <p:cNvPr id="3" name="Подзаголовок 2"/>
          <p:cNvSpPr>
            <a:spLocks noGrp="1"/>
          </p:cNvSpPr>
          <p:nvPr>
            <p:ph type="subTitle" idx="1"/>
          </p:nvPr>
        </p:nvSpPr>
        <p:spPr>
          <a:xfrm>
            <a:off x="1295400" y="3959352"/>
            <a:ext cx="9601200" cy="914400"/>
          </a:xfrm>
        </p:spPr>
        <p:txBody>
          <a:bodyPr rtlCol="0">
            <a:normAutofit/>
          </a:bodyPr>
          <a:lstStyle>
            <a:lvl1pPr marL="0" indent="0" algn="ctr">
              <a:spcBef>
                <a:spcPts val="0"/>
              </a:spcBef>
              <a:buNone/>
              <a:defRPr sz="2000" cap="all" baseline="0"/>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pPr rtl="0"/>
            <a:r>
              <a:rPr lang="ru-RU" noProof="0" smtClean="0"/>
              <a:t>Образец подзаголовка</a:t>
            </a:r>
            <a:endParaRPr lang="ru-RU" noProof="0" dirty="0"/>
          </a:p>
        </p:txBody>
      </p:sp>
    </p:spTree>
    <p:extLst>
      <p:ext uri="{BB962C8B-B14F-4D97-AF65-F5344CB8AC3E}">
        <p14:creationId xmlns:p14="http://schemas.microsoft.com/office/powerpoint/2010/main" val="3382882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7487" y="467360"/>
            <a:ext cx="10579693" cy="549590"/>
          </a:xfrm>
        </p:spPr>
        <p:txBody>
          <a:bodyPr rtlCol="0"/>
          <a:lstStyle/>
          <a:p>
            <a:pPr rtl="0"/>
            <a:r>
              <a:rPr lang="ru-RU" noProof="0" dirty="0" smtClean="0"/>
              <a:t>Образец заголовка</a:t>
            </a:r>
            <a:endParaRPr lang="ru-RU" noProof="0" dirty="0"/>
          </a:p>
        </p:txBody>
      </p:sp>
      <p:sp>
        <p:nvSpPr>
          <p:cNvPr id="3" name="Объект 2"/>
          <p:cNvSpPr>
            <a:spLocks noGrp="1"/>
          </p:cNvSpPr>
          <p:nvPr>
            <p:ph idx="1"/>
          </p:nvPr>
        </p:nvSpPr>
        <p:spPr>
          <a:xfrm>
            <a:off x="581114" y="1179320"/>
            <a:ext cx="11058258" cy="4850259"/>
          </a:xfrm>
        </p:spPr>
        <p:txBody>
          <a:bodyPr rtlCol="0"/>
          <a:lstStyle>
            <a:lvl1pPr marL="45720" indent="0">
              <a:lnSpc>
                <a:spcPct val="100000"/>
              </a:lnSpc>
              <a:spcBef>
                <a:spcPts val="0"/>
              </a:spcBef>
              <a:buNone/>
              <a:defRPr sz="2400"/>
            </a:lvl1pPr>
            <a:lvl2pPr>
              <a:defRPr sz="2400"/>
            </a:lvl2pPr>
          </a:lstStyle>
          <a:p>
            <a:pPr lvl="0" rtl="0"/>
            <a:r>
              <a:rPr lang="ru-RU" noProof="0" dirty="0" smtClean="0"/>
              <a:t>Образец текста</a:t>
            </a:r>
          </a:p>
          <a:p>
            <a:pPr lvl="1" rtl="0"/>
            <a:r>
              <a:rPr lang="ru-RU" noProof="0" dirty="0" smtClean="0"/>
              <a:t>Второй уровень</a:t>
            </a:r>
          </a:p>
          <a:p>
            <a:pPr lvl="2" rtl="0"/>
            <a:r>
              <a:rPr lang="ru-RU" noProof="0" dirty="0" smtClean="0"/>
              <a:t>Третий уровень</a:t>
            </a:r>
          </a:p>
          <a:p>
            <a:pPr lvl="3" rtl="0"/>
            <a:r>
              <a:rPr lang="ru-RU" noProof="0" dirty="0" smtClean="0"/>
              <a:t>Четвертый уровень</a:t>
            </a:r>
          </a:p>
          <a:p>
            <a:pPr lvl="4" rtl="0"/>
            <a:r>
              <a:rPr lang="ru-RU" noProof="0" dirty="0" smtClean="0"/>
              <a:t>Пятый уровень</a:t>
            </a:r>
            <a:endParaRPr lang="ru-RU" noProof="0" dirty="0"/>
          </a:p>
        </p:txBody>
      </p:sp>
      <p:sp>
        <p:nvSpPr>
          <p:cNvPr id="5" name="Нижний колонтитул 4"/>
          <p:cNvSpPr>
            <a:spLocks noGrp="1"/>
          </p:cNvSpPr>
          <p:nvPr>
            <p:ph type="ftr" sz="quarter" idx="11"/>
          </p:nvPr>
        </p:nvSpPr>
        <p:spPr/>
        <p:txBody>
          <a:bodyPr rtlCol="0"/>
          <a:lstStyle/>
          <a:p>
            <a:pPr rtl="0"/>
            <a:r>
              <a:rPr lang="ru-RU" noProof="0" dirty="0" smtClean="0"/>
              <a:t>Добавить нижний колонтитул</a:t>
            </a:r>
            <a:endParaRPr lang="ru-RU" noProof="0" dirty="0"/>
          </a:p>
        </p:txBody>
      </p:sp>
      <p:sp>
        <p:nvSpPr>
          <p:cNvPr id="4" name="Дата 3"/>
          <p:cNvSpPr>
            <a:spLocks noGrp="1"/>
          </p:cNvSpPr>
          <p:nvPr>
            <p:ph type="dt" sz="half" idx="10"/>
          </p:nvPr>
        </p:nvSpPr>
        <p:spPr/>
        <p:txBody>
          <a:bodyPr rtlCol="0"/>
          <a:lstStyle/>
          <a:p>
            <a:pPr rtl="0"/>
            <a:fld id="{2675F84F-F23A-4559-8AD5-0957D7B63ED4}" type="datetime1">
              <a:rPr lang="ru-RU" noProof="0" smtClean="0"/>
              <a:t>23.07.2026</a:t>
            </a:fld>
            <a:endParaRPr lang="ru-RU" noProof="0" dirty="0"/>
          </a:p>
        </p:txBody>
      </p:sp>
      <p:sp>
        <p:nvSpPr>
          <p:cNvPr id="6" name="Номер слайда 5"/>
          <p:cNvSpPr>
            <a:spLocks noGrp="1"/>
          </p:cNvSpPr>
          <p:nvPr>
            <p:ph type="sldNum" sz="quarter" idx="12"/>
          </p:nvPr>
        </p:nvSpPr>
        <p:spPr/>
        <p:txBody>
          <a:bodyPr rtlCol="0"/>
          <a:lstStyle/>
          <a:p>
            <a:pPr rtl="0"/>
            <a:fld id="{CA8D9AD5-F248-4919-864A-CFD76CC027D6}" type="slidenum">
              <a:rPr lang="ru-RU" noProof="0" smtClean="0"/>
              <a:t>‹#›</a:t>
            </a:fld>
            <a:endParaRPr lang="ru-RU" noProof="0" dirty="0"/>
          </a:p>
        </p:txBody>
      </p:sp>
    </p:spTree>
    <p:extLst>
      <p:ext uri="{BB962C8B-B14F-4D97-AF65-F5344CB8AC3E}">
        <p14:creationId xmlns:p14="http://schemas.microsoft.com/office/powerpoint/2010/main" val="4159342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7" name="Прямоугольник 6"/>
          <p:cNvSpPr/>
          <p:nvPr/>
        </p:nvSpPr>
        <p:spPr>
          <a:xfrm>
            <a:off x="0" y="274320"/>
            <a:ext cx="12192000" cy="6309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dirty="0"/>
          </a:p>
        </p:txBody>
      </p:sp>
      <p:sp>
        <p:nvSpPr>
          <p:cNvPr id="2" name="Заголовок 1"/>
          <p:cNvSpPr>
            <a:spLocks noGrp="1"/>
          </p:cNvSpPr>
          <p:nvPr>
            <p:ph type="title"/>
          </p:nvPr>
        </p:nvSpPr>
        <p:spPr>
          <a:xfrm>
            <a:off x="1295400" y="2130552"/>
            <a:ext cx="9601200" cy="2359152"/>
          </a:xfrm>
        </p:spPr>
        <p:txBody>
          <a:bodyPr rtlCol="0" anchor="b">
            <a:normAutofit/>
          </a:bodyPr>
          <a:lstStyle>
            <a:lvl1pPr algn="ctr">
              <a:defRPr sz="5400" b="0" baseline="0">
                <a:solidFill>
                  <a:schemeClr val="bg1">
                    <a:lumMod val="75000"/>
                  </a:schemeClr>
                </a:solidFill>
              </a:defRPr>
            </a:lvl1pPr>
          </a:lstStyle>
          <a:p>
            <a:pPr rtl="0"/>
            <a:r>
              <a:rPr lang="ru-RU" noProof="0" smtClean="0"/>
              <a:t>Образец заголовка</a:t>
            </a:r>
            <a:endParaRPr lang="ru-RU" noProof="0" dirty="0"/>
          </a:p>
        </p:txBody>
      </p:sp>
      <p:sp>
        <p:nvSpPr>
          <p:cNvPr id="3" name="Текст 2"/>
          <p:cNvSpPr>
            <a:spLocks noGrp="1"/>
          </p:cNvSpPr>
          <p:nvPr>
            <p:ph type="body" idx="1"/>
          </p:nvPr>
        </p:nvSpPr>
        <p:spPr>
          <a:xfrm>
            <a:off x="1295400" y="4572000"/>
            <a:ext cx="9601200" cy="841248"/>
          </a:xfrm>
        </p:spPr>
        <p:txBody>
          <a:bodyPr rtlCol="0" anchor="t"/>
          <a:lstStyle>
            <a:lvl1pPr marL="0" indent="0" algn="ctr">
              <a:spcBef>
                <a:spcPts val="0"/>
              </a:spcBef>
              <a:buNone/>
              <a:defRPr sz="2000" cap="all" baseline="0">
                <a:solidFill>
                  <a:schemeClr val="bg1">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ru-RU" noProof="0" smtClean="0"/>
              <a:t>Образец текста</a:t>
            </a:r>
          </a:p>
        </p:txBody>
      </p:sp>
      <p:sp>
        <p:nvSpPr>
          <p:cNvPr id="5" name="Нижний колонтитул 4"/>
          <p:cNvSpPr>
            <a:spLocks noGrp="1"/>
          </p:cNvSpPr>
          <p:nvPr>
            <p:ph type="ftr" sz="quarter" idx="11"/>
          </p:nvPr>
        </p:nvSpPr>
        <p:spPr/>
        <p:txBody>
          <a:bodyPr rtlCol="0"/>
          <a:lstStyle/>
          <a:p>
            <a:pPr rtl="0"/>
            <a:r>
              <a:rPr lang="ru-RU" noProof="0" dirty="0" smtClean="0"/>
              <a:t>Добавить нижний колонтитул</a:t>
            </a:r>
            <a:endParaRPr lang="ru-RU" noProof="0" dirty="0"/>
          </a:p>
        </p:txBody>
      </p:sp>
      <p:sp>
        <p:nvSpPr>
          <p:cNvPr id="4" name="Дата 3"/>
          <p:cNvSpPr>
            <a:spLocks noGrp="1"/>
          </p:cNvSpPr>
          <p:nvPr>
            <p:ph type="dt" sz="half" idx="10"/>
          </p:nvPr>
        </p:nvSpPr>
        <p:spPr/>
        <p:txBody>
          <a:bodyPr rtlCol="0"/>
          <a:lstStyle/>
          <a:p>
            <a:pPr rtl="0"/>
            <a:fld id="{32A8351B-C5B2-4962-9672-191E18DBB102}" type="datetime1">
              <a:rPr lang="ru-RU" noProof="0" smtClean="0"/>
              <a:t>23.07.2026</a:t>
            </a:fld>
            <a:endParaRPr lang="ru-RU" noProof="0" dirty="0"/>
          </a:p>
        </p:txBody>
      </p:sp>
      <p:sp>
        <p:nvSpPr>
          <p:cNvPr id="6" name="Номер слайда 5"/>
          <p:cNvSpPr>
            <a:spLocks noGrp="1"/>
          </p:cNvSpPr>
          <p:nvPr>
            <p:ph type="sldNum" sz="quarter" idx="12"/>
          </p:nvPr>
        </p:nvSpPr>
        <p:spPr/>
        <p:txBody>
          <a:bodyPr rtlCol="0"/>
          <a:lstStyle/>
          <a:p>
            <a:pPr rtl="0"/>
            <a:fld id="{CA8D9AD5-F248-4919-864A-CFD76CC027D6}" type="slidenum">
              <a:rPr lang="ru-RU" noProof="0" smtClean="0"/>
              <a:t>‹#›</a:t>
            </a:fld>
            <a:endParaRPr lang="ru-RU" noProof="0" dirty="0"/>
          </a:p>
        </p:txBody>
      </p:sp>
    </p:spTree>
    <p:extLst>
      <p:ext uri="{BB962C8B-B14F-4D97-AF65-F5344CB8AC3E}">
        <p14:creationId xmlns:p14="http://schemas.microsoft.com/office/powerpoint/2010/main" val="2715843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типа объектов">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41120" y="467360"/>
            <a:ext cx="9509760" cy="532498"/>
          </a:xfrm>
        </p:spPr>
        <p:txBody>
          <a:bodyPr rtlCol="0"/>
          <a:lstStyle/>
          <a:p>
            <a:pPr rtl="0"/>
            <a:r>
              <a:rPr lang="ru-RU" noProof="0" dirty="0" smtClean="0"/>
              <a:t>Образец заголовка</a:t>
            </a:r>
            <a:endParaRPr lang="ru-RU" noProof="0" dirty="0"/>
          </a:p>
        </p:txBody>
      </p:sp>
      <p:sp>
        <p:nvSpPr>
          <p:cNvPr id="3" name="Объект 2"/>
          <p:cNvSpPr>
            <a:spLocks noGrp="1"/>
          </p:cNvSpPr>
          <p:nvPr>
            <p:ph sz="half" idx="1"/>
          </p:nvPr>
        </p:nvSpPr>
        <p:spPr>
          <a:xfrm>
            <a:off x="1341120" y="1901952"/>
            <a:ext cx="4572000" cy="4123944"/>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Объект 3"/>
          <p:cNvSpPr>
            <a:spLocks noGrp="1"/>
          </p:cNvSpPr>
          <p:nvPr>
            <p:ph sz="half" idx="2"/>
          </p:nvPr>
        </p:nvSpPr>
        <p:spPr>
          <a:xfrm>
            <a:off x="6278880" y="1901952"/>
            <a:ext cx="4572000" cy="4123944"/>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6" name="Нижний колонтитул 5"/>
          <p:cNvSpPr>
            <a:spLocks noGrp="1"/>
          </p:cNvSpPr>
          <p:nvPr>
            <p:ph type="ftr" sz="quarter" idx="11"/>
          </p:nvPr>
        </p:nvSpPr>
        <p:spPr/>
        <p:txBody>
          <a:bodyPr rtlCol="0"/>
          <a:lstStyle/>
          <a:p>
            <a:pPr rtl="0"/>
            <a:r>
              <a:rPr lang="ru-RU" noProof="0" dirty="0" smtClean="0"/>
              <a:t>Добавить нижний колонтитул</a:t>
            </a:r>
            <a:endParaRPr lang="ru-RU" noProof="0" dirty="0"/>
          </a:p>
        </p:txBody>
      </p:sp>
      <p:sp>
        <p:nvSpPr>
          <p:cNvPr id="5" name="Дата 4"/>
          <p:cNvSpPr>
            <a:spLocks noGrp="1"/>
          </p:cNvSpPr>
          <p:nvPr>
            <p:ph type="dt" sz="half" idx="10"/>
          </p:nvPr>
        </p:nvSpPr>
        <p:spPr/>
        <p:txBody>
          <a:bodyPr rtlCol="0"/>
          <a:lstStyle/>
          <a:p>
            <a:pPr rtl="0"/>
            <a:fld id="{F625883A-FDC3-4CD9-95EB-A5983C2ACA0E}" type="datetime1">
              <a:rPr lang="ru-RU" noProof="0" smtClean="0"/>
              <a:t>23.07.2026</a:t>
            </a:fld>
            <a:endParaRPr lang="ru-RU" noProof="0" dirty="0"/>
          </a:p>
        </p:txBody>
      </p:sp>
      <p:sp>
        <p:nvSpPr>
          <p:cNvPr id="7" name="Номер слайда 6"/>
          <p:cNvSpPr>
            <a:spLocks noGrp="1"/>
          </p:cNvSpPr>
          <p:nvPr>
            <p:ph type="sldNum" sz="quarter" idx="12"/>
          </p:nvPr>
        </p:nvSpPr>
        <p:spPr/>
        <p:txBody>
          <a:bodyPr rtlCol="0"/>
          <a:lstStyle/>
          <a:p>
            <a:pPr rtl="0"/>
            <a:fld id="{0D06EF73-9DB8-4763-865F-2F88181A4732}" type="slidenum">
              <a:rPr lang="ru-RU" noProof="0" smtClean="0"/>
              <a:t>‹#›</a:t>
            </a:fld>
            <a:endParaRPr lang="ru-RU" noProof="0" dirty="0"/>
          </a:p>
        </p:txBody>
      </p:sp>
    </p:spTree>
    <p:extLst>
      <p:ext uri="{BB962C8B-B14F-4D97-AF65-F5344CB8AC3E}">
        <p14:creationId xmlns:p14="http://schemas.microsoft.com/office/powerpoint/2010/main" val="292305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41120" y="467360"/>
            <a:ext cx="9509760" cy="515406"/>
          </a:xfrm>
        </p:spPr>
        <p:txBody>
          <a:bodyPr rtlCol="0"/>
          <a:lstStyle/>
          <a:p>
            <a:pPr rtl="0"/>
            <a:r>
              <a:rPr lang="ru-RU" noProof="0" smtClean="0"/>
              <a:t>Образец заголовка</a:t>
            </a:r>
            <a:endParaRPr lang="ru-RU" noProof="0" dirty="0"/>
          </a:p>
        </p:txBody>
      </p:sp>
      <p:sp>
        <p:nvSpPr>
          <p:cNvPr id="3" name="Текст 2"/>
          <p:cNvSpPr>
            <a:spLocks noGrp="1"/>
          </p:cNvSpPr>
          <p:nvPr>
            <p:ph type="body" idx="1"/>
          </p:nvPr>
        </p:nvSpPr>
        <p:spPr>
          <a:xfrm>
            <a:off x="1341120" y="1837464"/>
            <a:ext cx="4572000" cy="766588"/>
          </a:xfrm>
        </p:spPr>
        <p:txBody>
          <a:bodyPr rtlCol="0" anchor="ctr">
            <a:normAutofit/>
          </a:bodyPr>
          <a:lstStyle>
            <a:lvl1pPr marL="0" indent="0">
              <a:spcBef>
                <a:spcPts val="0"/>
              </a:spcBef>
              <a:buNone/>
              <a:defRPr sz="20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u-RU" noProof="0" smtClean="0"/>
              <a:t>Образец текста</a:t>
            </a:r>
          </a:p>
        </p:txBody>
      </p:sp>
      <p:sp>
        <p:nvSpPr>
          <p:cNvPr id="4" name="Объект 3"/>
          <p:cNvSpPr>
            <a:spLocks noGrp="1"/>
          </p:cNvSpPr>
          <p:nvPr>
            <p:ph sz="half" idx="2"/>
          </p:nvPr>
        </p:nvSpPr>
        <p:spPr>
          <a:xfrm>
            <a:off x="1341120" y="2740732"/>
            <a:ext cx="4572000" cy="3288847"/>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5" name="Текст 4"/>
          <p:cNvSpPr>
            <a:spLocks noGrp="1"/>
          </p:cNvSpPr>
          <p:nvPr>
            <p:ph type="body" sz="quarter" idx="3"/>
          </p:nvPr>
        </p:nvSpPr>
        <p:spPr>
          <a:xfrm>
            <a:off x="6278880" y="1837464"/>
            <a:ext cx="4572000" cy="766588"/>
          </a:xfrm>
        </p:spPr>
        <p:txBody>
          <a:bodyPr rtlCol="0" anchor="ctr">
            <a:normAutofit/>
          </a:bodyPr>
          <a:lstStyle>
            <a:lvl1pPr marL="0" indent="0">
              <a:spcBef>
                <a:spcPts val="0"/>
              </a:spcBef>
              <a:buNone/>
              <a:defRPr sz="20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u-RU" noProof="0" smtClean="0"/>
              <a:t>Образец текста</a:t>
            </a:r>
          </a:p>
        </p:txBody>
      </p:sp>
      <p:sp>
        <p:nvSpPr>
          <p:cNvPr id="6" name="Объект 5"/>
          <p:cNvSpPr>
            <a:spLocks noGrp="1"/>
          </p:cNvSpPr>
          <p:nvPr>
            <p:ph sz="quarter" idx="4"/>
          </p:nvPr>
        </p:nvSpPr>
        <p:spPr>
          <a:xfrm>
            <a:off x="6278880" y="2740732"/>
            <a:ext cx="4572000" cy="3288847"/>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8" name="Нижний колонтитул 7"/>
          <p:cNvSpPr>
            <a:spLocks noGrp="1"/>
          </p:cNvSpPr>
          <p:nvPr>
            <p:ph type="ftr" sz="quarter" idx="11"/>
          </p:nvPr>
        </p:nvSpPr>
        <p:spPr/>
        <p:txBody>
          <a:bodyPr rtlCol="0"/>
          <a:lstStyle/>
          <a:p>
            <a:pPr rtl="0"/>
            <a:r>
              <a:rPr lang="ru-RU" noProof="0" dirty="0" smtClean="0"/>
              <a:t>Добавить нижний колонтитул</a:t>
            </a:r>
            <a:endParaRPr lang="ru-RU" noProof="0" dirty="0"/>
          </a:p>
        </p:txBody>
      </p:sp>
      <p:sp>
        <p:nvSpPr>
          <p:cNvPr id="7" name="Дата 6"/>
          <p:cNvSpPr>
            <a:spLocks noGrp="1"/>
          </p:cNvSpPr>
          <p:nvPr>
            <p:ph type="dt" sz="half" idx="10"/>
          </p:nvPr>
        </p:nvSpPr>
        <p:spPr/>
        <p:txBody>
          <a:bodyPr rtlCol="0"/>
          <a:lstStyle/>
          <a:p>
            <a:pPr rtl="0"/>
            <a:fld id="{A8802A47-3994-4721-BB8C-5D1988D6D667}" type="datetime1">
              <a:rPr lang="ru-RU" noProof="0" smtClean="0"/>
              <a:t>23.07.2026</a:t>
            </a:fld>
            <a:endParaRPr lang="ru-RU" noProof="0" dirty="0"/>
          </a:p>
        </p:txBody>
      </p:sp>
      <p:sp>
        <p:nvSpPr>
          <p:cNvPr id="9" name="Номер слайда 8"/>
          <p:cNvSpPr>
            <a:spLocks noGrp="1"/>
          </p:cNvSpPr>
          <p:nvPr>
            <p:ph type="sldNum" sz="quarter" idx="12"/>
          </p:nvPr>
        </p:nvSpPr>
        <p:spPr/>
        <p:txBody>
          <a:bodyPr rtlCol="0"/>
          <a:lstStyle/>
          <a:p>
            <a:pPr rtl="0"/>
            <a:fld id="{CA8D9AD5-F248-4919-864A-CFD76CC027D6}" type="slidenum">
              <a:rPr lang="ru-RU" noProof="0" smtClean="0"/>
              <a:t>‹#›</a:t>
            </a:fld>
            <a:endParaRPr lang="ru-RU" noProof="0" dirty="0"/>
          </a:p>
        </p:txBody>
      </p:sp>
    </p:spTree>
    <p:extLst>
      <p:ext uri="{BB962C8B-B14F-4D97-AF65-F5344CB8AC3E}">
        <p14:creationId xmlns:p14="http://schemas.microsoft.com/office/powerpoint/2010/main" val="4057080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41120" y="467360"/>
            <a:ext cx="9509760" cy="541044"/>
          </a:xfrm>
        </p:spPr>
        <p:txBody>
          <a:bodyPr rtlCol="0"/>
          <a:lstStyle/>
          <a:p>
            <a:pPr rtl="0"/>
            <a:r>
              <a:rPr lang="ru-RU" noProof="0" smtClean="0"/>
              <a:t>Образец заголовка</a:t>
            </a:r>
            <a:endParaRPr lang="ru-RU" noProof="0" dirty="0"/>
          </a:p>
        </p:txBody>
      </p:sp>
      <p:sp>
        <p:nvSpPr>
          <p:cNvPr id="4" name="Нижний колонтитул 3"/>
          <p:cNvSpPr>
            <a:spLocks noGrp="1"/>
          </p:cNvSpPr>
          <p:nvPr>
            <p:ph type="ftr" sz="quarter" idx="11"/>
          </p:nvPr>
        </p:nvSpPr>
        <p:spPr/>
        <p:txBody>
          <a:bodyPr rtlCol="0"/>
          <a:lstStyle/>
          <a:p>
            <a:pPr rtl="0"/>
            <a:r>
              <a:rPr lang="ru-RU" noProof="0" dirty="0" smtClean="0"/>
              <a:t>Добавить нижний колонтитул</a:t>
            </a:r>
            <a:endParaRPr lang="ru-RU" noProof="0" dirty="0"/>
          </a:p>
        </p:txBody>
      </p:sp>
      <p:sp>
        <p:nvSpPr>
          <p:cNvPr id="3" name="Дата 2"/>
          <p:cNvSpPr>
            <a:spLocks noGrp="1"/>
          </p:cNvSpPr>
          <p:nvPr>
            <p:ph type="dt" sz="half" idx="10"/>
          </p:nvPr>
        </p:nvSpPr>
        <p:spPr/>
        <p:txBody>
          <a:bodyPr rtlCol="0"/>
          <a:lstStyle/>
          <a:p>
            <a:pPr rtl="0"/>
            <a:fld id="{37016468-5B71-45B9-A742-593D86E67B80}" type="datetime1">
              <a:rPr lang="ru-RU" noProof="0" smtClean="0"/>
              <a:t>23.07.2026</a:t>
            </a:fld>
            <a:endParaRPr lang="ru-RU" noProof="0" dirty="0"/>
          </a:p>
        </p:txBody>
      </p:sp>
      <p:sp>
        <p:nvSpPr>
          <p:cNvPr id="5" name="Номер слайда 4"/>
          <p:cNvSpPr>
            <a:spLocks noGrp="1"/>
          </p:cNvSpPr>
          <p:nvPr>
            <p:ph type="sldNum" sz="quarter" idx="12"/>
          </p:nvPr>
        </p:nvSpPr>
        <p:spPr/>
        <p:txBody>
          <a:bodyPr rtlCol="0"/>
          <a:lstStyle/>
          <a:p>
            <a:pPr rtl="0"/>
            <a:fld id="{CA8D9AD5-F248-4919-864A-CFD76CC027D6}" type="slidenum">
              <a:rPr lang="ru-RU" noProof="0" smtClean="0"/>
              <a:t>‹#›</a:t>
            </a:fld>
            <a:endParaRPr lang="ru-RU" noProof="0" dirty="0"/>
          </a:p>
        </p:txBody>
      </p:sp>
    </p:spTree>
    <p:extLst>
      <p:ext uri="{BB962C8B-B14F-4D97-AF65-F5344CB8AC3E}">
        <p14:creationId xmlns:p14="http://schemas.microsoft.com/office/powerpoint/2010/main" val="842011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5" name="Прямоугольник 4"/>
          <p:cNvSpPr/>
          <p:nvPr/>
        </p:nvSpPr>
        <p:spPr>
          <a:xfrm>
            <a:off x="0" y="0"/>
            <a:ext cx="12188826"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rtl="0"/>
            <a:endParaRPr lang="ru-RU" noProof="0" dirty="0"/>
          </a:p>
        </p:txBody>
      </p:sp>
      <p:sp>
        <p:nvSpPr>
          <p:cNvPr id="3" name="Нижний колонтитул 2"/>
          <p:cNvSpPr>
            <a:spLocks noGrp="1"/>
          </p:cNvSpPr>
          <p:nvPr>
            <p:ph type="ftr" sz="quarter" idx="11"/>
          </p:nvPr>
        </p:nvSpPr>
        <p:spPr/>
        <p:txBody>
          <a:bodyPr rtlCol="0"/>
          <a:lstStyle/>
          <a:p>
            <a:pPr rtl="0"/>
            <a:r>
              <a:rPr lang="ru-RU" noProof="0" dirty="0" smtClean="0"/>
              <a:t>Добавить нижний колонтитул</a:t>
            </a:r>
            <a:endParaRPr lang="ru-RU" noProof="0" dirty="0"/>
          </a:p>
        </p:txBody>
      </p:sp>
      <p:sp>
        <p:nvSpPr>
          <p:cNvPr id="2" name="Дата 1"/>
          <p:cNvSpPr>
            <a:spLocks noGrp="1"/>
          </p:cNvSpPr>
          <p:nvPr>
            <p:ph type="dt" sz="half" idx="10"/>
          </p:nvPr>
        </p:nvSpPr>
        <p:spPr/>
        <p:txBody>
          <a:bodyPr rtlCol="0"/>
          <a:lstStyle/>
          <a:p>
            <a:pPr rtl="0"/>
            <a:fld id="{E6C9301C-4F5A-41D7-B5DF-F74C403F3355}" type="datetime1">
              <a:rPr lang="ru-RU" noProof="0" smtClean="0"/>
              <a:t>23.07.2026</a:t>
            </a:fld>
            <a:endParaRPr lang="ru-RU" noProof="0" dirty="0"/>
          </a:p>
        </p:txBody>
      </p:sp>
      <p:sp>
        <p:nvSpPr>
          <p:cNvPr id="4" name="Номер слайда 3"/>
          <p:cNvSpPr>
            <a:spLocks noGrp="1"/>
          </p:cNvSpPr>
          <p:nvPr>
            <p:ph type="sldNum" sz="quarter" idx="12"/>
          </p:nvPr>
        </p:nvSpPr>
        <p:spPr/>
        <p:txBody>
          <a:bodyPr rtlCol="0"/>
          <a:lstStyle/>
          <a:p>
            <a:pPr rtl="0"/>
            <a:fld id="{CA8D9AD5-F248-4919-864A-CFD76CC027D6}" type="slidenum">
              <a:rPr lang="ru-RU" noProof="0" smtClean="0"/>
              <a:t>‹#›</a:t>
            </a:fld>
            <a:endParaRPr lang="ru-RU" noProof="0" dirty="0"/>
          </a:p>
        </p:txBody>
      </p:sp>
    </p:spTree>
    <p:extLst>
      <p:ext uri="{BB962C8B-B14F-4D97-AF65-F5344CB8AC3E}">
        <p14:creationId xmlns:p14="http://schemas.microsoft.com/office/powerpoint/2010/main" val="2559003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470648" y="2350008"/>
            <a:ext cx="4206240" cy="1993392"/>
          </a:xfrm>
        </p:spPr>
        <p:txBody>
          <a:bodyPr rtlCol="0" anchor="b">
            <a:normAutofit/>
          </a:bodyPr>
          <a:lstStyle>
            <a:lvl1pPr>
              <a:defRPr sz="3400" b="0"/>
            </a:lvl1pPr>
          </a:lstStyle>
          <a:p>
            <a:pPr rtl="0"/>
            <a:r>
              <a:rPr lang="ru-RU" noProof="0" smtClean="0"/>
              <a:t>Образец заголовка</a:t>
            </a:r>
            <a:endParaRPr lang="ru-RU" noProof="0" dirty="0"/>
          </a:p>
        </p:txBody>
      </p:sp>
      <p:sp>
        <p:nvSpPr>
          <p:cNvPr id="3" name="Объект 2"/>
          <p:cNvSpPr>
            <a:spLocks noGrp="1"/>
          </p:cNvSpPr>
          <p:nvPr>
            <p:ph idx="1"/>
          </p:nvPr>
        </p:nvSpPr>
        <p:spPr>
          <a:xfrm>
            <a:off x="457200" y="758952"/>
            <a:ext cx="6629400" cy="5330952"/>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Текст 3"/>
          <p:cNvSpPr>
            <a:spLocks noGrp="1"/>
          </p:cNvSpPr>
          <p:nvPr>
            <p:ph type="body" sz="half" idx="2"/>
          </p:nvPr>
        </p:nvSpPr>
        <p:spPr>
          <a:xfrm>
            <a:off x="7470648" y="4361688"/>
            <a:ext cx="4206240" cy="1728216"/>
          </a:xfrm>
        </p:spPr>
        <p:txBody>
          <a:bodyPr rtlCol="0">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ru-RU" noProof="0" smtClean="0"/>
              <a:t>Образец текста</a:t>
            </a:r>
          </a:p>
        </p:txBody>
      </p:sp>
      <p:sp>
        <p:nvSpPr>
          <p:cNvPr id="6" name="Нижний колонтитул 5"/>
          <p:cNvSpPr>
            <a:spLocks noGrp="1"/>
          </p:cNvSpPr>
          <p:nvPr>
            <p:ph type="ftr" sz="quarter" idx="11"/>
          </p:nvPr>
        </p:nvSpPr>
        <p:spPr/>
        <p:txBody>
          <a:bodyPr rtlCol="0"/>
          <a:lstStyle/>
          <a:p>
            <a:pPr rtl="0"/>
            <a:r>
              <a:rPr lang="ru-RU" noProof="0" dirty="0" smtClean="0"/>
              <a:t>Добавить нижний колонтитул</a:t>
            </a:r>
            <a:endParaRPr lang="ru-RU" noProof="0" dirty="0"/>
          </a:p>
        </p:txBody>
      </p:sp>
      <p:sp>
        <p:nvSpPr>
          <p:cNvPr id="5" name="Дата 4"/>
          <p:cNvSpPr>
            <a:spLocks noGrp="1"/>
          </p:cNvSpPr>
          <p:nvPr>
            <p:ph type="dt" sz="half" idx="10"/>
          </p:nvPr>
        </p:nvSpPr>
        <p:spPr/>
        <p:txBody>
          <a:bodyPr rtlCol="0"/>
          <a:lstStyle/>
          <a:p>
            <a:pPr rtl="0"/>
            <a:fld id="{826585C5-E142-42DC-8E17-9800035DFB5C}" type="datetime1">
              <a:rPr lang="ru-RU" noProof="0" smtClean="0"/>
              <a:t>23.07.2026</a:t>
            </a:fld>
            <a:endParaRPr lang="ru-RU" noProof="0" dirty="0"/>
          </a:p>
        </p:txBody>
      </p:sp>
      <p:sp>
        <p:nvSpPr>
          <p:cNvPr id="7" name="Номер слайда 6"/>
          <p:cNvSpPr>
            <a:spLocks noGrp="1"/>
          </p:cNvSpPr>
          <p:nvPr>
            <p:ph type="sldNum" sz="quarter" idx="12"/>
          </p:nvPr>
        </p:nvSpPr>
        <p:spPr/>
        <p:txBody>
          <a:bodyPr rtlCol="0"/>
          <a:lstStyle/>
          <a:p>
            <a:pPr rtl="0"/>
            <a:fld id="{CA8D9AD5-F248-4919-864A-CFD76CC027D6}" type="slidenum">
              <a:rPr lang="ru-RU" noProof="0" smtClean="0"/>
              <a:t>‹#›</a:t>
            </a:fld>
            <a:endParaRPr lang="ru-RU" noProof="0" dirty="0"/>
          </a:p>
        </p:txBody>
      </p:sp>
    </p:spTree>
    <p:extLst>
      <p:ext uri="{BB962C8B-B14F-4D97-AF65-F5344CB8AC3E}">
        <p14:creationId xmlns:p14="http://schemas.microsoft.com/office/powerpoint/2010/main" val="1435946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470648" y="2350008"/>
            <a:ext cx="4206240" cy="1993392"/>
          </a:xfrm>
        </p:spPr>
        <p:txBody>
          <a:bodyPr rtlCol="0" anchor="b">
            <a:normAutofit/>
          </a:bodyPr>
          <a:lstStyle>
            <a:lvl1pPr>
              <a:defRPr sz="3400" b="0"/>
            </a:lvl1pPr>
          </a:lstStyle>
          <a:p>
            <a:pPr rtl="0"/>
            <a:r>
              <a:rPr lang="ru-RU" noProof="0" smtClean="0"/>
              <a:t>Образец заголовка</a:t>
            </a:r>
            <a:endParaRPr lang="ru-RU" noProof="0" dirty="0"/>
          </a:p>
        </p:txBody>
      </p:sp>
      <p:sp>
        <p:nvSpPr>
          <p:cNvPr id="3" name="Рисунок 2" descr="Пустой заполнитель, вместо которого можно добавить изображение. Щелкните заполнитель и выберите изображение, которое требуется добавить"/>
          <p:cNvSpPr>
            <a:spLocks noGrp="1"/>
          </p:cNvSpPr>
          <p:nvPr>
            <p:ph type="pic" idx="1"/>
          </p:nvPr>
        </p:nvSpPr>
        <p:spPr>
          <a:xfrm>
            <a:off x="301752" y="502920"/>
            <a:ext cx="6702552" cy="5843016"/>
          </a:xfrm>
          <a:solidFill>
            <a:schemeClr val="accent1">
              <a:lumMod val="40000"/>
              <a:lumOff val="60000"/>
            </a:schemeClr>
          </a:solidFill>
        </p:spPr>
        <p:txBody>
          <a:bodyPr rtlCol="0"/>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ru-RU" noProof="0" smtClean="0"/>
              <a:t>Вставка рисунка</a:t>
            </a:r>
            <a:endParaRPr lang="ru-RU" noProof="0" dirty="0"/>
          </a:p>
        </p:txBody>
      </p:sp>
      <p:sp>
        <p:nvSpPr>
          <p:cNvPr id="4" name="Текст 3"/>
          <p:cNvSpPr>
            <a:spLocks noGrp="1"/>
          </p:cNvSpPr>
          <p:nvPr>
            <p:ph type="body" sz="half" idx="2"/>
          </p:nvPr>
        </p:nvSpPr>
        <p:spPr>
          <a:xfrm>
            <a:off x="7470648" y="4361688"/>
            <a:ext cx="4206240" cy="1728216"/>
          </a:xfrm>
        </p:spPr>
        <p:txBody>
          <a:bodyPr rtlCol="0">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ru-RU" noProof="0" smtClean="0"/>
              <a:t>Образец текста</a:t>
            </a:r>
          </a:p>
        </p:txBody>
      </p:sp>
      <p:sp>
        <p:nvSpPr>
          <p:cNvPr id="6" name="Нижний колонтитул 5"/>
          <p:cNvSpPr>
            <a:spLocks noGrp="1"/>
          </p:cNvSpPr>
          <p:nvPr>
            <p:ph type="ftr" sz="quarter" idx="11"/>
          </p:nvPr>
        </p:nvSpPr>
        <p:spPr/>
        <p:txBody>
          <a:bodyPr rtlCol="0"/>
          <a:lstStyle/>
          <a:p>
            <a:pPr rtl="0"/>
            <a:r>
              <a:rPr lang="ru-RU" noProof="0" dirty="0" smtClean="0"/>
              <a:t>Добавить нижний колонтитул</a:t>
            </a:r>
            <a:endParaRPr lang="ru-RU" noProof="0" dirty="0"/>
          </a:p>
        </p:txBody>
      </p:sp>
      <p:sp>
        <p:nvSpPr>
          <p:cNvPr id="5" name="Дата 4"/>
          <p:cNvSpPr>
            <a:spLocks noGrp="1"/>
          </p:cNvSpPr>
          <p:nvPr>
            <p:ph type="dt" sz="half" idx="10"/>
          </p:nvPr>
        </p:nvSpPr>
        <p:spPr/>
        <p:txBody>
          <a:bodyPr rtlCol="0"/>
          <a:lstStyle/>
          <a:p>
            <a:pPr rtl="0"/>
            <a:fld id="{B5D2A3B7-AF95-41C1-A6AB-C19ED7F5464C}" type="datetime1">
              <a:rPr lang="ru-RU" noProof="0" smtClean="0"/>
              <a:t>23.07.2026</a:t>
            </a:fld>
            <a:endParaRPr lang="ru-RU" noProof="0" dirty="0"/>
          </a:p>
        </p:txBody>
      </p:sp>
      <p:sp>
        <p:nvSpPr>
          <p:cNvPr id="7" name="Номер слайда 6"/>
          <p:cNvSpPr>
            <a:spLocks noGrp="1"/>
          </p:cNvSpPr>
          <p:nvPr>
            <p:ph type="sldNum" sz="quarter" idx="12"/>
          </p:nvPr>
        </p:nvSpPr>
        <p:spPr/>
        <p:txBody>
          <a:bodyPr rtlCol="0"/>
          <a:lstStyle/>
          <a:p>
            <a:pPr rtl="0"/>
            <a:fld id="{CA8D9AD5-F248-4919-864A-CFD76CC027D6}" type="slidenum">
              <a:rPr lang="ru-RU" noProof="0" smtClean="0"/>
              <a:t>‹#›</a:t>
            </a:fld>
            <a:endParaRPr lang="ru-RU" noProof="0" dirty="0"/>
          </a:p>
        </p:txBody>
      </p:sp>
    </p:spTree>
    <p:extLst>
      <p:ext uri="{BB962C8B-B14F-4D97-AF65-F5344CB8AC3E}">
        <p14:creationId xmlns:p14="http://schemas.microsoft.com/office/powerpoint/2010/main" val="1371734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41120" y="467360"/>
            <a:ext cx="9509760" cy="523952"/>
          </a:xfrm>
        </p:spPr>
        <p:txBody>
          <a:bodyPr rtlCol="0"/>
          <a:lstStyle/>
          <a:p>
            <a:pPr rtl="0"/>
            <a:r>
              <a:rPr lang="ru-RU" noProof="0" smtClean="0"/>
              <a:t>Образец заголовка</a:t>
            </a:r>
            <a:endParaRPr lang="ru-RU" noProof="0" dirty="0"/>
          </a:p>
        </p:txBody>
      </p:sp>
      <p:sp>
        <p:nvSpPr>
          <p:cNvPr id="3" name="Вертикальный текст 2"/>
          <p:cNvSpPr>
            <a:spLocks noGrp="1"/>
          </p:cNvSpPr>
          <p:nvPr>
            <p:ph type="body" orient="vert" idx="1"/>
          </p:nvPr>
        </p:nvSpPr>
        <p:spPr/>
        <p:txBody>
          <a:bodyPr vert="eaVert" rtlCol="0"/>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5" name="Нижний колонтитул 4"/>
          <p:cNvSpPr>
            <a:spLocks noGrp="1"/>
          </p:cNvSpPr>
          <p:nvPr>
            <p:ph type="ftr" sz="quarter" idx="11"/>
          </p:nvPr>
        </p:nvSpPr>
        <p:spPr/>
        <p:txBody>
          <a:bodyPr rtlCol="0"/>
          <a:lstStyle/>
          <a:p>
            <a:pPr rtl="0"/>
            <a:r>
              <a:rPr lang="ru-RU" noProof="0" dirty="0" smtClean="0"/>
              <a:t>Добавить нижний колонтитул</a:t>
            </a:r>
            <a:endParaRPr lang="ru-RU" noProof="0" dirty="0"/>
          </a:p>
        </p:txBody>
      </p:sp>
      <p:sp>
        <p:nvSpPr>
          <p:cNvPr id="4" name="Дата 3"/>
          <p:cNvSpPr>
            <a:spLocks noGrp="1"/>
          </p:cNvSpPr>
          <p:nvPr>
            <p:ph type="dt" sz="half" idx="10"/>
          </p:nvPr>
        </p:nvSpPr>
        <p:spPr/>
        <p:txBody>
          <a:bodyPr rtlCol="0"/>
          <a:lstStyle/>
          <a:p>
            <a:pPr rtl="0"/>
            <a:fld id="{06C48E98-A324-45B5-B75E-58518888E80F}" type="datetime1">
              <a:rPr lang="ru-RU" noProof="0" smtClean="0"/>
              <a:t>23.07.2026</a:t>
            </a:fld>
            <a:endParaRPr lang="ru-RU" noProof="0" dirty="0"/>
          </a:p>
        </p:txBody>
      </p:sp>
      <p:sp>
        <p:nvSpPr>
          <p:cNvPr id="6" name="Номер слайда 5"/>
          <p:cNvSpPr>
            <a:spLocks noGrp="1"/>
          </p:cNvSpPr>
          <p:nvPr>
            <p:ph type="sldNum" sz="quarter" idx="12"/>
          </p:nvPr>
        </p:nvSpPr>
        <p:spPr/>
        <p:txBody>
          <a:bodyPr rtlCol="0"/>
          <a:lstStyle/>
          <a:p>
            <a:pPr rtl="0"/>
            <a:fld id="{CA8D9AD5-F248-4919-864A-CFD76CC027D6}" type="slidenum">
              <a:rPr lang="ru-RU" noProof="0" smtClean="0"/>
              <a:t>‹#›</a:t>
            </a:fld>
            <a:endParaRPr lang="ru-RU" noProof="0" dirty="0"/>
          </a:p>
        </p:txBody>
      </p:sp>
    </p:spTree>
    <p:extLst>
      <p:ext uri="{BB962C8B-B14F-4D97-AF65-F5344CB8AC3E}">
        <p14:creationId xmlns:p14="http://schemas.microsoft.com/office/powerpoint/2010/main" val="3338572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274638"/>
            <a:ext cx="2628900" cy="5897562"/>
          </a:xfrm>
        </p:spPr>
        <p:txBody>
          <a:bodyPr vert="eaVert" rtlCol="0"/>
          <a:lstStyle/>
          <a:p>
            <a:pPr rtl="0"/>
            <a:r>
              <a:rPr lang="ru-RU" noProof="0" smtClean="0"/>
              <a:t>Образец заголовка</a:t>
            </a:r>
            <a:endParaRPr lang="ru-RU" noProof="0" dirty="0"/>
          </a:p>
        </p:txBody>
      </p:sp>
      <p:sp>
        <p:nvSpPr>
          <p:cNvPr id="3" name="Вертикальный текст 2"/>
          <p:cNvSpPr>
            <a:spLocks noGrp="1"/>
          </p:cNvSpPr>
          <p:nvPr>
            <p:ph type="body" orient="vert" idx="1"/>
          </p:nvPr>
        </p:nvSpPr>
        <p:spPr>
          <a:xfrm>
            <a:off x="838200" y="274638"/>
            <a:ext cx="7734300" cy="5897562"/>
          </a:xfrm>
        </p:spPr>
        <p:txBody>
          <a:bodyPr vert="eaVert" rtlCol="0"/>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5" name="Нижний колонтитул 4"/>
          <p:cNvSpPr>
            <a:spLocks noGrp="1"/>
          </p:cNvSpPr>
          <p:nvPr>
            <p:ph type="ftr" sz="quarter" idx="11"/>
          </p:nvPr>
        </p:nvSpPr>
        <p:spPr/>
        <p:txBody>
          <a:bodyPr rtlCol="0"/>
          <a:lstStyle/>
          <a:p>
            <a:pPr rtl="0"/>
            <a:r>
              <a:rPr lang="ru-RU" noProof="0" dirty="0" smtClean="0"/>
              <a:t>Добавить нижний колонтитул</a:t>
            </a:r>
            <a:endParaRPr lang="ru-RU" noProof="0" dirty="0"/>
          </a:p>
        </p:txBody>
      </p:sp>
      <p:sp>
        <p:nvSpPr>
          <p:cNvPr id="4" name="Дата 3"/>
          <p:cNvSpPr>
            <a:spLocks noGrp="1"/>
          </p:cNvSpPr>
          <p:nvPr>
            <p:ph type="dt" sz="half" idx="10"/>
          </p:nvPr>
        </p:nvSpPr>
        <p:spPr/>
        <p:txBody>
          <a:bodyPr rtlCol="0"/>
          <a:lstStyle/>
          <a:p>
            <a:pPr rtl="0"/>
            <a:fld id="{A586FC24-964D-46E1-9401-22426D49172E}" type="datetime1">
              <a:rPr lang="ru-RU" noProof="0" smtClean="0"/>
              <a:t>23.07.2026</a:t>
            </a:fld>
            <a:endParaRPr lang="ru-RU" noProof="0" dirty="0"/>
          </a:p>
        </p:txBody>
      </p:sp>
      <p:sp>
        <p:nvSpPr>
          <p:cNvPr id="6" name="Номер слайда 5"/>
          <p:cNvSpPr>
            <a:spLocks noGrp="1"/>
          </p:cNvSpPr>
          <p:nvPr>
            <p:ph type="sldNum" sz="quarter" idx="12"/>
          </p:nvPr>
        </p:nvSpPr>
        <p:spPr/>
        <p:txBody>
          <a:bodyPr rtlCol="0"/>
          <a:lstStyle/>
          <a:p>
            <a:pPr rtl="0"/>
            <a:fld id="{CA8D9AD5-F248-4919-864A-CFD76CC027D6}" type="slidenum">
              <a:rPr lang="ru-RU" noProof="0" smtClean="0"/>
              <a:t>‹#›</a:t>
            </a:fld>
            <a:endParaRPr lang="ru-RU" noProof="0" dirty="0"/>
          </a:p>
        </p:txBody>
      </p:sp>
    </p:spTree>
    <p:extLst>
      <p:ext uri="{BB962C8B-B14F-4D97-AF65-F5344CB8AC3E}">
        <p14:creationId xmlns:p14="http://schemas.microsoft.com/office/powerpoint/2010/main" val="2751558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FF4C50-933F-41F9-AD11-BD02410AA7D5}"/>
              </a:ext>
            </a:extLst>
          </p:cNvPr>
          <p:cNvSpPr>
            <a:spLocks noGrp="1"/>
          </p:cNvSpPr>
          <p:nvPr>
            <p:ph type="title" hasCustomPrompt="1"/>
          </p:nvPr>
        </p:nvSpPr>
        <p:spPr>
          <a:xfrm>
            <a:off x="1341120" y="467360"/>
            <a:ext cx="9509760" cy="54064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7" name="Подзаголовок 2">
            <a:extLst>
              <a:ext uri="{FF2B5EF4-FFF2-40B4-BE49-F238E27FC236}">
                <a16:creationId xmlns:a16="http://schemas.microsoft.com/office/drawing/2014/main" id="{E97A9A62-1AA6-47A9-A1A0-54196823744C}"/>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B1948E38-8FB0-4E51-A01C-C88794372E50}"/>
              </a:ext>
            </a:extLst>
          </p:cNvPr>
          <p:cNvSpPr>
            <a:spLocks noGrp="1"/>
          </p:cNvSpPr>
          <p:nvPr>
            <p:ph idx="1"/>
          </p:nvPr>
        </p:nvSpPr>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Нижний колонтитул 3">
            <a:extLst>
              <a:ext uri="{FF2B5EF4-FFF2-40B4-BE49-F238E27FC236}">
                <a16:creationId xmlns:a16="http://schemas.microsoft.com/office/drawing/2014/main" id="{E8FE0EB3-0FF4-4285-B9D3-90A5751B7BBF}"/>
              </a:ext>
            </a:extLst>
          </p:cNvPr>
          <p:cNvSpPr>
            <a:spLocks noGrp="1"/>
          </p:cNvSpPr>
          <p:nvPr>
            <p:ph type="ftr" sz="quarter" idx="12"/>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C8DE0AAD-6FBD-416B-A91A-21F2B737919E}"/>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39235230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FF4C50-933F-41F9-AD11-BD02410AA7D5}"/>
              </a:ext>
            </a:extLst>
          </p:cNvPr>
          <p:cNvSpPr>
            <a:spLocks noGrp="1"/>
          </p:cNvSpPr>
          <p:nvPr>
            <p:ph type="title" hasCustomPrompt="1"/>
          </p:nvPr>
        </p:nvSpPr>
        <p:spPr>
          <a:xfrm>
            <a:off x="1341120" y="467360"/>
            <a:ext cx="9509760" cy="54064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7" name="Подзаголовок 2">
            <a:extLst>
              <a:ext uri="{FF2B5EF4-FFF2-40B4-BE49-F238E27FC236}">
                <a16:creationId xmlns:a16="http://schemas.microsoft.com/office/drawing/2014/main" id="{E97A9A62-1AA6-47A9-A1A0-54196823744C}"/>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B1948E38-8FB0-4E51-A01C-C88794372E50}"/>
              </a:ext>
            </a:extLst>
          </p:cNvPr>
          <p:cNvSpPr>
            <a:spLocks noGrp="1"/>
          </p:cNvSpPr>
          <p:nvPr>
            <p:ph idx="1"/>
          </p:nvPr>
        </p:nvSpPr>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Нижний колонтитул 3">
            <a:extLst>
              <a:ext uri="{FF2B5EF4-FFF2-40B4-BE49-F238E27FC236}">
                <a16:creationId xmlns:a16="http://schemas.microsoft.com/office/drawing/2014/main" id="{E8FE0EB3-0FF4-4285-B9D3-90A5751B7BBF}"/>
              </a:ext>
            </a:extLst>
          </p:cNvPr>
          <p:cNvSpPr>
            <a:spLocks noGrp="1"/>
          </p:cNvSpPr>
          <p:nvPr>
            <p:ph type="ftr" sz="quarter" idx="12"/>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C8DE0AAD-6FBD-416B-A91A-21F2B737919E}"/>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29442511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FF4C50-933F-41F9-AD11-BD02410AA7D5}"/>
              </a:ext>
            </a:extLst>
          </p:cNvPr>
          <p:cNvSpPr>
            <a:spLocks noGrp="1"/>
          </p:cNvSpPr>
          <p:nvPr>
            <p:ph type="title" hasCustomPrompt="1"/>
          </p:nvPr>
        </p:nvSpPr>
        <p:spPr>
          <a:xfrm>
            <a:off x="1341120" y="467360"/>
            <a:ext cx="9509760" cy="54064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7" name="Подзаголовок 2">
            <a:extLst>
              <a:ext uri="{FF2B5EF4-FFF2-40B4-BE49-F238E27FC236}">
                <a16:creationId xmlns:a16="http://schemas.microsoft.com/office/drawing/2014/main" id="{E97A9A62-1AA6-47A9-A1A0-54196823744C}"/>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B1948E38-8FB0-4E51-A01C-C88794372E50}"/>
              </a:ext>
            </a:extLst>
          </p:cNvPr>
          <p:cNvSpPr>
            <a:spLocks noGrp="1"/>
          </p:cNvSpPr>
          <p:nvPr>
            <p:ph idx="1"/>
          </p:nvPr>
        </p:nvSpPr>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Нижний колонтитул 3">
            <a:extLst>
              <a:ext uri="{FF2B5EF4-FFF2-40B4-BE49-F238E27FC236}">
                <a16:creationId xmlns:a16="http://schemas.microsoft.com/office/drawing/2014/main" id="{E8FE0EB3-0FF4-4285-B9D3-90A5751B7BBF}"/>
              </a:ext>
            </a:extLst>
          </p:cNvPr>
          <p:cNvSpPr>
            <a:spLocks noGrp="1"/>
          </p:cNvSpPr>
          <p:nvPr>
            <p:ph type="ftr" sz="quarter" idx="12"/>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C8DE0AAD-6FBD-416B-A91A-21F2B737919E}"/>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10446783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FF4C50-933F-41F9-AD11-BD02410AA7D5}"/>
              </a:ext>
            </a:extLst>
          </p:cNvPr>
          <p:cNvSpPr>
            <a:spLocks noGrp="1"/>
          </p:cNvSpPr>
          <p:nvPr>
            <p:ph type="title" hasCustomPrompt="1"/>
          </p:nvPr>
        </p:nvSpPr>
        <p:spPr>
          <a:xfrm>
            <a:off x="1341120" y="467360"/>
            <a:ext cx="9509760" cy="498315"/>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3" name="Объект 2">
            <a:extLst>
              <a:ext uri="{FF2B5EF4-FFF2-40B4-BE49-F238E27FC236}">
                <a16:creationId xmlns:a16="http://schemas.microsoft.com/office/drawing/2014/main" id="{B1948E38-8FB0-4E51-A01C-C88794372E50}"/>
              </a:ext>
            </a:extLst>
          </p:cNvPr>
          <p:cNvSpPr>
            <a:spLocks noGrp="1"/>
          </p:cNvSpPr>
          <p:nvPr>
            <p:ph idx="1"/>
          </p:nvPr>
        </p:nvSpPr>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Нижний колонтитул 3">
            <a:extLst>
              <a:ext uri="{FF2B5EF4-FFF2-40B4-BE49-F238E27FC236}">
                <a16:creationId xmlns:a16="http://schemas.microsoft.com/office/drawing/2014/main" id="{E8FE0EB3-0FF4-4285-B9D3-90A5751B7BBF}"/>
              </a:ext>
            </a:extLst>
          </p:cNvPr>
          <p:cNvSpPr>
            <a:spLocks noGrp="1"/>
          </p:cNvSpPr>
          <p:nvPr>
            <p:ph type="ftr" sz="quarter" idx="12"/>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C8DE0AAD-6FBD-416B-A91A-21F2B737919E}"/>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3866415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_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FF4C50-933F-41F9-AD11-BD02410AA7D5}"/>
              </a:ext>
            </a:extLst>
          </p:cNvPr>
          <p:cNvSpPr>
            <a:spLocks noGrp="1"/>
          </p:cNvSpPr>
          <p:nvPr>
            <p:ph type="title" hasCustomPrompt="1"/>
          </p:nvPr>
        </p:nvSpPr>
        <p:spPr>
          <a:xfrm>
            <a:off x="1341120" y="467360"/>
            <a:ext cx="9509760" cy="54064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7" name="Подзаголовок 2">
            <a:extLst>
              <a:ext uri="{FF2B5EF4-FFF2-40B4-BE49-F238E27FC236}">
                <a16:creationId xmlns:a16="http://schemas.microsoft.com/office/drawing/2014/main" id="{E97A9A62-1AA6-47A9-A1A0-54196823744C}"/>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B1948E38-8FB0-4E51-A01C-C88794372E50}"/>
              </a:ext>
            </a:extLst>
          </p:cNvPr>
          <p:cNvSpPr>
            <a:spLocks noGrp="1"/>
          </p:cNvSpPr>
          <p:nvPr>
            <p:ph idx="1"/>
          </p:nvPr>
        </p:nvSpPr>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Нижний колонтитул 3">
            <a:extLst>
              <a:ext uri="{FF2B5EF4-FFF2-40B4-BE49-F238E27FC236}">
                <a16:creationId xmlns:a16="http://schemas.microsoft.com/office/drawing/2014/main" id="{E8FE0EB3-0FF4-4285-B9D3-90A5751B7BBF}"/>
              </a:ext>
            </a:extLst>
          </p:cNvPr>
          <p:cNvSpPr>
            <a:spLocks noGrp="1"/>
          </p:cNvSpPr>
          <p:nvPr>
            <p:ph type="ftr" sz="quarter" idx="12"/>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C8DE0AAD-6FBD-416B-A91A-21F2B737919E}"/>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4468579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6_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FF4C50-933F-41F9-AD11-BD02410AA7D5}"/>
              </a:ext>
            </a:extLst>
          </p:cNvPr>
          <p:cNvSpPr>
            <a:spLocks noGrp="1"/>
          </p:cNvSpPr>
          <p:nvPr>
            <p:ph type="title" hasCustomPrompt="1"/>
          </p:nvPr>
        </p:nvSpPr>
        <p:spPr>
          <a:xfrm>
            <a:off x="1341120" y="467360"/>
            <a:ext cx="9509760" cy="54064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7" name="Подзаголовок 2">
            <a:extLst>
              <a:ext uri="{FF2B5EF4-FFF2-40B4-BE49-F238E27FC236}">
                <a16:creationId xmlns:a16="http://schemas.microsoft.com/office/drawing/2014/main" id="{E97A9A62-1AA6-47A9-A1A0-54196823744C}"/>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B1948E38-8FB0-4E51-A01C-C88794372E50}"/>
              </a:ext>
            </a:extLst>
          </p:cNvPr>
          <p:cNvSpPr>
            <a:spLocks noGrp="1"/>
          </p:cNvSpPr>
          <p:nvPr>
            <p:ph idx="1"/>
          </p:nvPr>
        </p:nvSpPr>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Нижний колонтитул 3">
            <a:extLst>
              <a:ext uri="{FF2B5EF4-FFF2-40B4-BE49-F238E27FC236}">
                <a16:creationId xmlns:a16="http://schemas.microsoft.com/office/drawing/2014/main" id="{E8FE0EB3-0FF4-4285-B9D3-90A5751B7BBF}"/>
              </a:ext>
            </a:extLst>
          </p:cNvPr>
          <p:cNvSpPr>
            <a:spLocks noGrp="1"/>
          </p:cNvSpPr>
          <p:nvPr>
            <p:ph type="ftr" sz="quarter" idx="12"/>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C8DE0AAD-6FBD-416B-A91A-21F2B737919E}"/>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34070423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7_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FF4C50-933F-41F9-AD11-BD02410AA7D5}"/>
              </a:ext>
            </a:extLst>
          </p:cNvPr>
          <p:cNvSpPr>
            <a:spLocks noGrp="1"/>
          </p:cNvSpPr>
          <p:nvPr>
            <p:ph type="title" hasCustomPrompt="1"/>
          </p:nvPr>
        </p:nvSpPr>
        <p:spPr>
          <a:xfrm>
            <a:off x="1341120" y="467360"/>
            <a:ext cx="9509760" cy="54064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7" name="Подзаголовок 2">
            <a:extLst>
              <a:ext uri="{FF2B5EF4-FFF2-40B4-BE49-F238E27FC236}">
                <a16:creationId xmlns:a16="http://schemas.microsoft.com/office/drawing/2014/main" id="{E97A9A62-1AA6-47A9-A1A0-54196823744C}"/>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B1948E38-8FB0-4E51-A01C-C88794372E50}"/>
              </a:ext>
            </a:extLst>
          </p:cNvPr>
          <p:cNvSpPr>
            <a:spLocks noGrp="1"/>
          </p:cNvSpPr>
          <p:nvPr>
            <p:ph idx="1"/>
          </p:nvPr>
        </p:nvSpPr>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Нижний колонтитул 3">
            <a:extLst>
              <a:ext uri="{FF2B5EF4-FFF2-40B4-BE49-F238E27FC236}">
                <a16:creationId xmlns:a16="http://schemas.microsoft.com/office/drawing/2014/main" id="{E8FE0EB3-0FF4-4285-B9D3-90A5751B7BBF}"/>
              </a:ext>
            </a:extLst>
          </p:cNvPr>
          <p:cNvSpPr>
            <a:spLocks noGrp="1"/>
          </p:cNvSpPr>
          <p:nvPr>
            <p:ph type="ftr" sz="quarter" idx="12"/>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C8DE0AAD-6FBD-416B-A91A-21F2B737919E}"/>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15794814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8_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FF4C50-933F-41F9-AD11-BD02410AA7D5}"/>
              </a:ext>
            </a:extLst>
          </p:cNvPr>
          <p:cNvSpPr>
            <a:spLocks noGrp="1"/>
          </p:cNvSpPr>
          <p:nvPr>
            <p:ph type="title" hasCustomPrompt="1"/>
          </p:nvPr>
        </p:nvSpPr>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7" name="Подзаголовок 2">
            <a:extLst>
              <a:ext uri="{FF2B5EF4-FFF2-40B4-BE49-F238E27FC236}">
                <a16:creationId xmlns:a16="http://schemas.microsoft.com/office/drawing/2014/main" id="{E97A9A62-1AA6-47A9-A1A0-54196823744C}"/>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B1948E38-8FB0-4E51-A01C-C88794372E50}"/>
              </a:ext>
            </a:extLst>
          </p:cNvPr>
          <p:cNvSpPr>
            <a:spLocks noGrp="1"/>
          </p:cNvSpPr>
          <p:nvPr>
            <p:ph idx="1"/>
          </p:nvPr>
        </p:nvSpPr>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Нижний колонтитул 3">
            <a:extLst>
              <a:ext uri="{FF2B5EF4-FFF2-40B4-BE49-F238E27FC236}">
                <a16:creationId xmlns:a16="http://schemas.microsoft.com/office/drawing/2014/main" id="{E8FE0EB3-0FF4-4285-B9D3-90A5751B7BBF}"/>
              </a:ext>
            </a:extLst>
          </p:cNvPr>
          <p:cNvSpPr>
            <a:spLocks noGrp="1"/>
          </p:cNvSpPr>
          <p:nvPr>
            <p:ph type="ftr" sz="quarter" idx="12"/>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C8DE0AAD-6FBD-416B-A91A-21F2B737919E}"/>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36617491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9_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FF4C50-933F-41F9-AD11-BD02410AA7D5}"/>
              </a:ext>
            </a:extLst>
          </p:cNvPr>
          <p:cNvSpPr>
            <a:spLocks noGrp="1"/>
          </p:cNvSpPr>
          <p:nvPr>
            <p:ph type="title" hasCustomPrompt="1"/>
          </p:nvPr>
        </p:nvSpPr>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7" name="Подзаголовок 2">
            <a:extLst>
              <a:ext uri="{FF2B5EF4-FFF2-40B4-BE49-F238E27FC236}">
                <a16:creationId xmlns:a16="http://schemas.microsoft.com/office/drawing/2014/main" id="{E97A9A62-1AA6-47A9-A1A0-54196823744C}"/>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B1948E38-8FB0-4E51-A01C-C88794372E50}"/>
              </a:ext>
            </a:extLst>
          </p:cNvPr>
          <p:cNvSpPr>
            <a:spLocks noGrp="1"/>
          </p:cNvSpPr>
          <p:nvPr>
            <p:ph idx="1"/>
          </p:nvPr>
        </p:nvSpPr>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Нижний колонтитул 3">
            <a:extLst>
              <a:ext uri="{FF2B5EF4-FFF2-40B4-BE49-F238E27FC236}">
                <a16:creationId xmlns:a16="http://schemas.microsoft.com/office/drawing/2014/main" id="{E8FE0EB3-0FF4-4285-B9D3-90A5751B7BBF}"/>
              </a:ext>
            </a:extLst>
          </p:cNvPr>
          <p:cNvSpPr>
            <a:spLocks noGrp="1"/>
          </p:cNvSpPr>
          <p:nvPr>
            <p:ph type="ftr" sz="quarter" idx="12"/>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C8DE0AAD-6FBD-416B-A91A-21F2B737919E}"/>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13044280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0_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FF4C50-933F-41F9-AD11-BD02410AA7D5}"/>
              </a:ext>
            </a:extLst>
          </p:cNvPr>
          <p:cNvSpPr>
            <a:spLocks noGrp="1"/>
          </p:cNvSpPr>
          <p:nvPr>
            <p:ph type="title" hasCustomPrompt="1"/>
          </p:nvPr>
        </p:nvSpPr>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7" name="Подзаголовок 2">
            <a:extLst>
              <a:ext uri="{FF2B5EF4-FFF2-40B4-BE49-F238E27FC236}">
                <a16:creationId xmlns:a16="http://schemas.microsoft.com/office/drawing/2014/main" id="{E97A9A62-1AA6-47A9-A1A0-54196823744C}"/>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B1948E38-8FB0-4E51-A01C-C88794372E50}"/>
              </a:ext>
            </a:extLst>
          </p:cNvPr>
          <p:cNvSpPr>
            <a:spLocks noGrp="1"/>
          </p:cNvSpPr>
          <p:nvPr>
            <p:ph idx="1"/>
          </p:nvPr>
        </p:nvSpPr>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Нижний колонтитул 3">
            <a:extLst>
              <a:ext uri="{FF2B5EF4-FFF2-40B4-BE49-F238E27FC236}">
                <a16:creationId xmlns:a16="http://schemas.microsoft.com/office/drawing/2014/main" id="{E8FE0EB3-0FF4-4285-B9D3-90A5751B7BBF}"/>
              </a:ext>
            </a:extLst>
          </p:cNvPr>
          <p:cNvSpPr>
            <a:spLocks noGrp="1"/>
          </p:cNvSpPr>
          <p:nvPr>
            <p:ph type="ftr" sz="quarter" idx="12"/>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C8DE0AAD-6FBD-416B-A91A-21F2B737919E}"/>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42850372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1_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FF4C50-933F-41F9-AD11-BD02410AA7D5}"/>
              </a:ext>
            </a:extLst>
          </p:cNvPr>
          <p:cNvSpPr>
            <a:spLocks noGrp="1"/>
          </p:cNvSpPr>
          <p:nvPr>
            <p:ph type="title" hasCustomPrompt="1"/>
          </p:nvPr>
        </p:nvSpPr>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7" name="Подзаголовок 2">
            <a:extLst>
              <a:ext uri="{FF2B5EF4-FFF2-40B4-BE49-F238E27FC236}">
                <a16:creationId xmlns:a16="http://schemas.microsoft.com/office/drawing/2014/main" id="{E97A9A62-1AA6-47A9-A1A0-54196823744C}"/>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B1948E38-8FB0-4E51-A01C-C88794372E50}"/>
              </a:ext>
            </a:extLst>
          </p:cNvPr>
          <p:cNvSpPr>
            <a:spLocks noGrp="1"/>
          </p:cNvSpPr>
          <p:nvPr>
            <p:ph idx="1"/>
          </p:nvPr>
        </p:nvSpPr>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Нижний колонтитул 3">
            <a:extLst>
              <a:ext uri="{FF2B5EF4-FFF2-40B4-BE49-F238E27FC236}">
                <a16:creationId xmlns:a16="http://schemas.microsoft.com/office/drawing/2014/main" id="{E8FE0EB3-0FF4-4285-B9D3-90A5751B7BBF}"/>
              </a:ext>
            </a:extLst>
          </p:cNvPr>
          <p:cNvSpPr>
            <a:spLocks noGrp="1"/>
          </p:cNvSpPr>
          <p:nvPr>
            <p:ph type="ftr" sz="quarter" idx="12"/>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C8DE0AAD-6FBD-416B-A91A-21F2B737919E}"/>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28272088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2_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FF4C50-933F-41F9-AD11-BD02410AA7D5}"/>
              </a:ext>
            </a:extLst>
          </p:cNvPr>
          <p:cNvSpPr>
            <a:spLocks noGrp="1"/>
          </p:cNvSpPr>
          <p:nvPr>
            <p:ph type="title" hasCustomPrompt="1"/>
          </p:nvPr>
        </p:nvSpPr>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7" name="Подзаголовок 2">
            <a:extLst>
              <a:ext uri="{FF2B5EF4-FFF2-40B4-BE49-F238E27FC236}">
                <a16:creationId xmlns:a16="http://schemas.microsoft.com/office/drawing/2014/main" id="{E97A9A62-1AA6-47A9-A1A0-54196823744C}"/>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B1948E38-8FB0-4E51-A01C-C88794372E50}"/>
              </a:ext>
            </a:extLst>
          </p:cNvPr>
          <p:cNvSpPr>
            <a:spLocks noGrp="1"/>
          </p:cNvSpPr>
          <p:nvPr>
            <p:ph idx="1"/>
          </p:nvPr>
        </p:nvSpPr>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Нижний колонтитул 3">
            <a:extLst>
              <a:ext uri="{FF2B5EF4-FFF2-40B4-BE49-F238E27FC236}">
                <a16:creationId xmlns:a16="http://schemas.microsoft.com/office/drawing/2014/main" id="{E8FE0EB3-0FF4-4285-B9D3-90A5751B7BBF}"/>
              </a:ext>
            </a:extLst>
          </p:cNvPr>
          <p:cNvSpPr>
            <a:spLocks noGrp="1"/>
          </p:cNvSpPr>
          <p:nvPr>
            <p:ph type="ftr" sz="quarter" idx="12"/>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C8DE0AAD-6FBD-416B-A91A-21F2B737919E}"/>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15213863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3_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FF4C50-933F-41F9-AD11-BD02410AA7D5}"/>
              </a:ext>
            </a:extLst>
          </p:cNvPr>
          <p:cNvSpPr>
            <a:spLocks noGrp="1"/>
          </p:cNvSpPr>
          <p:nvPr>
            <p:ph type="title" hasCustomPrompt="1"/>
          </p:nvPr>
        </p:nvSpPr>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7" name="Подзаголовок 2">
            <a:extLst>
              <a:ext uri="{FF2B5EF4-FFF2-40B4-BE49-F238E27FC236}">
                <a16:creationId xmlns:a16="http://schemas.microsoft.com/office/drawing/2014/main" id="{E97A9A62-1AA6-47A9-A1A0-54196823744C}"/>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B1948E38-8FB0-4E51-A01C-C88794372E50}"/>
              </a:ext>
            </a:extLst>
          </p:cNvPr>
          <p:cNvSpPr>
            <a:spLocks noGrp="1"/>
          </p:cNvSpPr>
          <p:nvPr>
            <p:ph idx="1"/>
          </p:nvPr>
        </p:nvSpPr>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Нижний колонтитул 3">
            <a:extLst>
              <a:ext uri="{FF2B5EF4-FFF2-40B4-BE49-F238E27FC236}">
                <a16:creationId xmlns:a16="http://schemas.microsoft.com/office/drawing/2014/main" id="{E8FE0EB3-0FF4-4285-B9D3-90A5751B7BBF}"/>
              </a:ext>
            </a:extLst>
          </p:cNvPr>
          <p:cNvSpPr>
            <a:spLocks noGrp="1"/>
          </p:cNvSpPr>
          <p:nvPr>
            <p:ph type="ftr" sz="quarter" idx="12"/>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C8DE0AAD-6FBD-416B-A91A-21F2B737919E}"/>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36776162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4_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FF4C50-933F-41F9-AD11-BD02410AA7D5}"/>
              </a:ext>
            </a:extLst>
          </p:cNvPr>
          <p:cNvSpPr>
            <a:spLocks noGrp="1"/>
          </p:cNvSpPr>
          <p:nvPr>
            <p:ph type="title" hasCustomPrompt="1"/>
          </p:nvPr>
        </p:nvSpPr>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7" name="Подзаголовок 2">
            <a:extLst>
              <a:ext uri="{FF2B5EF4-FFF2-40B4-BE49-F238E27FC236}">
                <a16:creationId xmlns:a16="http://schemas.microsoft.com/office/drawing/2014/main" id="{E97A9A62-1AA6-47A9-A1A0-54196823744C}"/>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B1948E38-8FB0-4E51-A01C-C88794372E50}"/>
              </a:ext>
            </a:extLst>
          </p:cNvPr>
          <p:cNvSpPr>
            <a:spLocks noGrp="1"/>
          </p:cNvSpPr>
          <p:nvPr>
            <p:ph idx="1"/>
          </p:nvPr>
        </p:nvSpPr>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Нижний колонтитул 3">
            <a:extLst>
              <a:ext uri="{FF2B5EF4-FFF2-40B4-BE49-F238E27FC236}">
                <a16:creationId xmlns:a16="http://schemas.microsoft.com/office/drawing/2014/main" id="{E8FE0EB3-0FF4-4285-B9D3-90A5751B7BBF}"/>
              </a:ext>
            </a:extLst>
          </p:cNvPr>
          <p:cNvSpPr>
            <a:spLocks noGrp="1"/>
          </p:cNvSpPr>
          <p:nvPr>
            <p:ph type="ftr" sz="quarter" idx="12"/>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C8DE0AAD-6FBD-416B-A91A-21F2B737919E}"/>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7813177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5_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FF4C50-933F-41F9-AD11-BD02410AA7D5}"/>
              </a:ext>
            </a:extLst>
          </p:cNvPr>
          <p:cNvSpPr>
            <a:spLocks noGrp="1"/>
          </p:cNvSpPr>
          <p:nvPr>
            <p:ph type="title" hasCustomPrompt="1"/>
          </p:nvPr>
        </p:nvSpPr>
        <p:spPr>
          <a:xfrm>
            <a:off x="1341120" y="467360"/>
            <a:ext cx="9509760" cy="54064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7" name="Подзаголовок 2">
            <a:extLst>
              <a:ext uri="{FF2B5EF4-FFF2-40B4-BE49-F238E27FC236}">
                <a16:creationId xmlns:a16="http://schemas.microsoft.com/office/drawing/2014/main" id="{E97A9A62-1AA6-47A9-A1A0-54196823744C}"/>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B1948E38-8FB0-4E51-A01C-C88794372E50}"/>
              </a:ext>
            </a:extLst>
          </p:cNvPr>
          <p:cNvSpPr>
            <a:spLocks noGrp="1"/>
          </p:cNvSpPr>
          <p:nvPr>
            <p:ph idx="1"/>
          </p:nvPr>
        </p:nvSpPr>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Нижний колонтитул 3">
            <a:extLst>
              <a:ext uri="{FF2B5EF4-FFF2-40B4-BE49-F238E27FC236}">
                <a16:creationId xmlns:a16="http://schemas.microsoft.com/office/drawing/2014/main" id="{E8FE0EB3-0FF4-4285-B9D3-90A5751B7BBF}"/>
              </a:ext>
            </a:extLst>
          </p:cNvPr>
          <p:cNvSpPr>
            <a:spLocks noGrp="1"/>
          </p:cNvSpPr>
          <p:nvPr>
            <p:ph type="ftr" sz="quarter" idx="12"/>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C8DE0AAD-6FBD-416B-A91A-21F2B737919E}"/>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6852735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6_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FF4C50-933F-41F9-AD11-BD02410AA7D5}"/>
              </a:ext>
            </a:extLst>
          </p:cNvPr>
          <p:cNvSpPr>
            <a:spLocks noGrp="1"/>
          </p:cNvSpPr>
          <p:nvPr>
            <p:ph type="title" hasCustomPrompt="1"/>
          </p:nvPr>
        </p:nvSpPr>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7" name="Подзаголовок 2">
            <a:extLst>
              <a:ext uri="{FF2B5EF4-FFF2-40B4-BE49-F238E27FC236}">
                <a16:creationId xmlns:a16="http://schemas.microsoft.com/office/drawing/2014/main" id="{E97A9A62-1AA6-47A9-A1A0-54196823744C}"/>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B1948E38-8FB0-4E51-A01C-C88794372E50}"/>
              </a:ext>
            </a:extLst>
          </p:cNvPr>
          <p:cNvSpPr>
            <a:spLocks noGrp="1"/>
          </p:cNvSpPr>
          <p:nvPr>
            <p:ph idx="1"/>
          </p:nvPr>
        </p:nvSpPr>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Нижний колонтитул 3">
            <a:extLst>
              <a:ext uri="{FF2B5EF4-FFF2-40B4-BE49-F238E27FC236}">
                <a16:creationId xmlns:a16="http://schemas.microsoft.com/office/drawing/2014/main" id="{E8FE0EB3-0FF4-4285-B9D3-90A5751B7BBF}"/>
              </a:ext>
            </a:extLst>
          </p:cNvPr>
          <p:cNvSpPr>
            <a:spLocks noGrp="1"/>
          </p:cNvSpPr>
          <p:nvPr>
            <p:ph type="ftr" sz="quarter" idx="12"/>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C8DE0AAD-6FBD-416B-A91A-21F2B737919E}"/>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3307634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7_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FF4C50-933F-41F9-AD11-BD02410AA7D5}"/>
              </a:ext>
            </a:extLst>
          </p:cNvPr>
          <p:cNvSpPr>
            <a:spLocks noGrp="1"/>
          </p:cNvSpPr>
          <p:nvPr>
            <p:ph type="title" hasCustomPrompt="1"/>
          </p:nvPr>
        </p:nvSpPr>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7" name="Подзаголовок 2">
            <a:extLst>
              <a:ext uri="{FF2B5EF4-FFF2-40B4-BE49-F238E27FC236}">
                <a16:creationId xmlns:a16="http://schemas.microsoft.com/office/drawing/2014/main" id="{E97A9A62-1AA6-47A9-A1A0-54196823744C}"/>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B1948E38-8FB0-4E51-A01C-C88794372E50}"/>
              </a:ext>
            </a:extLst>
          </p:cNvPr>
          <p:cNvSpPr>
            <a:spLocks noGrp="1"/>
          </p:cNvSpPr>
          <p:nvPr>
            <p:ph idx="1"/>
          </p:nvPr>
        </p:nvSpPr>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Нижний колонтитул 3">
            <a:extLst>
              <a:ext uri="{FF2B5EF4-FFF2-40B4-BE49-F238E27FC236}">
                <a16:creationId xmlns:a16="http://schemas.microsoft.com/office/drawing/2014/main" id="{E8FE0EB3-0FF4-4285-B9D3-90A5751B7BBF}"/>
              </a:ext>
            </a:extLst>
          </p:cNvPr>
          <p:cNvSpPr>
            <a:spLocks noGrp="1"/>
          </p:cNvSpPr>
          <p:nvPr>
            <p:ph type="ftr" sz="quarter" idx="12"/>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C8DE0AAD-6FBD-416B-A91A-21F2B737919E}"/>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196347294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8_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FF4C50-933F-41F9-AD11-BD02410AA7D5}"/>
              </a:ext>
            </a:extLst>
          </p:cNvPr>
          <p:cNvSpPr>
            <a:spLocks noGrp="1"/>
          </p:cNvSpPr>
          <p:nvPr>
            <p:ph type="title" hasCustomPrompt="1"/>
          </p:nvPr>
        </p:nvSpPr>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7" name="Подзаголовок 2">
            <a:extLst>
              <a:ext uri="{FF2B5EF4-FFF2-40B4-BE49-F238E27FC236}">
                <a16:creationId xmlns:a16="http://schemas.microsoft.com/office/drawing/2014/main" id="{E97A9A62-1AA6-47A9-A1A0-54196823744C}"/>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B1948E38-8FB0-4E51-A01C-C88794372E50}"/>
              </a:ext>
            </a:extLst>
          </p:cNvPr>
          <p:cNvSpPr>
            <a:spLocks noGrp="1"/>
          </p:cNvSpPr>
          <p:nvPr>
            <p:ph idx="1"/>
          </p:nvPr>
        </p:nvSpPr>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Нижний колонтитул 3">
            <a:extLst>
              <a:ext uri="{FF2B5EF4-FFF2-40B4-BE49-F238E27FC236}">
                <a16:creationId xmlns:a16="http://schemas.microsoft.com/office/drawing/2014/main" id="{E8FE0EB3-0FF4-4285-B9D3-90A5751B7BBF}"/>
              </a:ext>
            </a:extLst>
          </p:cNvPr>
          <p:cNvSpPr>
            <a:spLocks noGrp="1"/>
          </p:cNvSpPr>
          <p:nvPr>
            <p:ph type="ftr" sz="quarter" idx="12"/>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C8DE0AAD-6FBD-416B-A91A-21F2B737919E}"/>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283030667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9_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FF4C50-933F-41F9-AD11-BD02410AA7D5}"/>
              </a:ext>
            </a:extLst>
          </p:cNvPr>
          <p:cNvSpPr>
            <a:spLocks noGrp="1"/>
          </p:cNvSpPr>
          <p:nvPr>
            <p:ph type="title" hasCustomPrompt="1"/>
          </p:nvPr>
        </p:nvSpPr>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7" name="Подзаголовок 2">
            <a:extLst>
              <a:ext uri="{FF2B5EF4-FFF2-40B4-BE49-F238E27FC236}">
                <a16:creationId xmlns:a16="http://schemas.microsoft.com/office/drawing/2014/main" id="{E97A9A62-1AA6-47A9-A1A0-54196823744C}"/>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B1948E38-8FB0-4E51-A01C-C88794372E50}"/>
              </a:ext>
            </a:extLst>
          </p:cNvPr>
          <p:cNvSpPr>
            <a:spLocks noGrp="1"/>
          </p:cNvSpPr>
          <p:nvPr>
            <p:ph idx="1"/>
          </p:nvPr>
        </p:nvSpPr>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Нижний колонтитул 3">
            <a:extLst>
              <a:ext uri="{FF2B5EF4-FFF2-40B4-BE49-F238E27FC236}">
                <a16:creationId xmlns:a16="http://schemas.microsoft.com/office/drawing/2014/main" id="{E8FE0EB3-0FF4-4285-B9D3-90A5751B7BBF}"/>
              </a:ext>
            </a:extLst>
          </p:cNvPr>
          <p:cNvSpPr>
            <a:spLocks noGrp="1"/>
          </p:cNvSpPr>
          <p:nvPr>
            <p:ph type="ftr" sz="quarter" idx="12"/>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C8DE0AAD-6FBD-416B-A91A-21F2B737919E}"/>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221857730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0_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FF4C50-933F-41F9-AD11-BD02410AA7D5}"/>
              </a:ext>
            </a:extLst>
          </p:cNvPr>
          <p:cNvSpPr>
            <a:spLocks noGrp="1"/>
          </p:cNvSpPr>
          <p:nvPr>
            <p:ph type="title" hasCustomPrompt="1"/>
          </p:nvPr>
        </p:nvSpPr>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7" name="Подзаголовок 2">
            <a:extLst>
              <a:ext uri="{FF2B5EF4-FFF2-40B4-BE49-F238E27FC236}">
                <a16:creationId xmlns:a16="http://schemas.microsoft.com/office/drawing/2014/main" id="{E97A9A62-1AA6-47A9-A1A0-54196823744C}"/>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B1948E38-8FB0-4E51-A01C-C88794372E50}"/>
              </a:ext>
            </a:extLst>
          </p:cNvPr>
          <p:cNvSpPr>
            <a:spLocks noGrp="1"/>
          </p:cNvSpPr>
          <p:nvPr>
            <p:ph idx="1"/>
          </p:nvPr>
        </p:nvSpPr>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Нижний колонтитул 3">
            <a:extLst>
              <a:ext uri="{FF2B5EF4-FFF2-40B4-BE49-F238E27FC236}">
                <a16:creationId xmlns:a16="http://schemas.microsoft.com/office/drawing/2014/main" id="{E8FE0EB3-0FF4-4285-B9D3-90A5751B7BBF}"/>
              </a:ext>
            </a:extLst>
          </p:cNvPr>
          <p:cNvSpPr>
            <a:spLocks noGrp="1"/>
          </p:cNvSpPr>
          <p:nvPr>
            <p:ph type="ftr" sz="quarter" idx="12"/>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C8DE0AAD-6FBD-416B-A91A-21F2B737919E}"/>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144319815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Объект-фотография 2">
    <p:spTree>
      <p:nvGrpSpPr>
        <p:cNvPr id="1" name=""/>
        <p:cNvGrpSpPr/>
        <p:nvPr/>
      </p:nvGrpSpPr>
      <p:grpSpPr>
        <a:xfrm>
          <a:off x="0" y="0"/>
          <a:ext cx="0" cy="0"/>
          <a:chOff x="0" y="0"/>
          <a:chExt cx="0" cy="0"/>
        </a:xfrm>
      </p:grpSpPr>
      <p:sp>
        <p:nvSpPr>
          <p:cNvPr id="13" name="Рисунок 12">
            <a:extLst>
              <a:ext uri="{FF2B5EF4-FFF2-40B4-BE49-F238E27FC236}">
                <a16:creationId xmlns:a16="http://schemas.microsoft.com/office/drawing/2014/main" id="{C64B33BB-8F3A-42CE-BBDA-D08AA3266737}"/>
              </a:ext>
            </a:extLst>
          </p:cNvPr>
          <p:cNvSpPr>
            <a:spLocks noGrp="1"/>
          </p:cNvSpPr>
          <p:nvPr>
            <p:ph type="pic" sz="quarter" idx="36" hasCustomPrompt="1"/>
          </p:nvPr>
        </p:nvSpPr>
        <p:spPr>
          <a:xfrm>
            <a:off x="6282692" y="432000"/>
            <a:ext cx="5511800" cy="5760000"/>
          </a:xfrm>
          <a:custGeom>
            <a:avLst/>
            <a:gdLst>
              <a:gd name="connsiteX0" fmla="*/ 193823 w 5511800"/>
              <a:gd name="connsiteY0" fmla="*/ 0 h 5760000"/>
              <a:gd name="connsiteX1" fmla="*/ 5511800 w 5511800"/>
              <a:gd name="connsiteY1" fmla="*/ 0 h 5760000"/>
              <a:gd name="connsiteX2" fmla="*/ 5511800 w 5511800"/>
              <a:gd name="connsiteY2" fmla="*/ 5760000 h 5760000"/>
              <a:gd name="connsiteX3" fmla="*/ 193823 w 5511800"/>
              <a:gd name="connsiteY3" fmla="*/ 5760000 h 5760000"/>
              <a:gd name="connsiteX4" fmla="*/ 3937 w 5511800"/>
              <a:gd name="connsiteY4" fmla="*/ 5605239 h 5760000"/>
              <a:gd name="connsiteX5" fmla="*/ 0 w 5511800"/>
              <a:gd name="connsiteY5" fmla="*/ 5566186 h 5760000"/>
              <a:gd name="connsiteX6" fmla="*/ 0 w 5511800"/>
              <a:gd name="connsiteY6" fmla="*/ 193814 h 5760000"/>
              <a:gd name="connsiteX7" fmla="*/ 3937 w 5511800"/>
              <a:gd name="connsiteY7" fmla="*/ 154762 h 5760000"/>
              <a:gd name="connsiteX8" fmla="*/ 193823 w 5511800"/>
              <a:gd name="connsiteY8" fmla="*/ 0 h 57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11800" h="5760000">
                <a:moveTo>
                  <a:pt x="193823" y="0"/>
                </a:moveTo>
                <a:lnTo>
                  <a:pt x="5511800" y="0"/>
                </a:lnTo>
                <a:lnTo>
                  <a:pt x="5511800" y="5760000"/>
                </a:lnTo>
                <a:lnTo>
                  <a:pt x="193823" y="5760000"/>
                </a:lnTo>
                <a:cubicBezTo>
                  <a:pt x="100158" y="5760000"/>
                  <a:pt x="22011" y="5693561"/>
                  <a:pt x="3937" y="5605239"/>
                </a:cubicBezTo>
                <a:lnTo>
                  <a:pt x="0" y="5566186"/>
                </a:lnTo>
                <a:lnTo>
                  <a:pt x="0" y="193814"/>
                </a:lnTo>
                <a:lnTo>
                  <a:pt x="3937" y="154762"/>
                </a:lnTo>
                <a:cubicBezTo>
                  <a:pt x="22011" y="66440"/>
                  <a:pt x="100158" y="0"/>
                  <a:pt x="193823" y="0"/>
                </a:cubicBezTo>
                <a:close/>
              </a:path>
            </a:pathLst>
          </a:custGeom>
        </p:spPr>
        <p:txBody>
          <a:bodyPr wrap="square" tIns="0" rtlCol="0" anchor="ctr">
            <a:noAutofit/>
          </a:bodyP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ru-RU" noProof="0" dirty="0"/>
              <a:t>Вставьте или перетащите фото</a:t>
            </a:r>
          </a:p>
        </p:txBody>
      </p:sp>
      <p:sp>
        <p:nvSpPr>
          <p:cNvPr id="2" name="Заголовок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5472000" cy="432000"/>
          </a:xfrm>
        </p:spPr>
        <p:txBody>
          <a:bodyPr rtlCol="0"/>
          <a:lstStyle>
            <a:lvl1pPr>
              <a:defRPr>
                <a:solidFill>
                  <a:schemeClr val="tx1">
                    <a:lumMod val="75000"/>
                    <a:lumOff val="25000"/>
                  </a:schemeClr>
                </a:solidFill>
              </a:defRPr>
            </a:lvl1pPr>
          </a:lstStyle>
          <a:p>
            <a:pPr rtl="0"/>
            <a:r>
              <a:rPr lang="ru-RU" noProof="0" dirty="0"/>
              <a:t>Щелкните, чтобы изменить заголовок</a:t>
            </a:r>
          </a:p>
        </p:txBody>
      </p:sp>
      <p:sp>
        <p:nvSpPr>
          <p:cNvPr id="10" name="Подзаголовок 2">
            <a:extLst>
              <a:ext uri="{FF2B5EF4-FFF2-40B4-BE49-F238E27FC236}">
                <a16:creationId xmlns:a16="http://schemas.microsoft.com/office/drawing/2014/main" id="{3FAEED1D-0E66-4F74-9455-675F5CB7EAD4}"/>
              </a:ext>
            </a:extLst>
          </p:cNvPr>
          <p:cNvSpPr>
            <a:spLocks noGrp="1"/>
          </p:cNvSpPr>
          <p:nvPr>
            <p:ph type="body" sz="quarter" idx="32" hasCustomPrompt="1"/>
          </p:nvPr>
        </p:nvSpPr>
        <p:spPr>
          <a:xfrm>
            <a:off x="431801" y="1008000"/>
            <a:ext cx="5472000"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ru-RU" noProof="0" dirty="0"/>
              <a:t>Подзаголовок</a:t>
            </a:r>
          </a:p>
        </p:txBody>
      </p:sp>
      <p:sp>
        <p:nvSpPr>
          <p:cNvPr id="3" name="Объект 2">
            <a:extLst>
              <a:ext uri="{FF2B5EF4-FFF2-40B4-BE49-F238E27FC236}">
                <a16:creationId xmlns:a16="http://schemas.microsoft.com/office/drawing/2014/main" id="{A22238F2-C6EC-476F-8371-119AECBA5622}"/>
              </a:ext>
            </a:extLst>
          </p:cNvPr>
          <p:cNvSpPr>
            <a:spLocks noGrp="1"/>
          </p:cNvSpPr>
          <p:nvPr>
            <p:ph sz="half" idx="1"/>
          </p:nvPr>
        </p:nvSpPr>
        <p:spPr>
          <a:xfrm>
            <a:off x="432000" y="1511566"/>
            <a:ext cx="5472000" cy="4680434"/>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dirty="0"/>
          </a:p>
        </p:txBody>
      </p:sp>
      <p:sp>
        <p:nvSpPr>
          <p:cNvPr id="4" name="Нижний колонтитул 3">
            <a:extLst>
              <a:ext uri="{FF2B5EF4-FFF2-40B4-BE49-F238E27FC236}">
                <a16:creationId xmlns:a16="http://schemas.microsoft.com/office/drawing/2014/main" id="{57847F90-9DB6-4832-9EB7-393AADAE8B70}"/>
              </a:ext>
            </a:extLst>
          </p:cNvPr>
          <p:cNvSpPr>
            <a:spLocks noGrp="1"/>
          </p:cNvSpPr>
          <p:nvPr>
            <p:ph type="ftr" sz="quarter" idx="13"/>
          </p:nvPr>
        </p:nvSpPr>
        <p:spPr/>
        <p:txBody>
          <a:bodyPr rtlCol="0"/>
          <a:lstStyle/>
          <a:p>
            <a:pPr rtl="0"/>
            <a:r>
              <a:rPr lang="ru-RU" noProof="0" dirty="0"/>
              <a:t>Добавить нижний колонтитул</a:t>
            </a:r>
          </a:p>
        </p:txBody>
      </p:sp>
      <p:sp>
        <p:nvSpPr>
          <p:cNvPr id="5" name="Номер слайда 4">
            <a:extLst>
              <a:ext uri="{FF2B5EF4-FFF2-40B4-BE49-F238E27FC236}">
                <a16:creationId xmlns:a16="http://schemas.microsoft.com/office/drawing/2014/main" id="{0505ED12-A431-4761-87A4-F05164BE0221}"/>
              </a:ext>
            </a:extLst>
          </p:cNvPr>
          <p:cNvSpPr>
            <a:spLocks noGrp="1"/>
          </p:cNvSpPr>
          <p:nvPr>
            <p:ph type="sldNum" sz="quarter" idx="33"/>
          </p:nvPr>
        </p:nvSpPr>
        <p:spPr/>
        <p:txBody>
          <a:bodyPr rtlCol="0"/>
          <a:lstStyle/>
          <a:p>
            <a:pPr rtl="0"/>
            <a:fld id="{19B51A1E-902D-48AF-9020-955120F399B6}" type="slidenum">
              <a:rPr lang="ru-RU" noProof="0" smtClean="0"/>
              <a:pPr/>
              <a:t>‹#›</a:t>
            </a:fld>
            <a:endParaRPr lang="ru-RU" noProof="0" dirty="0"/>
          </a:p>
        </p:txBody>
      </p:sp>
    </p:spTree>
    <p:extLst>
      <p:ext uri="{BB962C8B-B14F-4D97-AF65-F5344CB8AC3E}">
        <p14:creationId xmlns:p14="http://schemas.microsoft.com/office/powerpoint/2010/main" val="238888888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Прямоугольник 6"/>
          <p:cNvSpPr/>
          <p:nvPr/>
        </p:nvSpPr>
        <p:spPr>
          <a:xfrm>
            <a:off x="0" y="6583680"/>
            <a:ext cx="12188826"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rtl="0"/>
            <a:endParaRPr lang="ru-RU" noProof="0" dirty="0"/>
          </a:p>
        </p:txBody>
      </p:sp>
      <p:sp>
        <p:nvSpPr>
          <p:cNvPr id="2" name="Заголовок 1"/>
          <p:cNvSpPr>
            <a:spLocks noGrp="1"/>
          </p:cNvSpPr>
          <p:nvPr>
            <p:ph type="title"/>
          </p:nvPr>
        </p:nvSpPr>
        <p:spPr>
          <a:xfrm>
            <a:off x="1341120" y="467360"/>
            <a:ext cx="9509760" cy="575227"/>
          </a:xfrm>
          <a:prstGeom prst="rect">
            <a:avLst/>
          </a:prstGeom>
        </p:spPr>
        <p:txBody>
          <a:bodyPr vert="horz" lIns="91440" tIns="45720" rIns="91440" bIns="45720" rtlCol="0" anchor="b">
            <a:normAutofit/>
          </a:bodyPr>
          <a:lstStyle/>
          <a:p>
            <a:pPr rtl="0"/>
            <a:r>
              <a:rPr lang="ru-RU" noProof="0" dirty="0" smtClean="0"/>
              <a:t>Образец заголовка</a:t>
            </a:r>
            <a:endParaRPr lang="ru-RU" noProof="0" dirty="0"/>
          </a:p>
        </p:txBody>
      </p:sp>
      <p:sp>
        <p:nvSpPr>
          <p:cNvPr id="3" name="Текст 2"/>
          <p:cNvSpPr>
            <a:spLocks noGrp="1"/>
          </p:cNvSpPr>
          <p:nvPr>
            <p:ph type="body" idx="1"/>
          </p:nvPr>
        </p:nvSpPr>
        <p:spPr>
          <a:xfrm>
            <a:off x="1341120" y="1901952"/>
            <a:ext cx="9509760" cy="4127627"/>
          </a:xfrm>
          <a:prstGeom prst="rect">
            <a:avLst/>
          </a:prstGeom>
        </p:spPr>
        <p:txBody>
          <a:bodyPr vert="horz" lIns="91440" tIns="45720" rIns="91440" bIns="45720" rtlCol="0">
            <a:normAutofit/>
          </a:bodyPr>
          <a:lstStyle/>
          <a:p>
            <a:pPr lvl="0" rtl="0"/>
            <a:r>
              <a:rPr lang="ru-RU" noProof="0" dirty="0" smtClean="0"/>
              <a:t>Образец текста</a:t>
            </a:r>
          </a:p>
          <a:p>
            <a:pPr lvl="1" rtl="0"/>
            <a:r>
              <a:rPr lang="ru-RU" noProof="0" dirty="0" smtClean="0"/>
              <a:t>Второй уровень</a:t>
            </a:r>
          </a:p>
          <a:p>
            <a:pPr lvl="2" rtl="0"/>
            <a:r>
              <a:rPr lang="ru-RU" noProof="0" dirty="0" smtClean="0"/>
              <a:t>Третий уровень</a:t>
            </a:r>
          </a:p>
          <a:p>
            <a:pPr lvl="3" rtl="0"/>
            <a:r>
              <a:rPr lang="ru-RU" noProof="0" dirty="0" smtClean="0"/>
              <a:t>Четвертый уровень</a:t>
            </a:r>
          </a:p>
          <a:p>
            <a:pPr lvl="4" rtl="0"/>
            <a:r>
              <a:rPr lang="ru-RU" noProof="0" dirty="0" smtClean="0"/>
              <a:t>Пятый уровень</a:t>
            </a:r>
            <a:endParaRPr lang="ru-RU" noProof="0" dirty="0"/>
          </a:p>
        </p:txBody>
      </p:sp>
      <p:sp>
        <p:nvSpPr>
          <p:cNvPr id="5" name="Нижний колонтитул 4"/>
          <p:cNvSpPr>
            <a:spLocks noGrp="1"/>
          </p:cNvSpPr>
          <p:nvPr>
            <p:ph type="ftr" sz="quarter" idx="3"/>
          </p:nvPr>
        </p:nvSpPr>
        <p:spPr>
          <a:xfrm>
            <a:off x="1341120" y="6601968"/>
            <a:ext cx="7159752" cy="237744"/>
          </a:xfrm>
          <a:prstGeom prst="rect">
            <a:avLst/>
          </a:prstGeom>
        </p:spPr>
        <p:txBody>
          <a:bodyPr vert="horz" lIns="91440" tIns="45720" rIns="91440" bIns="45720" rtlCol="0" anchor="ctr"/>
          <a:lstStyle>
            <a:lvl1pPr algn="l">
              <a:defRPr sz="1100" cap="all" baseline="0">
                <a:solidFill>
                  <a:schemeClr val="bg1">
                    <a:lumMod val="75000"/>
                  </a:schemeClr>
                </a:solidFill>
              </a:defRPr>
            </a:lvl1pPr>
          </a:lstStyle>
          <a:p>
            <a:pPr rtl="0"/>
            <a:r>
              <a:rPr lang="ru-RU" noProof="0" dirty="0" smtClean="0"/>
              <a:t>Добавить нижний колонтитул</a:t>
            </a:r>
            <a:endParaRPr lang="ru-RU" noProof="0" dirty="0"/>
          </a:p>
        </p:txBody>
      </p:sp>
      <p:sp>
        <p:nvSpPr>
          <p:cNvPr id="4" name="Дата 3"/>
          <p:cNvSpPr>
            <a:spLocks noGrp="1"/>
          </p:cNvSpPr>
          <p:nvPr>
            <p:ph type="dt" sz="half" idx="2"/>
          </p:nvPr>
        </p:nvSpPr>
        <p:spPr>
          <a:xfrm>
            <a:off x="8875776" y="6614000"/>
            <a:ext cx="960120" cy="237744"/>
          </a:xfrm>
          <a:prstGeom prst="rect">
            <a:avLst/>
          </a:prstGeom>
        </p:spPr>
        <p:txBody>
          <a:bodyPr vert="horz" lIns="91440" tIns="45720" rIns="91440" bIns="45720" rtlCol="0" anchor="ctr"/>
          <a:lstStyle>
            <a:lvl1pPr algn="r">
              <a:defRPr sz="1100" baseline="0">
                <a:solidFill>
                  <a:schemeClr val="bg1">
                    <a:lumMod val="75000"/>
                  </a:schemeClr>
                </a:solidFill>
              </a:defRPr>
            </a:lvl1pPr>
          </a:lstStyle>
          <a:p>
            <a:pPr rtl="0"/>
            <a:fld id="{8A5C2E86-A2F8-4ED0-A740-2D6B3F8A43D6}" type="datetime1">
              <a:rPr lang="ru-RU" noProof="0" smtClean="0"/>
              <a:t>23.07.2026</a:t>
            </a:fld>
            <a:endParaRPr lang="ru-RU" noProof="0" dirty="0"/>
          </a:p>
        </p:txBody>
      </p:sp>
      <p:sp>
        <p:nvSpPr>
          <p:cNvPr id="6" name="Номер слайда 5"/>
          <p:cNvSpPr>
            <a:spLocks noGrp="1"/>
          </p:cNvSpPr>
          <p:nvPr>
            <p:ph type="sldNum" sz="quarter" idx="4"/>
          </p:nvPr>
        </p:nvSpPr>
        <p:spPr>
          <a:xfrm>
            <a:off x="10210800" y="6601968"/>
            <a:ext cx="640080" cy="237744"/>
          </a:xfrm>
          <a:prstGeom prst="rect">
            <a:avLst/>
          </a:prstGeom>
        </p:spPr>
        <p:txBody>
          <a:bodyPr vert="horz" lIns="91440" tIns="45720" rIns="91440" bIns="45720" rtlCol="0" anchor="ctr"/>
          <a:lstStyle>
            <a:lvl1pPr algn="r">
              <a:defRPr sz="1100" baseline="0">
                <a:solidFill>
                  <a:schemeClr val="bg1">
                    <a:lumMod val="75000"/>
                  </a:schemeClr>
                </a:solidFill>
              </a:defRPr>
            </a:lvl1pPr>
          </a:lstStyle>
          <a:p>
            <a:pPr rtl="0"/>
            <a:fld id="{CA8D9AD5-F248-4919-864A-CFD76CC027D6}" type="slidenum">
              <a:rPr lang="ru-RU" noProof="0" smtClean="0"/>
              <a:pPr/>
              <a:t>‹#›</a:t>
            </a:fld>
            <a:endParaRPr lang="ru-RU" noProof="0" dirty="0"/>
          </a:p>
        </p:txBody>
      </p:sp>
    </p:spTree>
    <p:extLst>
      <p:ext uri="{BB962C8B-B14F-4D97-AF65-F5344CB8AC3E}">
        <p14:creationId xmlns:p14="http://schemas.microsoft.com/office/powerpoint/2010/main" val="2563760958"/>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60"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 id="2147483681" r:id="rId31"/>
    <p:sldLayoutId id="2147483682" r:id="rId3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marL="0" indent="0" algn="l" defTabSz="914400" rtl="0" eaLnBrk="1" latinLnBrk="0" hangingPunct="1">
        <a:lnSpc>
          <a:spcPct val="90000"/>
        </a:lnSpc>
        <a:spcBef>
          <a:spcPct val="0"/>
        </a:spcBef>
        <a:buFont typeface="Arial" pitchFamily="34" charset="0"/>
        <a:buNone/>
        <a:defRPr sz="3400" kern="1200">
          <a:solidFill>
            <a:schemeClr val="tx1"/>
          </a:solidFill>
          <a:latin typeface="+mj-lt"/>
          <a:ea typeface="+mj-ea"/>
          <a:cs typeface="+mj-cs"/>
        </a:defRPr>
      </a:lvl1pPr>
    </p:titleStyle>
    <p:bodyStyle>
      <a:lvl1pPr marL="274320" indent="-228600" algn="l" defTabSz="914400" rtl="0" eaLnBrk="1" latinLnBrk="0" hangingPunct="1">
        <a:lnSpc>
          <a:spcPct val="90000"/>
        </a:lnSpc>
        <a:spcBef>
          <a:spcPts val="1800"/>
        </a:spcBef>
        <a:buSzPct val="80000"/>
        <a:buFont typeface="Arial" pitchFamily="34" charset="0"/>
        <a:buChar char="•"/>
        <a:defRPr sz="2000" kern="1200">
          <a:solidFill>
            <a:schemeClr val="tx1"/>
          </a:solidFill>
          <a:latin typeface="+mn-lt"/>
          <a:ea typeface="+mn-ea"/>
          <a:cs typeface="+mn-cs"/>
        </a:defRPr>
      </a:lvl1pPr>
      <a:lvl2pPr marL="594360" indent="-228600" algn="l" defTabSz="914400" rtl="0" eaLnBrk="1" latinLnBrk="0" hangingPunct="1">
        <a:lnSpc>
          <a:spcPct val="90000"/>
        </a:lnSpc>
        <a:spcBef>
          <a:spcPts val="1000"/>
        </a:spcBef>
        <a:buSzPct val="80000"/>
        <a:buFont typeface="Arial" pitchFamily="34" charset="0"/>
        <a:buChar char="•"/>
        <a:defRPr sz="1800" kern="1200">
          <a:solidFill>
            <a:schemeClr val="tx1"/>
          </a:solidFill>
          <a:latin typeface="+mn-lt"/>
          <a:ea typeface="+mn-ea"/>
          <a:cs typeface="+mn-cs"/>
        </a:defRPr>
      </a:lvl2pPr>
      <a:lvl3pPr marL="914400" indent="-228600" algn="l" defTabSz="914400" rtl="0" eaLnBrk="1" latinLnBrk="0" hangingPunct="1">
        <a:lnSpc>
          <a:spcPct val="90000"/>
        </a:lnSpc>
        <a:spcBef>
          <a:spcPts val="800"/>
        </a:spcBef>
        <a:buSzPct val="80000"/>
        <a:buFont typeface="Arial" pitchFamily="34" charset="0"/>
        <a:buChar char="•"/>
        <a:defRPr sz="1600" kern="1200">
          <a:solidFill>
            <a:schemeClr val="tx1"/>
          </a:solidFill>
          <a:latin typeface="+mn-lt"/>
          <a:ea typeface="+mn-ea"/>
          <a:cs typeface="+mn-cs"/>
        </a:defRPr>
      </a:lvl3pPr>
      <a:lvl4pPr marL="1234440" indent="-228600" algn="l" defTabSz="914400" rtl="0" eaLnBrk="1" latinLnBrk="0" hangingPunct="1">
        <a:lnSpc>
          <a:spcPct val="90000"/>
        </a:lnSpc>
        <a:spcBef>
          <a:spcPts val="800"/>
        </a:spcBef>
        <a:buSzPct val="80000"/>
        <a:buFont typeface="Arial" pitchFamily="34" charset="0"/>
        <a:buChar char="•"/>
        <a:defRPr sz="1400" kern="1200">
          <a:solidFill>
            <a:schemeClr val="tx1"/>
          </a:solidFill>
          <a:latin typeface="+mn-lt"/>
          <a:ea typeface="+mn-ea"/>
          <a:cs typeface="+mn-cs"/>
        </a:defRPr>
      </a:lvl4pPr>
      <a:lvl5pPr marL="1554480" indent="-228600" algn="l" defTabSz="914400" rtl="0" eaLnBrk="1" latinLnBrk="0" hangingPunct="1">
        <a:lnSpc>
          <a:spcPct val="90000"/>
        </a:lnSpc>
        <a:spcBef>
          <a:spcPts val="800"/>
        </a:spcBef>
        <a:buSzPct val="80000"/>
        <a:buFont typeface="Arial" pitchFamily="34" charset="0"/>
        <a:buChar char="•"/>
        <a:defRPr sz="1400" kern="1200">
          <a:solidFill>
            <a:schemeClr val="tx1"/>
          </a:solidFill>
          <a:latin typeface="+mn-lt"/>
          <a:ea typeface="+mn-ea"/>
          <a:cs typeface="+mn-cs"/>
        </a:defRPr>
      </a:lvl5pPr>
      <a:lvl6pPr marL="1874520" indent="-228600" algn="l" defTabSz="914400" rtl="0" eaLnBrk="1" latinLnBrk="0" hangingPunct="1">
        <a:lnSpc>
          <a:spcPct val="90000"/>
        </a:lnSpc>
        <a:spcBef>
          <a:spcPts val="800"/>
        </a:spcBef>
        <a:buFont typeface="Arial" pitchFamily="34" charset="0"/>
        <a:buChar char="•"/>
        <a:defRPr sz="1400" kern="1200">
          <a:solidFill>
            <a:schemeClr val="tx1"/>
          </a:solidFill>
          <a:latin typeface="+mn-lt"/>
          <a:ea typeface="+mn-ea"/>
          <a:cs typeface="+mn-cs"/>
        </a:defRPr>
      </a:lvl6pPr>
      <a:lvl7pPr marL="2194560" indent="-228600" algn="l" defTabSz="914400" rtl="0" eaLnBrk="1" latinLnBrk="0" hangingPunct="1">
        <a:lnSpc>
          <a:spcPct val="90000"/>
        </a:lnSpc>
        <a:spcBef>
          <a:spcPts val="800"/>
        </a:spcBef>
        <a:buFont typeface="Arial" pitchFamily="34" charset="0"/>
        <a:buChar char="•"/>
        <a:defRPr sz="1400" kern="1200" baseline="0">
          <a:solidFill>
            <a:schemeClr val="tx1"/>
          </a:solidFill>
          <a:latin typeface="+mn-lt"/>
          <a:ea typeface="+mn-ea"/>
          <a:cs typeface="+mn-cs"/>
        </a:defRPr>
      </a:lvl7pPr>
      <a:lvl8pPr marL="2514600" indent="-228600" algn="l" defTabSz="914400" rtl="0" eaLnBrk="1" latinLnBrk="0" hangingPunct="1">
        <a:lnSpc>
          <a:spcPct val="90000"/>
        </a:lnSpc>
        <a:spcBef>
          <a:spcPts val="800"/>
        </a:spcBef>
        <a:buFont typeface="Arial" pitchFamily="34" charset="0"/>
        <a:buChar char="•"/>
        <a:defRPr sz="1400" kern="1200" baseline="0">
          <a:solidFill>
            <a:schemeClr val="tx1"/>
          </a:solidFill>
          <a:latin typeface="+mn-lt"/>
          <a:ea typeface="+mn-ea"/>
          <a:cs typeface="+mn-cs"/>
        </a:defRPr>
      </a:lvl8pPr>
      <a:lvl9pPr marL="2834640" indent="-228600" algn="l" defTabSz="914400" rtl="0" eaLnBrk="1" latinLnBrk="0" hangingPunct="1">
        <a:lnSpc>
          <a:spcPct val="90000"/>
        </a:lnSpc>
        <a:spcBef>
          <a:spcPts val="800"/>
        </a:spcBef>
        <a:buFont typeface="Arial" pitchFamily="34" charset="0"/>
        <a:buChar char="•"/>
        <a:defRPr sz="14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13.xml"/><Relationship Id="rId1" Type="http://schemas.openxmlformats.org/officeDocument/2006/relationships/vmlDrawing" Target="../drawings/vmlDrawing1.vml"/><Relationship Id="rId5" Type="http://schemas.openxmlformats.org/officeDocument/2006/relationships/image" Target="../media/image5.png"/><Relationship Id="rId4" Type="http://schemas.openxmlformats.org/officeDocument/2006/relationships/oleObject" Target="../embeddings/oleObject1.bin"/></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4.xml"/><Relationship Id="rId5" Type="http://schemas.openxmlformats.org/officeDocument/2006/relationships/image" Target="../media/image10.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8.xml"/></Relationships>
</file>

<file path=ppt/slides/_rels/slide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9.xml"/></Relationships>
</file>

<file path=ppt/slides/_rels/slide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0.xml"/></Relationships>
</file>

<file path=ppt/slides/_rels/slide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2.xml"/></Relationships>
</file>

<file path=ppt/slides/_rels/slide4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32.xml"/></Relationships>
</file>

<file path=ppt/slides/_rels/slide4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32.xml"/></Relationships>
</file>

<file path=ppt/slides/_rels/slide4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32.xml"/><Relationship Id="rId5" Type="http://schemas.openxmlformats.org/officeDocument/2006/relationships/image" Target="../media/image22.png"/><Relationship Id="rId4" Type="http://schemas.openxmlformats.org/officeDocument/2006/relationships/image" Target="../media/image21.png"/></Relationships>
</file>

<file path=ppt/slides/_rels/slide5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2.xml"/></Relationships>
</file>

<file path=ppt/slides/_rels/slide5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32.xml"/><Relationship Id="rId4" Type="http://schemas.openxmlformats.org/officeDocument/2006/relationships/image" Target="../media/image26.jpeg"/></Relationships>
</file>

<file path=ppt/slides/_rels/slide5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eg"/><Relationship Id="rId1" Type="http://schemas.openxmlformats.org/officeDocument/2006/relationships/slideLayout" Target="../slideLayouts/slideLayout32.xml"/></Relationships>
</file>

<file path=ppt/slides/_rels/slide5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rtlCol="0">
            <a:normAutofit/>
          </a:bodyPr>
          <a:lstStyle/>
          <a:p>
            <a:r>
              <a:rPr lang="ru-RU" dirty="0"/>
              <a:t>Компьютерные изображения</a:t>
            </a:r>
          </a:p>
        </p:txBody>
      </p:sp>
      <p:sp>
        <p:nvSpPr>
          <p:cNvPr id="3" name="Подзаголовок 2"/>
          <p:cNvSpPr>
            <a:spLocks noGrp="1"/>
          </p:cNvSpPr>
          <p:nvPr>
            <p:ph type="subTitle" idx="1"/>
          </p:nvPr>
        </p:nvSpPr>
        <p:spPr/>
        <p:txBody>
          <a:bodyPr rtlCol="0"/>
          <a:lstStyle/>
          <a:p>
            <a:pPr rtl="0"/>
            <a:r>
              <a:rPr lang="ru-RU" dirty="0" smtClean="0"/>
              <a:t>Лекция №02</a:t>
            </a:r>
          </a:p>
          <a:p>
            <a:r>
              <a:rPr lang="ru-RU" dirty="0"/>
              <a:t>Методы обработки и распознавания изображений</a:t>
            </a:r>
          </a:p>
        </p:txBody>
      </p:sp>
    </p:spTree>
    <p:extLst>
      <p:ext uri="{BB962C8B-B14F-4D97-AF65-F5344CB8AC3E}">
        <p14:creationId xmlns:p14="http://schemas.microsoft.com/office/powerpoint/2010/main" val="3250670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Заголовок 12"/>
          <p:cNvSpPr>
            <a:spLocks noGrp="1"/>
          </p:cNvSpPr>
          <p:nvPr>
            <p:ph type="title"/>
          </p:nvPr>
        </p:nvSpPr>
        <p:spPr/>
        <p:txBody>
          <a:bodyPr rtlCol="0">
            <a:normAutofit fontScale="90000"/>
          </a:bodyPr>
          <a:lstStyle/>
          <a:p>
            <a:r>
              <a:rPr lang="ru-RU" sz="3600" dirty="0" smtClean="0"/>
              <a:t>Добавим еще </a:t>
            </a:r>
            <a:r>
              <a:rPr lang="ru-RU" sz="3600" dirty="0"/>
              <a:t>определений</a:t>
            </a:r>
            <a:endParaRPr lang="ru-RU" dirty="0"/>
          </a:p>
        </p:txBody>
      </p:sp>
      <p:sp>
        <p:nvSpPr>
          <p:cNvPr id="14" name="Объект 13"/>
          <p:cNvSpPr>
            <a:spLocks noGrp="1"/>
          </p:cNvSpPr>
          <p:nvPr>
            <p:ph idx="1"/>
          </p:nvPr>
        </p:nvSpPr>
        <p:spPr>
          <a:xfrm>
            <a:off x="581114" y="1179320"/>
            <a:ext cx="5345233" cy="4850259"/>
          </a:xfrm>
        </p:spPr>
        <p:txBody>
          <a:bodyPr rtlCol="0"/>
          <a:lstStyle/>
          <a:p>
            <a:pPr marL="0"/>
            <a:r>
              <a:rPr lang="ru-RU" dirty="0"/>
              <a:t>Компьютерная графика (CG, КГ) — область применения компьютеров, в которой они используются как для синтеза изображений, так и для интеграции визуальной или объемной информации, полученной из реального мира</a:t>
            </a:r>
            <a:r>
              <a:rPr lang="ru-RU" dirty="0" smtClean="0"/>
              <a:t>.</a:t>
            </a:r>
          </a:p>
          <a:p>
            <a:pPr marL="0"/>
            <a:endParaRPr lang="ru-RU" dirty="0"/>
          </a:p>
          <a:p>
            <a:pPr marL="0"/>
            <a:endParaRPr lang="ru-RU" dirty="0"/>
          </a:p>
        </p:txBody>
      </p:sp>
      <p:sp>
        <p:nvSpPr>
          <p:cNvPr id="3" name="Номер слайда 2"/>
          <p:cNvSpPr>
            <a:spLocks noGrp="1"/>
          </p:cNvSpPr>
          <p:nvPr>
            <p:ph type="sldNum" sz="quarter" idx="12"/>
          </p:nvPr>
        </p:nvSpPr>
        <p:spPr/>
        <p:txBody>
          <a:bodyPr/>
          <a:lstStyle/>
          <a:p>
            <a:pPr rtl="0"/>
            <a:fld id="{CA8D9AD5-F248-4919-864A-CFD76CC027D6}" type="slidenum">
              <a:rPr lang="ru-RU" noProof="0" smtClean="0"/>
              <a:t>2</a:t>
            </a:fld>
            <a:endParaRPr lang="ru-RU" noProof="0" dirty="0"/>
          </a:p>
        </p:txBody>
      </p:sp>
      <p:pic>
        <p:nvPicPr>
          <p:cNvPr id="2" name="Рисунок 1"/>
          <p:cNvPicPr>
            <a:picLocks noChangeAspect="1"/>
          </p:cNvPicPr>
          <p:nvPr/>
        </p:nvPicPr>
        <p:blipFill>
          <a:blip r:embed="rId3"/>
          <a:stretch>
            <a:fillRect/>
          </a:stretch>
        </p:blipFill>
        <p:spPr>
          <a:xfrm>
            <a:off x="6351826" y="467360"/>
            <a:ext cx="5196355" cy="5568171"/>
          </a:xfrm>
          <a:prstGeom prst="rect">
            <a:avLst/>
          </a:prstGeom>
          <a:ln>
            <a:noFill/>
          </a:ln>
          <a:effectLst>
            <a:softEdge rad="112500"/>
          </a:effectLst>
        </p:spPr>
      </p:pic>
    </p:spTree>
    <p:extLst>
      <p:ext uri="{BB962C8B-B14F-4D97-AF65-F5344CB8AC3E}">
        <p14:creationId xmlns:p14="http://schemas.microsoft.com/office/powerpoint/2010/main" val="2771859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Изображение</a:t>
            </a:r>
          </a:p>
        </p:txBody>
      </p:sp>
      <p:sp>
        <p:nvSpPr>
          <p:cNvPr id="3" name="Текст 2"/>
          <p:cNvSpPr>
            <a:spLocks noGrp="1"/>
          </p:cNvSpPr>
          <p:nvPr>
            <p:ph type="body" idx="1"/>
          </p:nvPr>
        </p:nvSpPr>
        <p:spPr/>
        <p:txBody>
          <a:bodyPr/>
          <a:lstStyle/>
          <a:p>
            <a:endParaRPr lang="ru-RU"/>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3</a:t>
            </a:fld>
            <a:endParaRPr lang="ru-RU" noProof="0" dirty="0"/>
          </a:p>
        </p:txBody>
      </p:sp>
    </p:spTree>
    <p:extLst>
      <p:ext uri="{BB962C8B-B14F-4D97-AF65-F5344CB8AC3E}">
        <p14:creationId xmlns:p14="http://schemas.microsoft.com/office/powerpoint/2010/main" val="2519266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endParaRPr lang="ru-RU" dirty="0"/>
          </a:p>
        </p:txBody>
      </p:sp>
      <p:sp>
        <p:nvSpPr>
          <p:cNvPr id="3" name="Объект 2"/>
          <p:cNvSpPr>
            <a:spLocks noGrp="1"/>
          </p:cNvSpPr>
          <p:nvPr>
            <p:ph idx="1"/>
          </p:nvPr>
        </p:nvSpPr>
        <p:spPr/>
        <p:txBody>
          <a:bodyPr>
            <a:normAutofit/>
          </a:bodyPr>
          <a:lstStyle/>
          <a:p>
            <a:r>
              <a:rPr lang="ru-RU" dirty="0"/>
              <a:t>Изображение оптическое – картина, получаемая в результате прохождения через оптическую систему лучей, распространяющихся от объекта, и воспроизводящая его контуры и </a:t>
            </a:r>
            <a:r>
              <a:rPr lang="ru-RU" dirty="0" smtClean="0"/>
              <a:t>детали</a:t>
            </a:r>
            <a:r>
              <a:rPr lang="en-US" dirty="0"/>
              <a:t> </a:t>
            </a:r>
            <a:r>
              <a:rPr lang="en-US" dirty="0" smtClean="0"/>
              <a:t>(</a:t>
            </a:r>
            <a:r>
              <a:rPr lang="ru-RU" dirty="0" smtClean="0"/>
              <a:t>Физический </a:t>
            </a:r>
            <a:r>
              <a:rPr lang="ru-RU" dirty="0"/>
              <a:t>энциклопедический </a:t>
            </a:r>
            <a:r>
              <a:rPr lang="ru-RU" dirty="0" smtClean="0"/>
              <a:t>словарь</a:t>
            </a:r>
            <a:r>
              <a:rPr lang="en-US" dirty="0" smtClean="0"/>
              <a:t>)</a:t>
            </a:r>
            <a:r>
              <a:rPr lang="ru-RU" dirty="0" smtClean="0"/>
              <a:t>.</a:t>
            </a:r>
            <a:endParaRPr lang="ru-RU" dirty="0"/>
          </a:p>
          <a:p>
            <a:r>
              <a:rPr lang="ru-RU" dirty="0"/>
              <a:t>Компьютерное представление изображения:</a:t>
            </a:r>
          </a:p>
          <a:p>
            <a:r>
              <a:rPr lang="ru-RU" dirty="0"/>
              <a:t> Функция интенсивности (яркости) </a:t>
            </a:r>
            <a:r>
              <a:rPr lang="ru-RU" dirty="0" smtClean="0"/>
              <a:t>канала</a:t>
            </a:r>
            <a:endParaRPr lang="en-US" dirty="0" smtClean="0"/>
          </a:p>
          <a:p>
            <a:endParaRPr lang="ru-RU" dirty="0"/>
          </a:p>
          <a:p>
            <a:endParaRPr lang="ru-RU" dirty="0"/>
          </a:p>
          <a:p>
            <a:r>
              <a:rPr lang="ru-RU" dirty="0"/>
              <a:t> Используется дискретное представление</a:t>
            </a:r>
          </a:p>
          <a:p>
            <a:endParaRPr lang="ru-RU" dirty="0"/>
          </a:p>
        </p:txBody>
      </p:sp>
      <p:sp>
        <p:nvSpPr>
          <p:cNvPr id="5" name="Номер слайда 4"/>
          <p:cNvSpPr>
            <a:spLocks noGrp="1"/>
          </p:cNvSpPr>
          <p:nvPr>
            <p:ph type="sldNum" sz="quarter" idx="12"/>
          </p:nvPr>
        </p:nvSpPr>
        <p:spPr/>
        <p:txBody>
          <a:bodyPr/>
          <a:lstStyle/>
          <a:p>
            <a:pPr rtl="0"/>
            <a:fld id="{CA8D9AD5-F248-4919-864A-CFD76CC027D6}" type="slidenum">
              <a:rPr lang="ru-RU" noProof="0" smtClean="0"/>
              <a:t>4</a:t>
            </a:fld>
            <a:endParaRPr lang="ru-RU" noProof="0" dirty="0"/>
          </a:p>
        </p:txBody>
      </p:sp>
      <p:pic>
        <p:nvPicPr>
          <p:cNvPr id="6" name="Рисунок 5"/>
          <p:cNvPicPr>
            <a:picLocks noChangeAspect="1"/>
          </p:cNvPicPr>
          <p:nvPr/>
        </p:nvPicPr>
        <p:blipFill>
          <a:blip r:embed="rId2"/>
          <a:stretch>
            <a:fillRect/>
          </a:stretch>
        </p:blipFill>
        <p:spPr>
          <a:xfrm>
            <a:off x="1907949" y="3276497"/>
            <a:ext cx="3883152" cy="405384"/>
          </a:xfrm>
          <a:prstGeom prst="rect">
            <a:avLst/>
          </a:prstGeom>
        </p:spPr>
      </p:pic>
      <p:pic>
        <p:nvPicPr>
          <p:cNvPr id="7" name="Рисунок 6"/>
          <p:cNvPicPr>
            <a:picLocks noChangeAspect="1"/>
          </p:cNvPicPr>
          <p:nvPr/>
        </p:nvPicPr>
        <p:blipFill>
          <a:blip r:embed="rId3"/>
          <a:stretch>
            <a:fillRect/>
          </a:stretch>
        </p:blipFill>
        <p:spPr>
          <a:xfrm>
            <a:off x="2217087" y="4281944"/>
            <a:ext cx="2968752" cy="382524"/>
          </a:xfrm>
          <a:prstGeom prst="rect">
            <a:avLst/>
          </a:prstGeom>
        </p:spPr>
      </p:pic>
    </p:spTree>
    <p:extLst>
      <p:ext uri="{BB962C8B-B14F-4D97-AF65-F5344CB8AC3E}">
        <p14:creationId xmlns:p14="http://schemas.microsoft.com/office/powerpoint/2010/main" val="1634427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Пиксель как элемент изображения</a:t>
            </a:r>
            <a:endParaRPr lang="ru-RU" dirty="0"/>
          </a:p>
        </p:txBody>
      </p:sp>
      <p:sp>
        <p:nvSpPr>
          <p:cNvPr id="3" name="Объект 2"/>
          <p:cNvSpPr>
            <a:spLocks noGrp="1"/>
          </p:cNvSpPr>
          <p:nvPr>
            <p:ph idx="1"/>
          </p:nvPr>
        </p:nvSpPr>
        <p:spPr/>
        <p:txBody>
          <a:bodyPr>
            <a:normAutofit/>
          </a:bodyPr>
          <a:lstStyle/>
          <a:p>
            <a:r>
              <a:rPr lang="ru-RU" dirty="0" smtClean="0"/>
              <a:t>Пиксель </a:t>
            </a:r>
            <a:r>
              <a:rPr lang="ru-RU" dirty="0"/>
              <a:t>(от англ. </a:t>
            </a:r>
            <a:r>
              <a:rPr lang="ru-RU" i="1" dirty="0" err="1"/>
              <a:t>picture</a:t>
            </a:r>
            <a:r>
              <a:rPr lang="ru-RU" i="1" dirty="0"/>
              <a:t> </a:t>
            </a:r>
            <a:r>
              <a:rPr lang="ru-RU" i="1" dirty="0" err="1"/>
              <a:t>element</a:t>
            </a:r>
            <a:r>
              <a:rPr lang="ru-RU" dirty="0"/>
              <a:t>) представляет собой фундаментальную, неделимую единицу цифрового растрового изображения. В контексте компьютерной графики это минимальный логический элемент двумерной сетки, а в аппаратном смысле — физический </a:t>
            </a:r>
            <a:r>
              <a:rPr lang="ru-RU" dirty="0" err="1"/>
              <a:t>субэлемент</a:t>
            </a:r>
            <a:r>
              <a:rPr lang="ru-RU" dirty="0"/>
              <a:t> матрицы дисплея или светочувствительный сенсор (</a:t>
            </a:r>
            <a:r>
              <a:rPr lang="ru-RU" i="1" dirty="0" err="1"/>
              <a:t>сенсель</a:t>
            </a:r>
            <a:r>
              <a:rPr lang="ru-RU" dirty="0"/>
              <a:t>) камеры. Геометрически пиксель чаще всего описывается как прямоугольник, хотя в некоторых технологиях (например, плазменных панелях) форма может варьироваться. </a:t>
            </a:r>
          </a:p>
          <a:p>
            <a:endParaRPr lang="ru-RU" dirty="0"/>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5</a:t>
            </a:fld>
            <a:endParaRPr lang="ru-RU" noProof="0" dirty="0"/>
          </a:p>
        </p:txBody>
      </p:sp>
    </p:spTree>
    <p:extLst>
      <p:ext uri="{BB962C8B-B14F-4D97-AF65-F5344CB8AC3E}">
        <p14:creationId xmlns:p14="http://schemas.microsoft.com/office/powerpoint/2010/main" val="1014111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Пиксель как элемент изображения</a:t>
            </a:r>
            <a:endParaRPr lang="ru-RU" dirty="0"/>
          </a:p>
        </p:txBody>
      </p:sp>
      <p:sp>
        <p:nvSpPr>
          <p:cNvPr id="3" name="Объект 2"/>
          <p:cNvSpPr>
            <a:spLocks noGrp="1"/>
          </p:cNvSpPr>
          <p:nvPr>
            <p:ph idx="1"/>
          </p:nvPr>
        </p:nvSpPr>
        <p:spPr/>
        <p:txBody>
          <a:bodyPr>
            <a:normAutofit fontScale="92500"/>
          </a:bodyPr>
          <a:lstStyle/>
          <a:p>
            <a:r>
              <a:rPr lang="ru-RU" dirty="0"/>
              <a:t>Каждый пиксель характеризуется двумя независимыми наборами параметров: пространственными координатами и значением интенсивности. Координаты определяют его уникальное положение в массиве данных (обычно декартова сетка с началом в левом верхнем углу), где адрес задается парой целых чисел </a:t>
            </a:r>
            <a:r>
              <a:rPr lang="ru-RU" dirty="0" smtClean="0"/>
              <a:t>(</a:t>
            </a:r>
            <a:r>
              <a:rPr lang="ru-RU" dirty="0"/>
              <a:t>x, </a:t>
            </a:r>
            <a:r>
              <a:rPr lang="ru-RU" dirty="0" smtClean="0"/>
              <a:t>y). Значение</a:t>
            </a:r>
            <a:r>
              <a:rPr lang="en-US" dirty="0" smtClean="0"/>
              <a:t> </a:t>
            </a:r>
            <a:r>
              <a:rPr lang="ru-RU" dirty="0" smtClean="0"/>
              <a:t>интенсивности </a:t>
            </a:r>
            <a:r>
              <a:rPr lang="ru-RU" dirty="0"/>
              <a:t>же описывает состояние этого элемента. Важно понимать принцип однородности: внутри одного пикселя не существует более мелких деталей; он является атомарным квантом визуальной информации для данной системы координат. При достаточном уменьшении физического размера пикселей человеческий глаз перестает воспринимать дискретную структуру благодаря оптическому смешению цветов, видя плавные переходы. Однако при масштабировании растровых изображений возникает эффект ступенчатости (</a:t>
            </a:r>
            <a:r>
              <a:rPr lang="ru-RU" i="1" dirty="0" err="1"/>
              <a:t>aliasing</a:t>
            </a:r>
            <a:r>
              <a:rPr lang="ru-RU" dirty="0"/>
              <a:t>), который частично компенсируется алгоритмами сглаживания (</a:t>
            </a:r>
            <a:r>
              <a:rPr lang="ru-RU" i="1" dirty="0" err="1"/>
              <a:t>anti-aliasing</a:t>
            </a:r>
            <a:r>
              <a:rPr lang="ru-RU" dirty="0"/>
              <a:t>). Изображение в целом математически представляется как двумерный массив (матрица) таких элементов, что позволяет применять к нему методы линейной алгебры</a:t>
            </a:r>
            <a:r>
              <a:rPr lang="ru-RU" dirty="0" smtClean="0"/>
              <a:t>.</a:t>
            </a:r>
            <a:endParaRPr lang="ru-RU" dirty="0"/>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6</a:t>
            </a:fld>
            <a:endParaRPr lang="ru-RU" noProof="0" dirty="0"/>
          </a:p>
        </p:txBody>
      </p:sp>
    </p:spTree>
    <p:extLst>
      <p:ext uri="{BB962C8B-B14F-4D97-AF65-F5344CB8AC3E}">
        <p14:creationId xmlns:p14="http://schemas.microsoft.com/office/powerpoint/2010/main" val="1512067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Дискретизация изображения</a:t>
            </a:r>
            <a:endParaRPr lang="ru-RU" dirty="0"/>
          </a:p>
        </p:txBody>
      </p:sp>
      <p:sp>
        <p:nvSpPr>
          <p:cNvPr id="3" name="Объект 2"/>
          <p:cNvSpPr>
            <a:spLocks noGrp="1"/>
          </p:cNvSpPr>
          <p:nvPr>
            <p:ph idx="1"/>
          </p:nvPr>
        </p:nvSpPr>
        <p:spPr/>
        <p:txBody>
          <a:bodyPr>
            <a:normAutofit/>
          </a:bodyPr>
          <a:lstStyle/>
          <a:p>
            <a:r>
              <a:rPr lang="ru-RU" dirty="0" smtClean="0"/>
              <a:t>Процесс </a:t>
            </a:r>
            <a:r>
              <a:rPr lang="ru-RU" dirty="0"/>
              <a:t>превращения непрерывного аналогового мира в цифровую форму называется дискретизацией (или </a:t>
            </a:r>
            <a:r>
              <a:rPr lang="ru-RU" dirty="0" err="1"/>
              <a:t>семплированием</a:t>
            </a:r>
            <a:r>
              <a:rPr lang="ru-RU" dirty="0"/>
              <a:t>). Реальная сцена обладает бесконечным количеством точек и непрерывными градациями яркости. Чтобы компьютер мог ее обработать, пространство разбивается на регулярную сетку отсчетов. Сетка пикселей задает пространственное представление этой сцены, фиксируя информацию только в узлах решетки. </a:t>
            </a:r>
          </a:p>
          <a:p>
            <a:endParaRPr lang="ru-RU" dirty="0"/>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7</a:t>
            </a:fld>
            <a:endParaRPr lang="ru-RU" noProof="0" dirty="0"/>
          </a:p>
        </p:txBody>
      </p:sp>
    </p:spTree>
    <p:extLst>
      <p:ext uri="{BB962C8B-B14F-4D97-AF65-F5344CB8AC3E}">
        <p14:creationId xmlns:p14="http://schemas.microsoft.com/office/powerpoint/2010/main" val="2330862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Дискретизация изображения</a:t>
            </a:r>
            <a:endParaRPr lang="ru-RU" dirty="0"/>
          </a:p>
        </p:txBody>
      </p:sp>
      <p:sp>
        <p:nvSpPr>
          <p:cNvPr id="3" name="Объект 2"/>
          <p:cNvSpPr>
            <a:spLocks noGrp="1"/>
          </p:cNvSpPr>
          <p:nvPr>
            <p:ph idx="1"/>
          </p:nvPr>
        </p:nvSpPr>
        <p:spPr/>
        <p:txBody>
          <a:bodyPr>
            <a:normAutofit/>
          </a:bodyPr>
          <a:lstStyle/>
          <a:p>
            <a:r>
              <a:rPr lang="ru-RU" dirty="0"/>
              <a:t>Этот процесс неразрывно связан с теоремой Котельникова (Найквиста — Шеннона): чтобы избежать потери высокочастотных деталей (муара и ложных узоров), частота дискретизации должна быть как минимум в два раза выше максимальной частоты, присутствующей в исходном сигнале. Если шаг сетки слишком велик по отношению к деталям объекта, возникает </a:t>
            </a:r>
            <a:r>
              <a:rPr lang="ru-RU" dirty="0" err="1"/>
              <a:t>алиасинг</a:t>
            </a:r>
            <a:r>
              <a:rPr lang="ru-RU" dirty="0"/>
              <a:t> — искажение, при котором мелкие детали ошибочно интерпретируются как крупные низкочастотные структуры. Таким образом, качество захвата реальности напрямую зависит от плотности расположения узлов сетки. Дискретизация делает изображение уязвимым к артефактам квантования, но именно она обеспечивает возможность точного копирования без деградации сигнала, так как информация теперь представлена конечным набором чисел</a:t>
            </a:r>
            <a:r>
              <a:rPr lang="ru-RU" dirty="0" smtClean="0"/>
              <a:t>.</a:t>
            </a:r>
            <a:endParaRPr lang="ru-RU" dirty="0"/>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8</a:t>
            </a:fld>
            <a:endParaRPr lang="ru-RU" noProof="0" dirty="0"/>
          </a:p>
        </p:txBody>
      </p:sp>
    </p:spTree>
    <p:extLst>
      <p:ext uri="{BB962C8B-B14F-4D97-AF65-F5344CB8AC3E}">
        <p14:creationId xmlns:p14="http://schemas.microsoft.com/office/powerpoint/2010/main" val="3382680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Каналы изображения</a:t>
            </a:r>
            <a:endParaRPr lang="ru-RU" dirty="0"/>
          </a:p>
        </p:txBody>
      </p:sp>
      <p:sp>
        <p:nvSpPr>
          <p:cNvPr id="3" name="Объект 2"/>
          <p:cNvSpPr>
            <a:spLocks noGrp="1"/>
          </p:cNvSpPr>
          <p:nvPr>
            <p:ph idx="1"/>
          </p:nvPr>
        </p:nvSpPr>
        <p:spPr/>
        <p:txBody>
          <a:bodyPr>
            <a:normAutofit/>
          </a:bodyPr>
          <a:lstStyle/>
          <a:p>
            <a:r>
              <a:rPr lang="ru-RU" dirty="0" smtClean="0"/>
              <a:t>Цветовое </a:t>
            </a:r>
            <a:r>
              <a:rPr lang="ru-RU" dirty="0"/>
              <a:t>значение пикселя редко хранится как единое целое; оно разлагается на компоненты, называемые каналами. В простейшем случае полутонового (</a:t>
            </a:r>
            <a:r>
              <a:rPr lang="ru-RU" i="1" dirty="0" err="1"/>
              <a:t>grayscale</a:t>
            </a:r>
            <a:r>
              <a:rPr lang="ru-RU" dirty="0"/>
              <a:t>) изображения используется один канал, хранящий относительную яркость точки — от черного до белого. Для полноцветных изображений доминирует аддитивная модель RGB (</a:t>
            </a:r>
            <a:r>
              <a:rPr lang="ru-RU" i="1" dirty="0" err="1"/>
              <a:t>Red</a:t>
            </a:r>
            <a:r>
              <a:rPr lang="ru-RU" dirty="0"/>
              <a:t>, </a:t>
            </a:r>
            <a:r>
              <a:rPr lang="ru-RU" i="1" dirty="0" err="1"/>
              <a:t>Green</a:t>
            </a:r>
            <a:r>
              <a:rPr lang="ru-RU" dirty="0"/>
              <a:t>, </a:t>
            </a:r>
            <a:r>
              <a:rPr lang="ru-RU" i="1" dirty="0" err="1"/>
              <a:t>Blue</a:t>
            </a:r>
            <a:r>
              <a:rPr lang="ru-RU" dirty="0"/>
              <a:t>), где цвет синтезируется сложением трех базовых компонент света. Каждая из них образует отдельный слой-канала, и итоговый цвет пикселя вычисляется путем наложения этих слоев. </a:t>
            </a:r>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9</a:t>
            </a:fld>
            <a:endParaRPr lang="ru-RU" noProof="0" dirty="0"/>
          </a:p>
        </p:txBody>
      </p:sp>
    </p:spTree>
    <p:extLst>
      <p:ext uri="{BB962C8B-B14F-4D97-AF65-F5344CB8AC3E}">
        <p14:creationId xmlns:p14="http://schemas.microsoft.com/office/powerpoint/2010/main" val="1014152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Каналы изображения</a:t>
            </a:r>
            <a:endParaRPr lang="ru-RU" dirty="0"/>
          </a:p>
        </p:txBody>
      </p:sp>
      <p:sp>
        <p:nvSpPr>
          <p:cNvPr id="3" name="Объект 2"/>
          <p:cNvSpPr>
            <a:spLocks noGrp="1"/>
          </p:cNvSpPr>
          <p:nvPr>
            <p:ph idx="1"/>
          </p:nvPr>
        </p:nvSpPr>
        <p:spPr/>
        <p:txBody>
          <a:bodyPr>
            <a:normAutofit/>
          </a:bodyPr>
          <a:lstStyle/>
          <a:p>
            <a:r>
              <a:rPr lang="ru-RU" dirty="0"/>
              <a:t>Помимо цветовых каналов, широко применяется альфа-канал (</a:t>
            </a:r>
            <a:r>
              <a:rPr lang="ru-RU" dirty="0" smtClean="0"/>
              <a:t>α). </a:t>
            </a:r>
            <a:r>
              <a:rPr lang="ru-RU" dirty="0"/>
              <a:t>Он не несет информации о цвете, а определяет степень прозрачности пикселя. Значение </a:t>
            </a:r>
            <a:r>
              <a:rPr lang="ru-RU" dirty="0" smtClean="0"/>
              <a:t>α=0 </a:t>
            </a:r>
            <a:r>
              <a:rPr lang="ru-RU" dirty="0"/>
              <a:t>означает полную прозрачность, а </a:t>
            </a:r>
            <a:r>
              <a:rPr lang="ru-RU" dirty="0" smtClean="0"/>
              <a:t>α=1 </a:t>
            </a:r>
            <a:r>
              <a:rPr lang="ru-RU" dirty="0"/>
              <a:t>(или 255 в </a:t>
            </a:r>
            <a:r>
              <a:rPr lang="ru-RU" dirty="0" err="1"/>
              <a:t>восьмибитном</a:t>
            </a:r>
            <a:r>
              <a:rPr lang="ru-RU" dirty="0"/>
              <a:t> представлении) — полную непрозрачность. Наличие альфа-канала критически важно для </a:t>
            </a:r>
            <a:r>
              <a:rPr lang="ru-RU" dirty="0" err="1"/>
              <a:t>композитинга</a:t>
            </a:r>
            <a:r>
              <a:rPr lang="ru-RU" dirty="0"/>
              <a:t> — процесса наложения нескольких изображений друг на друга, создания теней, бликов и эффектов полупрозрачности в пользовательских интерфейсах и видеомонтаже. Существуют и другие модели, например CMYK для печати (субтрактивная модель) или HSV/HSL, удобные для интуитивной настройки цвета человеком.</a:t>
            </a:r>
          </a:p>
          <a:p>
            <a:endParaRPr lang="ru-RU" dirty="0"/>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10</a:t>
            </a:fld>
            <a:endParaRPr lang="ru-RU" noProof="0" dirty="0"/>
          </a:p>
        </p:txBody>
      </p:sp>
    </p:spTree>
    <p:extLst>
      <p:ext uri="{BB962C8B-B14F-4D97-AF65-F5344CB8AC3E}">
        <p14:creationId xmlns:p14="http://schemas.microsoft.com/office/powerpoint/2010/main" val="794599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Полутоновое и цветное </a:t>
            </a:r>
            <a:r>
              <a:rPr lang="ru-RU" b="1" dirty="0" smtClean="0"/>
              <a:t>изображение</a:t>
            </a:r>
            <a:endParaRPr lang="ru-RU" dirty="0"/>
          </a:p>
        </p:txBody>
      </p:sp>
      <p:sp>
        <p:nvSpPr>
          <p:cNvPr id="3" name="Объект 2"/>
          <p:cNvSpPr>
            <a:spLocks noGrp="1"/>
          </p:cNvSpPr>
          <p:nvPr>
            <p:ph idx="1"/>
          </p:nvPr>
        </p:nvSpPr>
        <p:spPr/>
        <p:txBody>
          <a:bodyPr>
            <a:normAutofit/>
          </a:bodyPr>
          <a:lstStyle/>
          <a:p>
            <a:r>
              <a:rPr lang="ru-RU" dirty="0" smtClean="0"/>
              <a:t>Сравнение </a:t>
            </a:r>
            <a:r>
              <a:rPr lang="ru-RU" dirty="0"/>
              <a:t>структуры данных одного кадра в монохромном и цветном вариантах наглядно демонстрирует разницу в информационной емкости. Полутоновое изображение глубины 8 бит представляет собой плоскую матрицу размером </a:t>
            </a:r>
            <a:r>
              <a:rPr lang="ru-RU" dirty="0" smtClean="0"/>
              <a:t>W×H, </a:t>
            </a:r>
            <a:r>
              <a:rPr lang="ru-RU" dirty="0"/>
              <a:t>где каждая ячейка содержит одно </a:t>
            </a:r>
            <a:r>
              <a:rPr lang="ru-RU" dirty="0" err="1"/>
              <a:t>беззнаковое</a:t>
            </a:r>
            <a:r>
              <a:rPr lang="ru-RU" dirty="0"/>
              <a:t> целое число от 0 до 255. Объем памяти минимален, алгоритмы обработки работают максимально быстро, так как оперируют одним числом на пиксель</a:t>
            </a:r>
            <a:r>
              <a:rPr lang="ru-RU" dirty="0" smtClean="0"/>
              <a:t>.</a:t>
            </a:r>
            <a:endParaRPr lang="ru-RU" dirty="0"/>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11</a:t>
            </a:fld>
            <a:endParaRPr lang="ru-RU" noProof="0" dirty="0"/>
          </a:p>
        </p:txBody>
      </p:sp>
    </p:spTree>
    <p:extLst>
      <p:ext uri="{BB962C8B-B14F-4D97-AF65-F5344CB8AC3E}">
        <p14:creationId xmlns:p14="http://schemas.microsoft.com/office/powerpoint/2010/main" val="621168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Полутоновое и цветное </a:t>
            </a:r>
            <a:r>
              <a:rPr lang="ru-RU" b="1" dirty="0" smtClean="0"/>
              <a:t>изображение</a:t>
            </a:r>
            <a:endParaRPr lang="ru-RU" dirty="0"/>
          </a:p>
        </p:txBody>
      </p:sp>
      <p:sp>
        <p:nvSpPr>
          <p:cNvPr id="3" name="Объект 2"/>
          <p:cNvSpPr>
            <a:spLocks noGrp="1"/>
          </p:cNvSpPr>
          <p:nvPr>
            <p:ph idx="1"/>
          </p:nvPr>
        </p:nvSpPr>
        <p:spPr/>
        <p:txBody>
          <a:bodyPr>
            <a:normAutofit/>
          </a:bodyPr>
          <a:lstStyle/>
          <a:p>
            <a:r>
              <a:rPr lang="ru-RU" dirty="0"/>
              <a:t>Цветное изображение той же геометрии в модели RGB той же глубины превращается в трехмерный массив данных </a:t>
            </a:r>
            <a:r>
              <a:rPr lang="ru-RU" dirty="0" smtClean="0"/>
              <a:t>W×H×3. </a:t>
            </a:r>
            <a:r>
              <a:rPr lang="ru-RU" dirty="0"/>
              <a:t>Вместо одного значения точка описывается кортежем </a:t>
            </a:r>
            <a:r>
              <a:rPr lang="ru-RU" dirty="0" smtClean="0"/>
              <a:t>(</a:t>
            </a:r>
            <a:r>
              <a:rPr lang="ru-RU" dirty="0"/>
              <a:t>R, G, </a:t>
            </a:r>
            <a:r>
              <a:rPr lang="ru-RU" dirty="0" smtClean="0"/>
              <a:t>B). </a:t>
            </a:r>
            <a:r>
              <a:rPr lang="ru-RU" dirty="0"/>
              <a:t>Структурно это можно представить либо как три параллельные матрицы (по одной на канал), упакованные последовательно в файл, либо как плоский массив, где тройки значений чередуются. Это влечет за собой утроение объема занимаемой памяти и вычислительной сложности фильтров. Например, применение гауссова размытия к цветному изображению требует выполнения свертки трижды (для каждого канала), если не используются оптимизированные векторные инструкции процессора.</a:t>
            </a:r>
          </a:p>
          <a:p>
            <a:endParaRPr lang="ru-RU" dirty="0"/>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12</a:t>
            </a:fld>
            <a:endParaRPr lang="ru-RU" noProof="0" dirty="0"/>
          </a:p>
        </p:txBody>
      </p:sp>
    </p:spTree>
    <p:extLst>
      <p:ext uri="{BB962C8B-B14F-4D97-AF65-F5344CB8AC3E}">
        <p14:creationId xmlns:p14="http://schemas.microsoft.com/office/powerpoint/2010/main" val="198785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Глубина </a:t>
            </a:r>
            <a:r>
              <a:rPr lang="ru-RU" b="1" dirty="0" smtClean="0"/>
              <a:t>цвета</a:t>
            </a:r>
            <a:endParaRPr lang="ru-RU" dirty="0"/>
          </a:p>
        </p:txBody>
      </p:sp>
      <p:sp>
        <p:nvSpPr>
          <p:cNvPr id="3" name="Объект 2"/>
          <p:cNvSpPr>
            <a:spLocks noGrp="1"/>
          </p:cNvSpPr>
          <p:nvPr>
            <p:ph idx="1"/>
          </p:nvPr>
        </p:nvSpPr>
        <p:spPr/>
        <p:txBody>
          <a:bodyPr>
            <a:normAutofit fontScale="85000" lnSpcReduction="10000"/>
          </a:bodyPr>
          <a:lstStyle/>
          <a:p>
            <a:r>
              <a:rPr lang="ru-RU" dirty="0" smtClean="0"/>
              <a:t>Глубина </a:t>
            </a:r>
            <a:r>
              <a:rPr lang="ru-RU" dirty="0"/>
              <a:t>цвета (разрядность) определяет количество бит, выделяемых на хранение значения одного канала. Эта величина экспоненциально ограничивает диапазон допустимых уровней. Формула количества состояний проста: </a:t>
            </a:r>
            <a:r>
              <a:rPr lang="ru-RU" dirty="0" smtClean="0"/>
              <a:t>N=2</a:t>
            </a:r>
            <a:r>
              <a:rPr lang="ru-RU" baseline="30000" dirty="0" smtClean="0"/>
              <a:t>b</a:t>
            </a:r>
            <a:r>
              <a:rPr lang="ru-RU" dirty="0" smtClean="0"/>
              <a:t>, </a:t>
            </a:r>
            <a:r>
              <a:rPr lang="ru-RU" dirty="0"/>
              <a:t>где </a:t>
            </a:r>
            <a:r>
              <a:rPr lang="ru-RU" dirty="0" smtClean="0"/>
              <a:t>b </a:t>
            </a:r>
            <a:r>
              <a:rPr lang="ru-RU" dirty="0"/>
              <a:t>— глубина в битах. </a:t>
            </a:r>
          </a:p>
          <a:p>
            <a:pPr lvl="1"/>
            <a:r>
              <a:rPr lang="ru-RU" b="1" dirty="0"/>
              <a:t>1 бит:</a:t>
            </a:r>
            <a:r>
              <a:rPr lang="ru-RU" dirty="0"/>
              <a:t> бинарное изображение (черный/белый).</a:t>
            </a:r>
          </a:p>
          <a:p>
            <a:pPr lvl="1"/>
            <a:r>
              <a:rPr lang="ru-RU" b="1" dirty="0"/>
              <a:t>8 бит:</a:t>
            </a:r>
            <a:r>
              <a:rPr lang="ru-RU" dirty="0"/>
              <a:t> стандарт для веб-графики и мониторов (</a:t>
            </a:r>
            <a:r>
              <a:rPr lang="ru-RU" dirty="0" smtClean="0"/>
              <a:t>2</a:t>
            </a:r>
            <a:r>
              <a:rPr lang="ru-RU" baseline="30000" dirty="0" smtClean="0"/>
              <a:t>8</a:t>
            </a:r>
            <a:r>
              <a:rPr lang="ru-RU" dirty="0" smtClean="0"/>
              <a:t>=256 </a:t>
            </a:r>
            <a:r>
              <a:rPr lang="ru-RU" dirty="0"/>
              <a:t>уровней). Обеспечивает плавные градиенты для человеческого глаза.</a:t>
            </a:r>
          </a:p>
          <a:p>
            <a:pPr lvl="1"/>
            <a:r>
              <a:rPr lang="ru-RU" b="1" dirty="0"/>
              <a:t>10–12 бит:</a:t>
            </a:r>
            <a:r>
              <a:rPr lang="ru-RU" dirty="0"/>
              <a:t> профессиональный стандарт видеосъемки (RAW-форматы). Позволяет сохранять детали в глубоких тенях и ярких светах (</a:t>
            </a:r>
            <a:r>
              <a:rPr lang="ru-RU" i="1" dirty="0" err="1"/>
              <a:t>High</a:t>
            </a:r>
            <a:r>
              <a:rPr lang="ru-RU" i="1" dirty="0"/>
              <a:t> </a:t>
            </a:r>
            <a:r>
              <a:rPr lang="ru-RU" i="1" dirty="0" err="1"/>
              <a:t>Dynamic</a:t>
            </a:r>
            <a:r>
              <a:rPr lang="ru-RU" i="1" dirty="0"/>
              <a:t> </a:t>
            </a:r>
            <a:r>
              <a:rPr lang="ru-RU" i="1" dirty="0" err="1"/>
              <a:t>Range</a:t>
            </a:r>
            <a:r>
              <a:rPr lang="ru-RU" dirty="0"/>
              <a:t>).</a:t>
            </a:r>
          </a:p>
          <a:p>
            <a:pPr lvl="1"/>
            <a:r>
              <a:rPr lang="ru-RU" b="1" dirty="0"/>
              <a:t>16 бит (</a:t>
            </a:r>
            <a:r>
              <a:rPr lang="ru-RU" b="1" dirty="0" err="1"/>
              <a:t>Half</a:t>
            </a:r>
            <a:r>
              <a:rPr lang="ru-RU" b="1" dirty="0"/>
              <a:t> </a:t>
            </a:r>
            <a:r>
              <a:rPr lang="ru-RU" b="1" dirty="0" err="1"/>
              <a:t>Float</a:t>
            </a:r>
            <a:r>
              <a:rPr lang="ru-RU" b="1" dirty="0"/>
              <a:t> / </a:t>
            </a:r>
            <a:r>
              <a:rPr lang="ru-RU" b="1" dirty="0" err="1"/>
              <a:t>Integer</a:t>
            </a:r>
            <a:r>
              <a:rPr lang="ru-RU" b="1" dirty="0"/>
              <a:t>):</a:t>
            </a:r>
            <a:r>
              <a:rPr lang="ru-RU" dirty="0"/>
              <a:t> индустриальный стандарт для цифровой живописи и VFX. Предотвращает появление полосатых артефактов (</a:t>
            </a:r>
            <a:r>
              <a:rPr lang="ru-RU" i="1" dirty="0" err="1"/>
              <a:t>banding</a:t>
            </a:r>
            <a:r>
              <a:rPr lang="ru-RU" dirty="0"/>
              <a:t>) при интенсивной обработке и </a:t>
            </a:r>
            <a:r>
              <a:rPr lang="ru-RU" dirty="0" err="1"/>
              <a:t>цветокоррекции</a:t>
            </a:r>
            <a:r>
              <a:rPr lang="ru-RU" dirty="0"/>
              <a:t>.</a:t>
            </a:r>
          </a:p>
          <a:p>
            <a:pPr lvl="1"/>
            <a:r>
              <a:rPr lang="ru-RU" b="1" dirty="0"/>
              <a:t>32 бита (</a:t>
            </a:r>
            <a:r>
              <a:rPr lang="ru-RU" b="1" dirty="0" err="1"/>
              <a:t>Float</a:t>
            </a:r>
            <a:r>
              <a:rPr lang="ru-RU" b="1" dirty="0"/>
              <a:t>):</a:t>
            </a:r>
            <a:r>
              <a:rPr lang="ru-RU" dirty="0"/>
              <a:t> формат хранения физически корректного освещения (</a:t>
            </a:r>
            <a:r>
              <a:rPr lang="ru-RU" i="1" dirty="0"/>
              <a:t>HDRI</a:t>
            </a:r>
            <a:r>
              <a:rPr lang="ru-RU" dirty="0"/>
              <a:t>), где значения могут выходить за пределы диапазона </a:t>
            </a:r>
            <a:r>
              <a:rPr lang="ru-RU" dirty="0" smtClean="0"/>
              <a:t>[</a:t>
            </a:r>
            <a:r>
              <a:rPr lang="ru-RU" dirty="0"/>
              <a:t>0, </a:t>
            </a:r>
            <a:r>
              <a:rPr lang="ru-RU" dirty="0" smtClean="0"/>
              <a:t>1], </a:t>
            </a:r>
            <a:r>
              <a:rPr lang="ru-RU" dirty="0"/>
              <a:t>описывая реальную яркость солнца.</a:t>
            </a:r>
          </a:p>
          <a:p>
            <a:r>
              <a:rPr lang="ru-RU" dirty="0"/>
              <a:t>Недостаточная глубина приводит к </a:t>
            </a:r>
            <a:r>
              <a:rPr lang="ru-RU" dirty="0" err="1"/>
              <a:t>постеризации</a:t>
            </a:r>
            <a:r>
              <a:rPr lang="ru-RU" dirty="0"/>
              <a:t> — потере плавности тоновых переходов, когда вместо градиента зритель видит отчетливые границы между уровнями серого или цвета.</a:t>
            </a:r>
          </a:p>
          <a:p>
            <a:endParaRPr lang="ru-RU" dirty="0"/>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13</a:t>
            </a:fld>
            <a:endParaRPr lang="ru-RU" noProof="0" dirty="0"/>
          </a:p>
        </p:txBody>
      </p:sp>
    </p:spTree>
    <p:extLst>
      <p:ext uri="{BB962C8B-B14F-4D97-AF65-F5344CB8AC3E}">
        <p14:creationId xmlns:p14="http://schemas.microsoft.com/office/powerpoint/2010/main" val="3705060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Разрешение </a:t>
            </a:r>
            <a:r>
              <a:rPr lang="ru-RU" b="1" dirty="0" smtClean="0"/>
              <a:t>изображения</a:t>
            </a:r>
            <a:endParaRPr lang="ru-RU" dirty="0"/>
          </a:p>
        </p:txBody>
      </p:sp>
      <p:sp>
        <p:nvSpPr>
          <p:cNvPr id="3" name="Объект 2"/>
          <p:cNvSpPr>
            <a:spLocks noGrp="1"/>
          </p:cNvSpPr>
          <p:nvPr>
            <p:ph idx="1"/>
          </p:nvPr>
        </p:nvSpPr>
        <p:spPr/>
        <p:txBody>
          <a:bodyPr>
            <a:normAutofit fontScale="92500"/>
          </a:bodyPr>
          <a:lstStyle/>
          <a:p>
            <a:r>
              <a:rPr lang="ru-RU" dirty="0" smtClean="0"/>
              <a:t>Разрешение </a:t>
            </a:r>
            <a:r>
              <a:rPr lang="ru-RU" dirty="0"/>
              <a:t>часто путают с физическим размером, однако это самостоятельная характеристика плотности дискретизации. Оно выражается как произведение ширины на высоту в пикселях (например, </a:t>
            </a:r>
            <a:r>
              <a:rPr lang="ru-RU" dirty="0" smtClean="0"/>
              <a:t>3840×2160). </a:t>
            </a:r>
            <a:r>
              <a:rPr lang="ru-RU" dirty="0"/>
              <a:t>Больше пикселей на единицу площади действительно означают потенциально более высокую детализацию, позволяя передать более мелкие фактуры объектов. </a:t>
            </a:r>
          </a:p>
          <a:p>
            <a:r>
              <a:rPr lang="ru-RU" dirty="0"/>
              <a:t>Однако само по себе высокое разрешение не гарантирует качества. Существует также понятие разрешающей способности оптики и отсутствие фокуса: если объектив не способен спроецировать деталь размером меньше определенного порога, дополнительные пиксели сенсора будут лишь дублировать одну и ту же размытую информацию, создавая пустой объем данных. Кроме того, различают PPI (</a:t>
            </a:r>
            <a:r>
              <a:rPr lang="ru-RU" i="1" dirty="0" err="1"/>
              <a:t>pixels</a:t>
            </a:r>
            <a:r>
              <a:rPr lang="ru-RU" i="1" dirty="0"/>
              <a:t> </a:t>
            </a:r>
            <a:r>
              <a:rPr lang="ru-RU" i="1" dirty="0" err="1"/>
              <a:t>per</a:t>
            </a:r>
            <a:r>
              <a:rPr lang="ru-RU" i="1" dirty="0"/>
              <a:t> </a:t>
            </a:r>
            <a:r>
              <a:rPr lang="ru-RU" i="1" dirty="0" err="1"/>
              <a:t>inch</a:t>
            </a:r>
            <a:r>
              <a:rPr lang="ru-RU" dirty="0"/>
              <a:t>) экрана и DPI (</a:t>
            </a:r>
            <a:r>
              <a:rPr lang="ru-RU" i="1" dirty="0" err="1"/>
              <a:t>dots</a:t>
            </a:r>
            <a:r>
              <a:rPr lang="ru-RU" i="1" dirty="0"/>
              <a:t> </a:t>
            </a:r>
            <a:r>
              <a:rPr lang="ru-RU" i="1" dirty="0" err="1"/>
              <a:t>per</a:t>
            </a:r>
            <a:r>
              <a:rPr lang="ru-RU" i="1" dirty="0"/>
              <a:t> </a:t>
            </a:r>
            <a:r>
              <a:rPr lang="ru-RU" i="1" dirty="0" err="1"/>
              <a:t>inch</a:t>
            </a:r>
            <a:r>
              <a:rPr lang="ru-RU" dirty="0"/>
              <a:t>) принтера. Увеличение разрешения при неизменном физическом размере отображения заставляет операционную систему рисовать элементы интерфейса пропорционально мельче, что требует использования технологий масштабирования (</a:t>
            </a:r>
            <a:r>
              <a:rPr lang="ru-RU" i="1" dirty="0" err="1"/>
              <a:t>HiDPI</a:t>
            </a:r>
            <a:r>
              <a:rPr lang="ru-RU" dirty="0"/>
              <a:t>, </a:t>
            </a:r>
            <a:r>
              <a:rPr lang="ru-RU" dirty="0" err="1"/>
              <a:t>Retina</a:t>
            </a:r>
            <a:r>
              <a:rPr lang="ru-RU" dirty="0"/>
              <a:t>), чтобы текст оставался читаемым.</a:t>
            </a:r>
          </a:p>
          <a:p>
            <a:endParaRPr lang="ru-RU" dirty="0"/>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14</a:t>
            </a:fld>
            <a:endParaRPr lang="ru-RU" noProof="0" dirty="0"/>
          </a:p>
        </p:txBody>
      </p:sp>
    </p:spTree>
    <p:extLst>
      <p:ext uri="{BB962C8B-B14F-4D97-AF65-F5344CB8AC3E}">
        <p14:creationId xmlns:p14="http://schemas.microsoft.com/office/powerpoint/2010/main" val="3020008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Объём данных </a:t>
            </a:r>
            <a:r>
              <a:rPr lang="ru-RU" b="1" dirty="0" smtClean="0"/>
              <a:t>изображения</a:t>
            </a:r>
            <a:endParaRPr lang="ru-RU" dirty="0"/>
          </a:p>
        </p:txBody>
      </p:sp>
      <mc:AlternateContent xmlns:mc="http://schemas.openxmlformats.org/markup-compatibility/2006">
        <mc:Choice xmlns:a14="http://schemas.microsoft.com/office/drawing/2010/main" Requires="a14">
          <p:sp>
            <p:nvSpPr>
              <p:cNvPr id="3" name="Объект 2"/>
              <p:cNvSpPr>
                <a:spLocks noGrp="1"/>
              </p:cNvSpPr>
              <p:nvPr>
                <p:ph idx="1"/>
              </p:nvPr>
            </p:nvSpPr>
            <p:spPr/>
            <p:txBody>
              <a:bodyPr>
                <a:normAutofit lnSpcReduction="10000"/>
              </a:bodyPr>
              <a:lstStyle/>
              <a:p>
                <a:r>
                  <a:rPr lang="ru-RU" dirty="0" smtClean="0"/>
                  <a:t>Объем </a:t>
                </a:r>
                <a:r>
                  <a:rPr lang="ru-RU" dirty="0"/>
                  <a:t>файла несжатого изображения рассчитывается по </a:t>
                </a:r>
                <a:r>
                  <a:rPr lang="ru-RU" dirty="0" smtClean="0"/>
                  <a:t>формуле</a:t>
                </a:r>
                <a:r>
                  <a:rPr lang="ru-RU" dirty="0"/>
                  <a:t>: </a:t>
                </a:r>
                <a:r>
                  <a:rPr lang="ru-RU" dirty="0" smtClean="0"/>
                  <a:t>V=W×H×C×</a:t>
                </a:r>
                <a14:m>
                  <m:oMath xmlns:m="http://schemas.openxmlformats.org/officeDocument/2006/math">
                    <m:f>
                      <m:fPr>
                        <m:ctrlPr>
                          <a:rPr lang="ru-RU" i="1" smtClean="0">
                            <a:latin typeface="Cambria Math" panose="02040503050406030204" pitchFamily="18" charset="0"/>
                          </a:rPr>
                        </m:ctrlPr>
                      </m:fPr>
                      <m:num>
                        <m:r>
                          <a:rPr lang="en-US" b="0" i="1" smtClean="0">
                            <a:latin typeface="Cambria Math" panose="02040503050406030204" pitchFamily="18" charset="0"/>
                          </a:rPr>
                          <m:t>𝑏</m:t>
                        </m:r>
                      </m:num>
                      <m:den>
                        <m:r>
                          <a:rPr lang="en-US" b="0" i="1" smtClean="0">
                            <a:latin typeface="Cambria Math" panose="02040503050406030204" pitchFamily="18" charset="0"/>
                          </a:rPr>
                          <m:t>8</m:t>
                        </m:r>
                      </m:den>
                    </m:f>
                  </m:oMath>
                </a14:m>
                <a:r>
                  <a:rPr lang="ru-RU" dirty="0" smtClean="0"/>
                  <a:t> ​ </a:t>
                </a:r>
                <a:r>
                  <a:rPr lang="ru-RU" dirty="0"/>
                  <a:t>байт, где </a:t>
                </a:r>
                <a:r>
                  <a:rPr lang="ru-RU" dirty="0" smtClean="0"/>
                  <a:t>W </a:t>
                </a:r>
                <a:r>
                  <a:rPr lang="ru-RU" dirty="0"/>
                  <a:t>и </a:t>
                </a:r>
                <a:r>
                  <a:rPr lang="ru-RU" dirty="0" smtClean="0"/>
                  <a:t>H </a:t>
                </a:r>
                <a:r>
                  <a:rPr lang="ru-RU" dirty="0"/>
                  <a:t>— ширина и высота, </a:t>
                </a:r>
                <a:r>
                  <a:rPr lang="ru-RU" dirty="0" smtClean="0"/>
                  <a:t>C </a:t>
                </a:r>
                <a:r>
                  <a:rPr lang="ru-RU" dirty="0"/>
                  <a:t>— количество каналов, </a:t>
                </a:r>
                <a:r>
                  <a:rPr lang="ru-RU" dirty="0" smtClean="0"/>
                  <a:t>b </a:t>
                </a:r>
                <a:r>
                  <a:rPr lang="ru-RU" dirty="0"/>
                  <a:t>— глубина цвета на канал.</a:t>
                </a:r>
              </a:p>
              <a:p>
                <a:r>
                  <a:rPr lang="ru-RU" dirty="0"/>
                  <a:t>Например, фотография разрешением </a:t>
                </a:r>
                <a:r>
                  <a:rPr lang="ru-RU" dirty="0" smtClean="0"/>
                  <a:t>6000×4000</a:t>
                </a:r>
                <a:r>
                  <a:rPr lang="en-US" dirty="0" smtClean="0"/>
                  <a:t> </a:t>
                </a:r>
                <a:r>
                  <a:rPr lang="ru-RU" dirty="0" smtClean="0"/>
                  <a:t>пикселей </a:t>
                </a:r>
                <a:r>
                  <a:rPr lang="ru-RU" dirty="0"/>
                  <a:t>в RAW (14 бит на канал, 3 канала + 1 служебный): </a:t>
                </a:r>
                <a:r>
                  <a:rPr lang="ru-RU" dirty="0" smtClean="0"/>
                  <a:t>6000×4000×4×14</a:t>
                </a:r>
                <a:r>
                  <a:rPr lang="en-US" dirty="0" smtClean="0"/>
                  <a:t>/</a:t>
                </a:r>
                <a:r>
                  <a:rPr lang="ru-RU" dirty="0" smtClean="0"/>
                  <a:t>8</a:t>
                </a:r>
                <a:r>
                  <a:rPr lang="ru-RU" dirty="0"/>
                  <a:t>≈1686000 </a:t>
                </a:r>
                <a:r>
                  <a:rPr lang="ru-RU" dirty="0" smtClean="0"/>
                  <a:t>мегабайт</a:t>
                </a:r>
                <a:r>
                  <a:rPr lang="ru-RU" dirty="0"/>
                  <a:t>. Та же картинка в 8-битном TIFF займет около 96 МБ, а после сжатия современным кодеком HEIF — порядка 3–5 МБ. На практике объемы значительно меньше благодаря алгоритмам компрессии. Применяется сжатие без потерь (</a:t>
                </a:r>
                <a:r>
                  <a:rPr lang="ru-RU" i="1" dirty="0"/>
                  <a:t>PNG</a:t>
                </a:r>
                <a:r>
                  <a:rPr lang="ru-RU" dirty="0"/>
                  <a:t>, </a:t>
                </a:r>
                <a:r>
                  <a:rPr lang="ru-RU" i="1" dirty="0"/>
                  <a:t>TIFF LZW</a:t>
                </a:r>
                <a:r>
                  <a:rPr lang="ru-RU" dirty="0"/>
                  <a:t>), восстанавливающее каждый бит, и сжатие с потерями (</a:t>
                </a:r>
                <a:r>
                  <a:rPr lang="ru-RU" i="1" dirty="0"/>
                  <a:t>JPEG</a:t>
                </a:r>
                <a:r>
                  <a:rPr lang="ru-RU" dirty="0"/>
                  <a:t>, </a:t>
                </a:r>
                <a:r>
                  <a:rPr lang="ru-RU" i="1" dirty="0" err="1"/>
                  <a:t>WebP</a:t>
                </a:r>
                <a:r>
                  <a:rPr lang="ru-RU" dirty="0"/>
                  <a:t>), которое использует психофизиологические особенности зрения человека, отбрасывая визуально незначимые высокие частоты. Также стоит учитывать метаданные (</a:t>
                </a:r>
                <a:r>
                  <a:rPr lang="ru-RU" i="1" dirty="0"/>
                  <a:t>EXIF</a:t>
                </a:r>
                <a:r>
                  <a:rPr lang="ru-RU" dirty="0"/>
                  <a:t>), цветовые профили (</a:t>
                </a:r>
                <a:r>
                  <a:rPr lang="ru-RU" i="1" dirty="0"/>
                  <a:t>ICC</a:t>
                </a:r>
                <a:r>
                  <a:rPr lang="ru-RU" dirty="0"/>
                  <a:t>) и миниатюры, которые добавляют десятки килобайт к базовому объему.</a:t>
                </a:r>
              </a:p>
            </p:txBody>
          </p:sp>
        </mc:Choice>
        <mc:Fallback>
          <p:sp>
            <p:nvSpPr>
              <p:cNvPr id="3" name="Объект 2"/>
              <p:cNvSpPr>
                <a:spLocks noGrp="1" noRot="1" noChangeAspect="1" noMove="1" noResize="1" noEditPoints="1" noAdjustHandles="1" noChangeArrowheads="1" noChangeShapeType="1" noTextEdit="1"/>
              </p:cNvSpPr>
              <p:nvPr>
                <p:ph idx="1"/>
              </p:nvPr>
            </p:nvSpPr>
            <p:spPr>
              <a:blipFill>
                <a:blip r:embed="rId2"/>
                <a:stretch>
                  <a:fillRect l="-386" t="-126" r="-1378"/>
                </a:stretch>
              </a:blipFill>
            </p:spPr>
            <p:txBody>
              <a:bodyPr/>
              <a:lstStyle/>
              <a:p>
                <a:r>
                  <a:rPr lang="ru-RU">
                    <a:noFill/>
                  </a:rPr>
                  <a:t> </a:t>
                </a:r>
              </a:p>
            </p:txBody>
          </p:sp>
        </mc:Fallback>
      </mc:AlternateContent>
      <p:sp>
        <p:nvSpPr>
          <p:cNvPr id="4" name="Номер слайда 3"/>
          <p:cNvSpPr>
            <a:spLocks noGrp="1"/>
          </p:cNvSpPr>
          <p:nvPr>
            <p:ph type="sldNum" sz="quarter" idx="12"/>
          </p:nvPr>
        </p:nvSpPr>
        <p:spPr/>
        <p:txBody>
          <a:bodyPr/>
          <a:lstStyle/>
          <a:p>
            <a:pPr rtl="0"/>
            <a:fld id="{CA8D9AD5-F248-4919-864A-CFD76CC027D6}" type="slidenum">
              <a:rPr lang="ru-RU" noProof="0" smtClean="0"/>
              <a:t>15</a:t>
            </a:fld>
            <a:endParaRPr lang="ru-RU" noProof="0" dirty="0"/>
          </a:p>
        </p:txBody>
      </p:sp>
    </p:spTree>
    <p:extLst>
      <p:ext uri="{BB962C8B-B14F-4D97-AF65-F5344CB8AC3E}">
        <p14:creationId xmlns:p14="http://schemas.microsoft.com/office/powerpoint/2010/main" val="132865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ltLang="ru-RU" dirty="0"/>
              <a:t>Векторные и растровые изображения</a:t>
            </a:r>
            <a:endParaRPr lang="ru-RU" dirty="0"/>
          </a:p>
        </p:txBody>
      </p:sp>
      <p:sp>
        <p:nvSpPr>
          <p:cNvPr id="3" name="Текст 2"/>
          <p:cNvSpPr>
            <a:spLocks noGrp="1"/>
          </p:cNvSpPr>
          <p:nvPr>
            <p:ph type="body" idx="1"/>
          </p:nvPr>
        </p:nvSpPr>
        <p:spPr/>
        <p:txBody>
          <a:bodyPr/>
          <a:lstStyle/>
          <a:p>
            <a:endParaRPr lang="ru-RU"/>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16</a:t>
            </a:fld>
            <a:endParaRPr lang="ru-RU" noProof="0" dirty="0"/>
          </a:p>
        </p:txBody>
      </p:sp>
    </p:spTree>
    <p:extLst>
      <p:ext uri="{BB962C8B-B14F-4D97-AF65-F5344CB8AC3E}">
        <p14:creationId xmlns:p14="http://schemas.microsoft.com/office/powerpoint/2010/main" val="855315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41120" y="467360"/>
            <a:ext cx="9509760" cy="533304"/>
          </a:xfrm>
        </p:spPr>
        <p:txBody>
          <a:bodyPr>
            <a:normAutofit fontScale="90000"/>
          </a:bodyPr>
          <a:lstStyle/>
          <a:p>
            <a:r>
              <a:rPr lang="ru-RU" altLang="ru-RU" dirty="0" smtClean="0"/>
              <a:t>Векторные и растровые изображения</a:t>
            </a:r>
            <a:endParaRPr lang="ru-RU" altLang="ru-RU" dirty="0">
              <a:latin typeface="Tahoma" panose="020B0604030504040204" pitchFamily="34" charset="0"/>
            </a:endParaRPr>
          </a:p>
        </p:txBody>
      </p:sp>
      <p:sp>
        <p:nvSpPr>
          <p:cNvPr id="4" name="Объект 3"/>
          <p:cNvSpPr>
            <a:spLocks noGrp="1"/>
          </p:cNvSpPr>
          <p:nvPr>
            <p:ph idx="1"/>
          </p:nvPr>
        </p:nvSpPr>
        <p:spPr>
          <a:xfrm>
            <a:off x="432000" y="1114188"/>
            <a:ext cx="11328000" cy="5102283"/>
          </a:xfrm>
        </p:spPr>
        <p:txBody>
          <a:bodyPr/>
          <a:lstStyle/>
          <a:p>
            <a:pPr marL="0" indent="0">
              <a:buNone/>
            </a:pPr>
            <a:r>
              <a:rPr lang="ru-RU" sz="2700" dirty="0"/>
              <a:t>Евклид: «Линия – непрерывное связное бесконечное множество точек на плоскости»</a:t>
            </a:r>
          </a:p>
          <a:p>
            <a:pPr marL="0" indent="0">
              <a:buNone/>
            </a:pPr>
            <a:r>
              <a:rPr lang="ru-RU" sz="2700" dirty="0"/>
              <a:t>Дискретная геометрия: «Линия – дискретное связное конечное множество точек»</a:t>
            </a:r>
          </a:p>
          <a:p>
            <a:pPr marL="0" indent="0">
              <a:buNone/>
            </a:pPr>
            <a:r>
              <a:rPr lang="ru-RU" sz="2700" dirty="0"/>
              <a:t>Евклидова геометрия: «Через любые две точки можно провести только одну прямую»</a:t>
            </a:r>
          </a:p>
          <a:p>
            <a:pPr marL="0" indent="0">
              <a:buNone/>
            </a:pPr>
            <a:r>
              <a:rPr lang="ru-RU" sz="2700" dirty="0"/>
              <a:t>Дискретная геометрия: «Через любые две дискретные точки можно провести более одной дискретной прямой»</a:t>
            </a:r>
          </a:p>
          <a:p>
            <a:pPr marL="0" indent="0">
              <a:buNone/>
            </a:pPr>
            <a:r>
              <a:rPr lang="ru-RU" sz="2700" dirty="0" smtClean="0"/>
              <a:t>Пиксель </a:t>
            </a:r>
            <a:r>
              <a:rPr lang="ru-RU" sz="2700" dirty="0"/>
              <a:t>– минимальная часть цифрового изображения (</a:t>
            </a:r>
            <a:r>
              <a:rPr lang="ru-RU" sz="2700" dirty="0" err="1"/>
              <a:t>picture</a:t>
            </a:r>
            <a:r>
              <a:rPr lang="ru-RU" sz="2700" dirty="0"/>
              <a:t> </a:t>
            </a:r>
            <a:r>
              <a:rPr lang="ru-RU" sz="2700" dirty="0" err="1"/>
              <a:t>cell</a:t>
            </a:r>
            <a:r>
              <a:rPr lang="ru-RU" sz="2700" dirty="0"/>
              <a:t> или </a:t>
            </a:r>
            <a:r>
              <a:rPr lang="ru-RU" sz="2700" dirty="0" err="1"/>
              <a:t>picture</a:t>
            </a:r>
            <a:r>
              <a:rPr lang="ru-RU" sz="2700" dirty="0"/>
              <a:t> </a:t>
            </a:r>
            <a:r>
              <a:rPr lang="ru-RU" sz="2700" dirty="0" err="1"/>
              <a:t>element</a:t>
            </a:r>
            <a:r>
              <a:rPr lang="ru-RU" sz="2700" dirty="0"/>
              <a:t>), характеризуется цветом или яркостью.</a:t>
            </a:r>
          </a:p>
          <a:p>
            <a:pPr marL="0" indent="0">
              <a:buNone/>
            </a:pPr>
            <a:endParaRPr lang="ru-RU" sz="2700"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17</a:t>
            </a:fld>
            <a:endParaRPr lang="ru-RU" noProof="0" dirty="0"/>
          </a:p>
        </p:txBody>
      </p:sp>
    </p:spTree>
    <p:extLst>
      <p:ext uri="{BB962C8B-B14F-4D97-AF65-F5344CB8AC3E}">
        <p14:creationId xmlns:p14="http://schemas.microsoft.com/office/powerpoint/2010/main" val="15890389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41120" y="467360"/>
            <a:ext cx="9509760" cy="545407"/>
          </a:xfrm>
        </p:spPr>
        <p:txBody>
          <a:bodyPr>
            <a:normAutofit fontScale="90000"/>
          </a:bodyPr>
          <a:lstStyle/>
          <a:p>
            <a:r>
              <a:rPr lang="ru-RU" altLang="ru-RU" dirty="0" smtClean="0"/>
              <a:t>Векторные и растровые изображения</a:t>
            </a:r>
            <a:endParaRPr lang="ru-RU" altLang="ru-RU" dirty="0">
              <a:latin typeface="Tahoma" panose="020B0604030504040204" pitchFamily="34" charset="0"/>
            </a:endParaRPr>
          </a:p>
        </p:txBody>
      </p:sp>
      <p:sp>
        <p:nvSpPr>
          <p:cNvPr id="4" name="Объект 3"/>
          <p:cNvSpPr>
            <a:spLocks noGrp="1"/>
          </p:cNvSpPr>
          <p:nvPr>
            <p:ph idx="1"/>
          </p:nvPr>
        </p:nvSpPr>
        <p:spPr>
          <a:xfrm>
            <a:off x="432000" y="1088967"/>
            <a:ext cx="11328000" cy="5102283"/>
          </a:xfrm>
        </p:spPr>
        <p:txBody>
          <a:bodyPr/>
          <a:lstStyle/>
          <a:p>
            <a:pPr marL="0" indent="0">
              <a:buNone/>
            </a:pPr>
            <a:r>
              <a:rPr lang="ru-RU" sz="2700" dirty="0" smtClean="0"/>
              <a:t>Изображения: растровые или векторные.</a:t>
            </a:r>
            <a:endParaRPr lang="ru-RU" sz="2700"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18</a:t>
            </a:fld>
            <a:endParaRPr lang="ru-RU" noProof="0" dirty="0"/>
          </a:p>
        </p:txBody>
      </p:sp>
      <p:sp>
        <p:nvSpPr>
          <p:cNvPr id="6" name="Rectangle 2"/>
          <p:cNvSpPr>
            <a:spLocks noChangeArrowheads="1"/>
          </p:cNvSpPr>
          <p:nvPr/>
        </p:nvSpPr>
        <p:spPr bwMode="auto">
          <a:xfrm>
            <a:off x="5915891" y="1891145"/>
            <a:ext cx="3810000" cy="2819400"/>
          </a:xfrm>
          <a:prstGeom prst="rect">
            <a:avLst/>
          </a:prstGeom>
          <a:solidFill>
            <a:schemeClr val="bg1">
              <a:alpha val="50195"/>
            </a:schemeClr>
          </a:solidFill>
          <a:ln w="19050">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ru-RU" altLang="ru-RU"/>
          </a:p>
        </p:txBody>
      </p:sp>
      <p:sp>
        <p:nvSpPr>
          <p:cNvPr id="7" name="Rectangle 3"/>
          <p:cNvSpPr>
            <a:spLocks noChangeArrowheads="1"/>
          </p:cNvSpPr>
          <p:nvPr/>
        </p:nvSpPr>
        <p:spPr bwMode="auto">
          <a:xfrm>
            <a:off x="1801091" y="1891145"/>
            <a:ext cx="3810000" cy="2819400"/>
          </a:xfrm>
          <a:prstGeom prst="rect">
            <a:avLst/>
          </a:prstGeom>
          <a:solidFill>
            <a:schemeClr val="bg1"/>
          </a:solidFill>
          <a:ln w="19050">
            <a:solidFill>
              <a:schemeClr val="tx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ru-RU" altLang="ru-RU"/>
          </a:p>
        </p:txBody>
      </p:sp>
      <p:sp>
        <p:nvSpPr>
          <p:cNvPr id="8" name="Line 10"/>
          <p:cNvSpPr>
            <a:spLocks noChangeShapeType="1"/>
          </p:cNvSpPr>
          <p:nvPr/>
        </p:nvSpPr>
        <p:spPr bwMode="auto">
          <a:xfrm>
            <a:off x="5763491" y="1662545"/>
            <a:ext cx="0" cy="3048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u-RU"/>
          </a:p>
        </p:txBody>
      </p:sp>
      <p:sp>
        <p:nvSpPr>
          <p:cNvPr id="9" name="Rectangle 12"/>
          <p:cNvSpPr>
            <a:spLocks noChangeArrowheads="1"/>
          </p:cNvSpPr>
          <p:nvPr/>
        </p:nvSpPr>
        <p:spPr bwMode="auto">
          <a:xfrm>
            <a:off x="8049491" y="2195945"/>
            <a:ext cx="1066800" cy="16002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ru-RU" altLang="ru-RU"/>
          </a:p>
        </p:txBody>
      </p:sp>
      <p:sp>
        <p:nvSpPr>
          <p:cNvPr id="10" name="Oval 13"/>
          <p:cNvSpPr>
            <a:spLocks noChangeArrowheads="1"/>
          </p:cNvSpPr>
          <p:nvPr/>
        </p:nvSpPr>
        <p:spPr bwMode="auto">
          <a:xfrm>
            <a:off x="7668491" y="2881745"/>
            <a:ext cx="1752600" cy="1752600"/>
          </a:xfrm>
          <a:prstGeom prst="ellipse">
            <a:avLst/>
          </a:prstGeom>
          <a:solidFill>
            <a:srgbClr val="FF0000"/>
          </a:solidFill>
          <a:ln w="9525">
            <a:solidFill>
              <a:schemeClr val="tx1"/>
            </a:solidFill>
            <a:round/>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ru-RU" altLang="ru-RU"/>
          </a:p>
        </p:txBody>
      </p:sp>
      <p:sp>
        <p:nvSpPr>
          <p:cNvPr id="11" name="Rectangle 14"/>
          <p:cNvSpPr>
            <a:spLocks noChangeArrowheads="1"/>
          </p:cNvSpPr>
          <p:nvPr/>
        </p:nvSpPr>
        <p:spPr bwMode="auto">
          <a:xfrm>
            <a:off x="8201891" y="3643745"/>
            <a:ext cx="762000" cy="533400"/>
          </a:xfrm>
          <a:prstGeom prst="rect">
            <a:avLst/>
          </a:prstGeom>
          <a:solidFill>
            <a:srgbClr val="008000"/>
          </a:solidFill>
          <a:ln w="9525">
            <a:solidFill>
              <a:srgbClr val="008000"/>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ru-RU" altLang="ru-RU"/>
          </a:p>
        </p:txBody>
      </p:sp>
      <p:pic>
        <p:nvPicPr>
          <p:cNvPr id="12" name="Picture 15" descr="E:\Compression_Cource\untitled.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7891" y="1967345"/>
            <a:ext cx="26670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3" name="Object 0"/>
          <p:cNvGraphicFramePr>
            <a:graphicFrameLocks noChangeAspect="1"/>
          </p:cNvGraphicFramePr>
          <p:nvPr>
            <p:extLst/>
          </p:nvPr>
        </p:nvGraphicFramePr>
        <p:xfrm>
          <a:off x="1877291" y="2272145"/>
          <a:ext cx="1435100" cy="1866900"/>
        </p:xfrm>
        <a:graphic>
          <a:graphicData uri="http://schemas.openxmlformats.org/presentationml/2006/ole">
            <mc:AlternateContent xmlns:mc="http://schemas.openxmlformats.org/markup-compatibility/2006">
              <mc:Choice xmlns:v="urn:schemas-microsoft-com:vml" Requires="v">
                <p:oleObj spid="_x0000_s1036" name="Image" r:id="rId4" imgW="1434415" imgH="1866667" progId="Photoshop.Image.7">
                  <p:embed/>
                </p:oleObj>
              </mc:Choice>
              <mc:Fallback>
                <p:oleObj name="Image" r:id="rId4" imgW="1434415" imgH="1866667" progId="Photoshop.Image.7">
                  <p:embed/>
                  <p:pic>
                    <p:nvPicPr>
                      <p:cNvPr id="13" name="Object 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7291" y="2272145"/>
                        <a:ext cx="1435100" cy="186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Text Box 11"/>
          <p:cNvSpPr txBox="1">
            <a:spLocks noChangeArrowheads="1"/>
          </p:cNvSpPr>
          <p:nvPr/>
        </p:nvSpPr>
        <p:spPr bwMode="auto">
          <a:xfrm>
            <a:off x="5839691" y="1418070"/>
            <a:ext cx="2057400" cy="329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ru-RU" altLang="ru-RU" sz="21000" dirty="0"/>
              <a:t>В</a:t>
            </a:r>
          </a:p>
        </p:txBody>
      </p:sp>
    </p:spTree>
    <p:extLst>
      <p:ext uri="{BB962C8B-B14F-4D97-AF65-F5344CB8AC3E}">
        <p14:creationId xmlns:p14="http://schemas.microsoft.com/office/powerpoint/2010/main" val="33302047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41120" y="467360"/>
            <a:ext cx="9509760" cy="515678"/>
          </a:xfrm>
        </p:spPr>
        <p:txBody>
          <a:bodyPr>
            <a:normAutofit fontScale="90000"/>
          </a:bodyPr>
          <a:lstStyle/>
          <a:p>
            <a:r>
              <a:rPr lang="ru-RU" altLang="ru-RU" dirty="0"/>
              <a:t>Связность	</a:t>
            </a:r>
            <a:endParaRPr lang="ru-RU" altLang="ru-RU" dirty="0">
              <a:latin typeface="Tahoma" panose="020B0604030504040204" pitchFamily="34" charset="0"/>
            </a:endParaRPr>
          </a:p>
        </p:txBody>
      </p:sp>
      <p:sp>
        <p:nvSpPr>
          <p:cNvPr id="4" name="Объект 3"/>
          <p:cNvSpPr>
            <a:spLocks noGrp="1"/>
          </p:cNvSpPr>
          <p:nvPr>
            <p:ph idx="1"/>
          </p:nvPr>
        </p:nvSpPr>
        <p:spPr>
          <a:xfrm>
            <a:off x="432000" y="1130884"/>
            <a:ext cx="11328000" cy="5102283"/>
          </a:xfrm>
        </p:spPr>
        <p:txBody>
          <a:bodyPr/>
          <a:lstStyle/>
          <a:p>
            <a:pPr marL="0" indent="0">
              <a:buNone/>
            </a:pPr>
            <a:r>
              <a:rPr lang="ru-RU" sz="2700" dirty="0"/>
              <a:t>Определение связной области:</a:t>
            </a:r>
          </a:p>
          <a:p>
            <a:pPr marL="0" indent="0">
              <a:buNone/>
            </a:pPr>
            <a:r>
              <a:rPr lang="ru-RU" sz="2700" dirty="0"/>
              <a:t>Множество пикселей, у каждого пикселя которого есть хотя бы один сосед, принадлежащий данному множеству.</a:t>
            </a:r>
          </a:p>
          <a:p>
            <a:pPr marL="0" indent="0">
              <a:buNone/>
            </a:pPr>
            <a:r>
              <a:rPr lang="ru-RU" sz="2700" dirty="0" smtClean="0"/>
              <a:t>Соседи </a:t>
            </a:r>
            <a:r>
              <a:rPr lang="ru-RU" sz="2700" dirty="0"/>
              <a:t>пикселей:</a:t>
            </a:r>
          </a:p>
          <a:p>
            <a:pPr marL="0" indent="0">
              <a:buNone/>
            </a:pPr>
            <a:endParaRPr lang="ru-RU" sz="2700"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19</a:t>
            </a:fld>
            <a:endParaRPr lang="ru-RU" noProof="0" dirty="0"/>
          </a:p>
        </p:txBody>
      </p:sp>
      <p:pic>
        <p:nvPicPr>
          <p:cNvPr id="6" name="Picture 5" descr="4connec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1611" y="3559579"/>
            <a:ext cx="1041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8connec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2811" y="3559579"/>
            <a:ext cx="1041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7"/>
          <p:cNvSpPr txBox="1">
            <a:spLocks noChangeArrowheads="1"/>
          </p:cNvSpPr>
          <p:nvPr/>
        </p:nvSpPr>
        <p:spPr bwMode="auto">
          <a:xfrm>
            <a:off x="2075411" y="4613679"/>
            <a:ext cx="12874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ru-RU" altLang="ru-RU" sz="1600">
                <a:latin typeface="Tahoma" panose="020B0604030504040204" pitchFamily="34" charset="0"/>
              </a:rPr>
              <a:t>4-связность</a:t>
            </a:r>
          </a:p>
        </p:txBody>
      </p:sp>
      <p:sp>
        <p:nvSpPr>
          <p:cNvPr id="9" name="Text Box 8"/>
          <p:cNvSpPr txBox="1">
            <a:spLocks noChangeArrowheads="1"/>
          </p:cNvSpPr>
          <p:nvPr/>
        </p:nvSpPr>
        <p:spPr bwMode="auto">
          <a:xfrm>
            <a:off x="4056611" y="4613679"/>
            <a:ext cx="12874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ru-RU" altLang="ru-RU" sz="1600">
                <a:latin typeface="Tahoma" panose="020B0604030504040204" pitchFamily="34" charset="0"/>
              </a:rPr>
              <a:t>8-связность</a:t>
            </a:r>
          </a:p>
        </p:txBody>
      </p:sp>
      <p:sp>
        <p:nvSpPr>
          <p:cNvPr id="10" name="Text Box 9"/>
          <p:cNvSpPr txBox="1">
            <a:spLocks noChangeArrowheads="1"/>
          </p:cNvSpPr>
          <p:nvPr/>
        </p:nvSpPr>
        <p:spPr bwMode="auto">
          <a:xfrm>
            <a:off x="6952211" y="4613679"/>
            <a:ext cx="12874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ru-RU" altLang="ru-RU" sz="1600">
                <a:latin typeface="Tahoma" panose="020B0604030504040204" pitchFamily="34" charset="0"/>
              </a:rPr>
              <a:t>6-связность</a:t>
            </a:r>
          </a:p>
        </p:txBody>
      </p:sp>
      <p:pic>
        <p:nvPicPr>
          <p:cNvPr id="11" name="Picture 10" descr="D:\Samal\Students\Курсы\Машинная графика\6-connected.bm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37811" y="3254779"/>
            <a:ext cx="1268413" cy="121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descr="D:\Samal\Students\Курсы\Машинная графика\6-connected-sq2.bmp"/>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41186" y="3197629"/>
            <a:ext cx="1673225"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53481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41120" y="467360"/>
            <a:ext cx="9509760" cy="541931"/>
          </a:xfrm>
        </p:spPr>
        <p:txBody>
          <a:bodyPr>
            <a:normAutofit fontScale="90000"/>
          </a:bodyPr>
          <a:lstStyle/>
          <a:p>
            <a:r>
              <a:rPr lang="ru-RU" altLang="ru-RU" dirty="0"/>
              <a:t>Типы изображений</a:t>
            </a:r>
            <a:endParaRPr lang="ru-RU" altLang="ru-RU" dirty="0">
              <a:latin typeface="Tahoma" panose="020B0604030504040204" pitchFamily="34" charset="0"/>
            </a:endParaRPr>
          </a:p>
        </p:txBody>
      </p:sp>
      <p:sp>
        <p:nvSpPr>
          <p:cNvPr id="4" name="Объект 3"/>
          <p:cNvSpPr>
            <a:spLocks noGrp="1"/>
          </p:cNvSpPr>
          <p:nvPr>
            <p:ph idx="1"/>
          </p:nvPr>
        </p:nvSpPr>
        <p:spPr>
          <a:xfrm>
            <a:off x="432000" y="1088967"/>
            <a:ext cx="11328000" cy="5102283"/>
          </a:xfrm>
        </p:spPr>
        <p:txBody>
          <a:bodyPr/>
          <a:lstStyle/>
          <a:p>
            <a:r>
              <a:rPr lang="ru-RU" sz="2700" dirty="0"/>
              <a:t>Векторные</a:t>
            </a:r>
          </a:p>
          <a:p>
            <a:r>
              <a:rPr lang="ru-RU" sz="2700" dirty="0"/>
              <a:t>Растровые</a:t>
            </a:r>
          </a:p>
          <a:p>
            <a:pPr lvl="1"/>
            <a:r>
              <a:rPr lang="ru-RU" sz="2500" dirty="0" err="1"/>
              <a:t>Палитровые</a:t>
            </a:r>
            <a:endParaRPr lang="ru-RU" sz="2500" dirty="0"/>
          </a:p>
          <a:p>
            <a:pPr lvl="1"/>
            <a:r>
              <a:rPr lang="ru-RU" sz="2500" dirty="0" err="1"/>
              <a:t>Безпалитровые</a:t>
            </a:r>
            <a:endParaRPr lang="ru-RU" sz="2500" dirty="0"/>
          </a:p>
          <a:p>
            <a:pPr lvl="2"/>
            <a:r>
              <a:rPr lang="ru-RU" sz="2300" dirty="0"/>
              <a:t>В системе </a:t>
            </a:r>
            <a:r>
              <a:rPr lang="ru-RU" sz="2300" dirty="0" err="1" smtClean="0"/>
              <a:t>цветопредставления</a:t>
            </a:r>
            <a:r>
              <a:rPr lang="ru-RU" sz="2300" dirty="0" smtClean="0"/>
              <a:t> RGB</a:t>
            </a:r>
            <a:r>
              <a:rPr lang="ru-RU" sz="2300" dirty="0"/>
              <a:t>, CMYK, …</a:t>
            </a:r>
          </a:p>
          <a:p>
            <a:pPr lvl="2"/>
            <a:r>
              <a:rPr lang="ru-RU" sz="2300" dirty="0"/>
              <a:t>В градациях серого</a:t>
            </a:r>
          </a:p>
          <a:p>
            <a:pPr marL="0" indent="0">
              <a:buNone/>
            </a:pPr>
            <a:endParaRPr lang="ru-RU" sz="2700"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20</a:t>
            </a:fld>
            <a:endParaRPr lang="ru-RU" noProof="0" dirty="0"/>
          </a:p>
        </p:txBody>
      </p:sp>
    </p:spTree>
    <p:extLst>
      <p:ext uri="{BB962C8B-B14F-4D97-AF65-F5344CB8AC3E}">
        <p14:creationId xmlns:p14="http://schemas.microsoft.com/office/powerpoint/2010/main" val="27163671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err="1"/>
              <a:t>Палитровые</a:t>
            </a:r>
            <a:r>
              <a:rPr lang="ru-RU" b="1" dirty="0"/>
              <a:t> и </a:t>
            </a:r>
            <a:r>
              <a:rPr lang="ru-RU" b="1" dirty="0" err="1"/>
              <a:t>беспалитровые</a:t>
            </a:r>
            <a:r>
              <a:rPr lang="ru-RU" b="1" dirty="0"/>
              <a:t> изображения</a:t>
            </a:r>
            <a:endParaRPr lang="ru-RU" dirty="0"/>
          </a:p>
        </p:txBody>
      </p:sp>
      <p:sp>
        <p:nvSpPr>
          <p:cNvPr id="3" name="Объект 2"/>
          <p:cNvSpPr>
            <a:spLocks noGrp="1"/>
          </p:cNvSpPr>
          <p:nvPr>
            <p:ph idx="1"/>
          </p:nvPr>
        </p:nvSpPr>
        <p:spPr/>
        <p:txBody>
          <a:bodyPr>
            <a:normAutofit fontScale="92500"/>
          </a:bodyPr>
          <a:lstStyle/>
          <a:p>
            <a:r>
              <a:rPr lang="ru-RU" dirty="0" smtClean="0"/>
              <a:t>Существует </a:t>
            </a:r>
            <a:r>
              <a:rPr lang="ru-RU" dirty="0"/>
              <a:t>два принципиально разных подхода к хранению цветовой информации. </a:t>
            </a:r>
            <a:r>
              <a:rPr lang="ru-RU" dirty="0" err="1"/>
              <a:t>Беспалитровые</a:t>
            </a:r>
            <a:r>
              <a:rPr lang="ru-RU" dirty="0"/>
              <a:t> (полноцветные, </a:t>
            </a:r>
            <a:r>
              <a:rPr lang="ru-RU" i="1" dirty="0" err="1"/>
              <a:t>Truecolor</a:t>
            </a:r>
            <a:r>
              <a:rPr lang="ru-RU" dirty="0"/>
              <a:t>) изображения хранят компоненты цвета непосредственно в каждом пикселе. Это прямой доступ к данным, обеспечивающий максимальное качество, но требующий больших ресурсов памяти.</a:t>
            </a:r>
          </a:p>
          <a:p>
            <a:r>
              <a:rPr lang="ru-RU" dirty="0" err="1"/>
              <a:t>Палитровые</a:t>
            </a:r>
            <a:r>
              <a:rPr lang="ru-RU" dirty="0"/>
              <a:t> (индексированные) изображения используют промежуточный уровень абстракции — таблицу соответствия (CLUT, </a:t>
            </a:r>
            <a:r>
              <a:rPr lang="ru-RU" dirty="0" err="1"/>
              <a:t>Color</a:t>
            </a:r>
            <a:r>
              <a:rPr lang="ru-RU" dirty="0"/>
              <a:t> </a:t>
            </a:r>
            <a:r>
              <a:rPr lang="ru-RU" dirty="0" err="1"/>
              <a:t>LookUp</a:t>
            </a:r>
            <a:r>
              <a:rPr lang="ru-RU" dirty="0"/>
              <a:t> </a:t>
            </a:r>
            <a:r>
              <a:rPr lang="ru-RU" dirty="0" err="1"/>
              <a:t>Table</a:t>
            </a:r>
            <a:r>
              <a:rPr lang="ru-RU" dirty="0"/>
              <a:t>). Сам массив пикселей имеет малую глубину (обычно 8 бит, то есть один байт на точку), и хранит он не цвет, а порядковый номер (индекс) в палитре. Сама палитра — это массив из 256 записей, где каждая запись уже является полноценным цветом (например, 24-битным RGB). Этот подход был исторически обусловлен дефицитом видеопамяти. Сегодня индексированные форматы применяются в веб-дизайне (</a:t>
            </a:r>
            <a:r>
              <a:rPr lang="ru-RU" i="1" dirty="0"/>
              <a:t>GIF</a:t>
            </a:r>
            <a:r>
              <a:rPr lang="ru-RU" dirty="0"/>
              <a:t>, </a:t>
            </a:r>
            <a:r>
              <a:rPr lang="ru-RU" i="1" dirty="0"/>
              <a:t>PNG-8</a:t>
            </a:r>
            <a:r>
              <a:rPr lang="ru-RU" dirty="0"/>
              <a:t>) для оптимизации веса файлов там, где не требуется фотореализм, а также в процедурной графике и ретро-играх. Главный недостаток — жесткое ограничение разнообразия: в одном кадре не может быть более 256 уникальных оттенков одновременно.</a:t>
            </a:r>
          </a:p>
          <a:p>
            <a:endParaRPr lang="ru-RU" dirty="0"/>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21</a:t>
            </a:fld>
            <a:endParaRPr lang="ru-RU" noProof="0" dirty="0"/>
          </a:p>
        </p:txBody>
      </p:sp>
    </p:spTree>
    <p:extLst>
      <p:ext uri="{BB962C8B-B14F-4D97-AF65-F5344CB8AC3E}">
        <p14:creationId xmlns:p14="http://schemas.microsoft.com/office/powerpoint/2010/main" val="6793820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ltLang="ru-RU" dirty="0"/>
              <a:t>Изображения в компьютере</a:t>
            </a:r>
            <a:endParaRPr lang="ru-RU" dirty="0"/>
          </a:p>
        </p:txBody>
      </p:sp>
      <p:sp>
        <p:nvSpPr>
          <p:cNvPr id="3" name="Текст 2"/>
          <p:cNvSpPr>
            <a:spLocks noGrp="1"/>
          </p:cNvSpPr>
          <p:nvPr>
            <p:ph type="body" idx="1"/>
          </p:nvPr>
        </p:nvSpPr>
        <p:spPr/>
        <p:txBody>
          <a:bodyPr/>
          <a:lstStyle/>
          <a:p>
            <a:endParaRPr lang="ru-RU"/>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22</a:t>
            </a:fld>
            <a:endParaRPr lang="ru-RU" noProof="0" dirty="0"/>
          </a:p>
        </p:txBody>
      </p:sp>
    </p:spTree>
    <p:extLst>
      <p:ext uri="{BB962C8B-B14F-4D97-AF65-F5344CB8AC3E}">
        <p14:creationId xmlns:p14="http://schemas.microsoft.com/office/powerpoint/2010/main" val="3456494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altLang="ru-RU" dirty="0"/>
              <a:t>История видеоадаптеров</a:t>
            </a:r>
            <a:endParaRPr lang="ru-RU" dirty="0"/>
          </a:p>
        </p:txBody>
      </p:sp>
      <p:sp>
        <p:nvSpPr>
          <p:cNvPr id="4" name="Объект 3"/>
          <p:cNvSpPr>
            <a:spLocks noGrp="1"/>
          </p:cNvSpPr>
          <p:nvPr>
            <p:ph idx="1"/>
          </p:nvPr>
        </p:nvSpPr>
        <p:spPr>
          <a:xfrm>
            <a:off x="432000" y="1088967"/>
            <a:ext cx="11328000" cy="5102283"/>
          </a:xfrm>
        </p:spPr>
        <p:txBody>
          <a:bodyPr>
            <a:normAutofit fontScale="92500" lnSpcReduction="10000"/>
          </a:bodyPr>
          <a:lstStyle/>
          <a:p>
            <a:pPr marL="0" indent="0">
              <a:buNone/>
            </a:pPr>
            <a:r>
              <a:rPr lang="ru-RU" sz="2700" dirty="0"/>
              <a:t>Видеоадаптер (или </a:t>
            </a:r>
            <a:r>
              <a:rPr lang="ru-RU" sz="2700" dirty="0" err="1"/>
              <a:t>видеоплата</a:t>
            </a:r>
            <a:r>
              <a:rPr lang="ru-RU" sz="2700" dirty="0"/>
              <a:t>, видеокарта)- устройство для преобразования полученной от центрального процессора информации и команд в формат, который воспринимается электроникой монитора, для создания изображения на экране.</a:t>
            </a:r>
          </a:p>
          <a:p>
            <a:pPr marL="0" indent="0">
              <a:buNone/>
            </a:pPr>
            <a:r>
              <a:rPr lang="ru-RU" sz="2700" dirty="0" smtClean="0"/>
              <a:t>MDA </a:t>
            </a:r>
            <a:r>
              <a:rPr lang="ru-RU" sz="2700" dirty="0"/>
              <a:t>(</a:t>
            </a:r>
            <a:r>
              <a:rPr lang="ru-RU" sz="2700" dirty="0" err="1"/>
              <a:t>Monochrome</a:t>
            </a:r>
            <a:r>
              <a:rPr lang="ru-RU" sz="2700" dirty="0"/>
              <a:t> </a:t>
            </a:r>
            <a:r>
              <a:rPr lang="ru-RU" sz="2700" dirty="0" err="1"/>
              <a:t>Display</a:t>
            </a:r>
            <a:r>
              <a:rPr lang="ru-RU" sz="2700" dirty="0"/>
              <a:t> </a:t>
            </a:r>
            <a:r>
              <a:rPr lang="ru-RU" sz="2700" dirty="0" err="1"/>
              <a:t>Adapter</a:t>
            </a:r>
            <a:r>
              <a:rPr lang="ru-RU" sz="2700" dirty="0"/>
              <a:t> - монохромный адаптер дисплея) - простейший видеоадаптер, применявшийся в первых IBM PC. Работает в текстовом режиме с разрешением 80x25 (720x350, матрица символа - 9x14), поддерживает пять атрибутов текста: обычный, яркий, инверсный, подчеркнутый и мигающий. Частота строчной развертки - 15 Кгц. Интерфейс с монитором - цифровой: сигналы синхронизации, основной видеосигнал, дополнительный сигнал яркости. </a:t>
            </a:r>
          </a:p>
          <a:p>
            <a:pPr marL="0" indent="0">
              <a:buNone/>
            </a:pPr>
            <a:r>
              <a:rPr lang="ru-RU" sz="2700" dirty="0"/>
              <a:t>HGC (</a:t>
            </a:r>
            <a:r>
              <a:rPr lang="ru-RU" sz="2700" dirty="0" err="1"/>
              <a:t>Hercules</a:t>
            </a:r>
            <a:r>
              <a:rPr lang="ru-RU" sz="2700" dirty="0"/>
              <a:t> </a:t>
            </a:r>
            <a:r>
              <a:rPr lang="ru-RU" sz="2700" dirty="0" err="1"/>
              <a:t>Graphics</a:t>
            </a:r>
            <a:r>
              <a:rPr lang="ru-RU" sz="2700" dirty="0"/>
              <a:t> </a:t>
            </a:r>
            <a:r>
              <a:rPr lang="ru-RU" sz="2700" dirty="0" err="1"/>
              <a:t>Card</a:t>
            </a:r>
            <a:r>
              <a:rPr lang="ru-RU" sz="2700" dirty="0"/>
              <a:t> - графическая карта </a:t>
            </a:r>
            <a:r>
              <a:rPr lang="ru-RU" sz="2700" dirty="0" err="1"/>
              <a:t>Hercules</a:t>
            </a:r>
            <a:r>
              <a:rPr lang="ru-RU" sz="2700" dirty="0"/>
              <a:t>) - расширение MDA с графическим режимом 720x348 (монохромный), разработанное фирмой </a:t>
            </a:r>
            <a:r>
              <a:rPr lang="ru-RU" sz="2700" dirty="0" err="1"/>
              <a:t>Hercules</a:t>
            </a:r>
            <a:r>
              <a:rPr lang="ru-RU" sz="2700" dirty="0"/>
              <a:t>. </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23</a:t>
            </a:fld>
            <a:endParaRPr lang="ru-RU" noProof="0" dirty="0"/>
          </a:p>
        </p:txBody>
      </p:sp>
    </p:spTree>
    <p:extLst>
      <p:ext uri="{BB962C8B-B14F-4D97-AF65-F5344CB8AC3E}">
        <p14:creationId xmlns:p14="http://schemas.microsoft.com/office/powerpoint/2010/main" val="17766870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altLang="ru-RU" dirty="0"/>
              <a:t>История видеоадаптеров</a:t>
            </a:r>
            <a:endParaRPr lang="ru-RU" dirty="0"/>
          </a:p>
        </p:txBody>
      </p:sp>
      <p:sp>
        <p:nvSpPr>
          <p:cNvPr id="4" name="Объект 3"/>
          <p:cNvSpPr>
            <a:spLocks noGrp="1"/>
          </p:cNvSpPr>
          <p:nvPr>
            <p:ph idx="1"/>
          </p:nvPr>
        </p:nvSpPr>
        <p:spPr>
          <a:xfrm>
            <a:off x="432000" y="1088967"/>
            <a:ext cx="11328000" cy="5102283"/>
          </a:xfrm>
        </p:spPr>
        <p:txBody>
          <a:bodyPr/>
          <a:lstStyle/>
          <a:p>
            <a:pPr marL="0" indent="0">
              <a:buNone/>
            </a:pPr>
            <a:r>
              <a:rPr lang="ru-RU" sz="2700" dirty="0"/>
              <a:t>CGA (</a:t>
            </a:r>
            <a:r>
              <a:rPr lang="ru-RU" sz="2700" dirty="0" err="1"/>
              <a:t>Color</a:t>
            </a:r>
            <a:r>
              <a:rPr lang="ru-RU" sz="2700" dirty="0"/>
              <a:t> </a:t>
            </a:r>
            <a:r>
              <a:rPr lang="ru-RU" sz="2700" dirty="0" err="1"/>
              <a:t>Graphics</a:t>
            </a:r>
            <a:r>
              <a:rPr lang="ru-RU" sz="2700" dirty="0"/>
              <a:t> </a:t>
            </a:r>
            <a:r>
              <a:rPr lang="ru-RU" sz="2700" dirty="0" err="1"/>
              <a:t>Adapter</a:t>
            </a:r>
            <a:r>
              <a:rPr lang="ru-RU" sz="2700" dirty="0"/>
              <a:t> - цветной графический адаптер) - первый адаптер с графическими возможностями. Работает либо в текстовом режиме с разрешениями 40x25 и 80x25 (матрица символа - 8x8), либо в графическом с разрешениями 320x200 или 640x200. В текстовых режимах доступно 256 атрибутов символа - 16 цветов символа и 16 цветов фона (либо 8 цветов фона и атрибут мигания), в графических режимах доступно четыре палитры по четыре цвета каждая в режиме 320x200, режим 640x200 - монохромный. Вывод информации на экран требовал синхронизации с разверткой, в противном случае возникали конфликты по видеопамяти, проявляющиеся в виде "снега" на экране. Частота строчной развертки - 15 Кгц. Интерфейс с монитором - цифровой: сигналы синхронизации, основной видеосигнал (три канала - красный, зеленый, синий), дополнительный сигнал яркости. </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24</a:t>
            </a:fld>
            <a:endParaRPr lang="ru-RU" noProof="0" dirty="0"/>
          </a:p>
        </p:txBody>
      </p:sp>
    </p:spTree>
    <p:extLst>
      <p:ext uri="{BB962C8B-B14F-4D97-AF65-F5344CB8AC3E}">
        <p14:creationId xmlns:p14="http://schemas.microsoft.com/office/powerpoint/2010/main" val="14199731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altLang="ru-RU" dirty="0"/>
              <a:t>История видеоадаптеров</a:t>
            </a:r>
            <a:endParaRPr lang="ru-RU" dirty="0"/>
          </a:p>
        </p:txBody>
      </p:sp>
      <p:sp>
        <p:nvSpPr>
          <p:cNvPr id="4" name="Объект 3"/>
          <p:cNvSpPr>
            <a:spLocks noGrp="1"/>
          </p:cNvSpPr>
          <p:nvPr>
            <p:ph idx="1"/>
          </p:nvPr>
        </p:nvSpPr>
        <p:spPr>
          <a:xfrm>
            <a:off x="432000" y="1088967"/>
            <a:ext cx="11328000" cy="5102283"/>
          </a:xfrm>
        </p:spPr>
        <p:txBody>
          <a:bodyPr>
            <a:normAutofit lnSpcReduction="10000"/>
          </a:bodyPr>
          <a:lstStyle/>
          <a:p>
            <a:pPr marL="0" indent="0">
              <a:buNone/>
            </a:pPr>
            <a:r>
              <a:rPr lang="ru-RU" sz="2700" dirty="0"/>
              <a:t>EGA (</a:t>
            </a:r>
            <a:r>
              <a:rPr lang="ru-RU" sz="2700" dirty="0" err="1"/>
              <a:t>Enhanced</a:t>
            </a:r>
            <a:r>
              <a:rPr lang="ru-RU" sz="2700" dirty="0"/>
              <a:t> </a:t>
            </a:r>
            <a:r>
              <a:rPr lang="ru-RU" sz="2700" dirty="0" err="1"/>
              <a:t>Graphics</a:t>
            </a:r>
            <a:r>
              <a:rPr lang="ru-RU" sz="2700" dirty="0"/>
              <a:t> </a:t>
            </a:r>
            <a:r>
              <a:rPr lang="ru-RU" sz="2700" dirty="0" err="1"/>
              <a:t>Adapter</a:t>
            </a:r>
            <a:r>
              <a:rPr lang="ru-RU" sz="2700" dirty="0"/>
              <a:t> - улучшенный графический адаптер) - дальнейшее развитие CGA, примененное в первых PC AT. Добавлено разрешение 640x350, что в текстовых режимах дает формат 80x25 при матрице символа 8x14 и 80x43 - при матрице 8x8. Количество одновременно отображаемых цветов - по-прежнему 16, однако палитра расширена до 64 цветов (по два разряда яркости на каждый цвет). Введен промежуточный буфер для передаваемого на монитор потока данных, благодаря чему отпала необходимость в синхронизации при выводе в текстовых режимах. Видеопамять основана на битовых плоскостях - "слоях", каждый из которых в графическом режиме содержит биты только своего цвета, а в текстовых режимах по плоскостям разделяются собственно текст и данные знакогенератора. Совместим с MDA и CGA. Частоты строчной развертки - 15 и 18 Кгц. Интерфейс с монитором - цифровой: сигналы синхронизации, видеосигнал (по две линии на каждый из основных цветов</a:t>
            </a:r>
            <a:r>
              <a:rPr lang="ru-RU" sz="2700" dirty="0" smtClean="0"/>
              <a:t>).</a:t>
            </a:r>
            <a:endParaRPr lang="ru-RU" sz="2700"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25</a:t>
            </a:fld>
            <a:endParaRPr lang="ru-RU" noProof="0" dirty="0"/>
          </a:p>
        </p:txBody>
      </p:sp>
    </p:spTree>
    <p:extLst>
      <p:ext uri="{BB962C8B-B14F-4D97-AF65-F5344CB8AC3E}">
        <p14:creationId xmlns:p14="http://schemas.microsoft.com/office/powerpoint/2010/main" val="19050818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41120" y="467360"/>
            <a:ext cx="9509760" cy="481546"/>
          </a:xfrm>
        </p:spPr>
        <p:txBody>
          <a:bodyPr>
            <a:normAutofit fontScale="90000"/>
          </a:bodyPr>
          <a:lstStyle/>
          <a:p>
            <a:r>
              <a:rPr lang="ru-RU" altLang="ru-RU" dirty="0"/>
              <a:t>История видеоадаптеров</a:t>
            </a:r>
            <a:endParaRPr lang="ru-RU" dirty="0"/>
          </a:p>
        </p:txBody>
      </p:sp>
      <p:sp>
        <p:nvSpPr>
          <p:cNvPr id="4" name="Объект 3"/>
          <p:cNvSpPr>
            <a:spLocks noGrp="1"/>
          </p:cNvSpPr>
          <p:nvPr>
            <p:ph idx="1"/>
          </p:nvPr>
        </p:nvSpPr>
        <p:spPr>
          <a:xfrm>
            <a:off x="432000" y="1132099"/>
            <a:ext cx="11328000" cy="5102283"/>
          </a:xfrm>
        </p:spPr>
        <p:txBody>
          <a:bodyPr>
            <a:normAutofit lnSpcReduction="10000"/>
          </a:bodyPr>
          <a:lstStyle/>
          <a:p>
            <a:pPr marL="0" indent="0">
              <a:buNone/>
            </a:pPr>
            <a:r>
              <a:rPr lang="ru-RU" sz="2700" dirty="0"/>
              <a:t>MCGA (</a:t>
            </a:r>
            <a:r>
              <a:rPr lang="ru-RU" sz="2700" dirty="0" err="1"/>
              <a:t>Multicolor</a:t>
            </a:r>
            <a:r>
              <a:rPr lang="ru-RU" sz="2700" dirty="0"/>
              <a:t> </a:t>
            </a:r>
            <a:r>
              <a:rPr lang="ru-RU" sz="2700" dirty="0" err="1"/>
              <a:t>Graphics</a:t>
            </a:r>
            <a:r>
              <a:rPr lang="ru-RU" sz="2700" dirty="0"/>
              <a:t> </a:t>
            </a:r>
            <a:r>
              <a:rPr lang="ru-RU" sz="2700" dirty="0" err="1"/>
              <a:t>Adapter</a:t>
            </a:r>
            <a:r>
              <a:rPr lang="ru-RU" sz="2700" dirty="0"/>
              <a:t> - многоцветный графический адаптер) - введен фирмой IBM в ранних моделях PS/2. Добавлено разрешение 640x400 (текст), что дает формат 80x25 при символе 8x16 и 80x50 - при 8x8. Количество воспроизводимых цветов увеличено до 262144 (по 64 уровня на каждый из основных цветов). Помимо палитры, введено понятие таблицы цветов, через которую выполняется преобразование 64-цветного пространства цветов EGA в пространство цветов MCGA. Введен видеорежим 320x200x256, в котором вместо битовых плоскостей используется представление экрана непрерывной областью памяти объемом 64000 байт, где каждый байт описывает цвет соответствующей ему точки экрана. Совместим с CGA полностью, а с EGA - по текстовым, за исключением размера матрицы символа. Частота строчной развертки - 31 Кгц. Интерфейс с монитором - аналогово-</a:t>
            </a:r>
            <a:r>
              <a:rPr lang="ru-RU" sz="2700" dirty="0" err="1"/>
              <a:t>цифpовой</a:t>
            </a:r>
            <a:r>
              <a:rPr lang="ru-RU" sz="2700" dirty="0"/>
              <a:t>: цифровые сигналы синхронизации, аналоговые сигналы основных цветов. </a:t>
            </a:r>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26</a:t>
            </a:fld>
            <a:endParaRPr lang="ru-RU" noProof="0" dirty="0"/>
          </a:p>
        </p:txBody>
      </p:sp>
    </p:spTree>
    <p:extLst>
      <p:ext uri="{BB962C8B-B14F-4D97-AF65-F5344CB8AC3E}">
        <p14:creationId xmlns:p14="http://schemas.microsoft.com/office/powerpoint/2010/main" val="38705544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41120" y="467360"/>
            <a:ext cx="9509760" cy="533304"/>
          </a:xfrm>
        </p:spPr>
        <p:txBody>
          <a:bodyPr>
            <a:normAutofit fontScale="90000"/>
          </a:bodyPr>
          <a:lstStyle/>
          <a:p>
            <a:r>
              <a:rPr lang="ru-RU" altLang="ru-RU" dirty="0"/>
              <a:t>История видеоадаптеров</a:t>
            </a:r>
            <a:endParaRPr lang="ru-RU" dirty="0"/>
          </a:p>
        </p:txBody>
      </p:sp>
      <p:sp>
        <p:nvSpPr>
          <p:cNvPr id="4" name="Объект 3"/>
          <p:cNvSpPr>
            <a:spLocks noGrp="1"/>
          </p:cNvSpPr>
          <p:nvPr>
            <p:ph idx="1"/>
          </p:nvPr>
        </p:nvSpPr>
        <p:spPr>
          <a:xfrm>
            <a:off x="432000" y="1183857"/>
            <a:ext cx="11328000" cy="5102283"/>
          </a:xfrm>
        </p:spPr>
        <p:txBody>
          <a:bodyPr>
            <a:normAutofit lnSpcReduction="10000"/>
          </a:bodyPr>
          <a:lstStyle/>
          <a:p>
            <a:pPr marL="0" indent="0">
              <a:buNone/>
            </a:pPr>
            <a:r>
              <a:rPr lang="ru-RU" sz="2700" dirty="0"/>
              <a:t>VGA (</a:t>
            </a:r>
            <a:r>
              <a:rPr lang="ru-RU" sz="2700" dirty="0" err="1"/>
              <a:t>Video</a:t>
            </a:r>
            <a:r>
              <a:rPr lang="ru-RU" sz="2700" dirty="0"/>
              <a:t> </a:t>
            </a:r>
            <a:r>
              <a:rPr lang="ru-RU" sz="2700" dirty="0" err="1"/>
              <a:t>Graphics</a:t>
            </a:r>
            <a:r>
              <a:rPr lang="ru-RU" sz="2700" dirty="0"/>
              <a:t> </a:t>
            </a:r>
            <a:r>
              <a:rPr lang="ru-RU" sz="2700" dirty="0" err="1"/>
              <a:t>Array</a:t>
            </a:r>
            <a:r>
              <a:rPr lang="ru-RU" sz="2700" dirty="0"/>
              <a:t> - множество, или массив, визуальной графики) - расширение MCGA, совместимое с EGA, введен фирмой IBM в средних моделях PS/2. Фактический стандарт видеоадаптера с конца 80-х годов. Добавлен текстовый режим 720x400 для эмуляции MDA и графический режим 640x480 с доступом через битовые плоскости. В режиме 640x480 используется так называемая квадратная точка (соотношение количества точек по горизонтали и вертикали совпадает со стандартным соотношением сторон экрана - 4:3). Совместим с MDA, CGA и EGA, интерфейс с монитором идентичен MCGA. </a:t>
            </a:r>
          </a:p>
          <a:p>
            <a:pPr marL="0" indent="0">
              <a:buNone/>
            </a:pPr>
            <a:r>
              <a:rPr lang="ru-RU" sz="2700" dirty="0" smtClean="0"/>
              <a:t>IBM </a:t>
            </a:r>
            <a:r>
              <a:rPr lang="ru-RU" sz="2700" dirty="0"/>
              <a:t>8514/а - специализированный адаптер для работы с высокими разрешениями (640x480x256 и 1024x768x256), с элементами графического ускорителя. Не поддерживает видеорежимы VGA. интерфейс с монитором аналогичен VGA/MCGA. </a:t>
            </a:r>
          </a:p>
          <a:p>
            <a:pPr marL="0" indent="0">
              <a:buNone/>
            </a:pPr>
            <a:endParaRPr lang="ru-RU" sz="2700"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27</a:t>
            </a:fld>
            <a:endParaRPr lang="ru-RU" noProof="0" dirty="0"/>
          </a:p>
        </p:txBody>
      </p:sp>
    </p:spTree>
    <p:extLst>
      <p:ext uri="{BB962C8B-B14F-4D97-AF65-F5344CB8AC3E}">
        <p14:creationId xmlns:p14="http://schemas.microsoft.com/office/powerpoint/2010/main" val="10901928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ltLang="ru-RU" dirty="0"/>
              <a:t>История видеоадаптеров</a:t>
            </a:r>
            <a:endParaRPr lang="ru-RU" dirty="0"/>
          </a:p>
        </p:txBody>
      </p:sp>
      <p:sp>
        <p:nvSpPr>
          <p:cNvPr id="4" name="Объект 3"/>
          <p:cNvSpPr>
            <a:spLocks noGrp="1"/>
          </p:cNvSpPr>
          <p:nvPr>
            <p:ph idx="1"/>
          </p:nvPr>
        </p:nvSpPr>
        <p:spPr>
          <a:xfrm>
            <a:off x="432000" y="1088967"/>
            <a:ext cx="11328000" cy="5102283"/>
          </a:xfrm>
        </p:spPr>
        <p:txBody>
          <a:bodyPr/>
          <a:lstStyle/>
          <a:p>
            <a:pPr marL="0" indent="0">
              <a:buNone/>
            </a:pPr>
            <a:r>
              <a:rPr lang="ru-RU" sz="2700" dirty="0"/>
              <a:t>IBM XGA - следующий специализированный адаптер IBM. расширено цветовое пространство (режим 640x480x64k), добавлен текстовый режим 132x25 (1056x400). Интерфейс с монитором аналогичен VGA/MCGA. </a:t>
            </a:r>
          </a:p>
          <a:p>
            <a:pPr marL="0" indent="0">
              <a:buNone/>
            </a:pPr>
            <a:r>
              <a:rPr lang="ru-RU" sz="2700" dirty="0" smtClean="0"/>
              <a:t>SVGA </a:t>
            </a:r>
            <a:r>
              <a:rPr lang="ru-RU" sz="2700" dirty="0"/>
              <a:t>(</a:t>
            </a:r>
            <a:r>
              <a:rPr lang="ru-RU" sz="2700" dirty="0" err="1"/>
              <a:t>Super</a:t>
            </a:r>
            <a:r>
              <a:rPr lang="ru-RU" sz="2700" dirty="0"/>
              <a:t> VGA - "сверх" VGA) - расширение VGA с добавлением более высоких разрешений и дополнительного сервиса. Видеорежимы добавляются из ряда 800x600, 1024x768, 1152x864, 1280x1024, 1600x1200 - все с соотношением 4:3. Цветовое пространство расширено до 65536 (</a:t>
            </a:r>
            <a:r>
              <a:rPr lang="ru-RU" sz="2700" dirty="0" err="1"/>
              <a:t>High</a:t>
            </a:r>
            <a:r>
              <a:rPr lang="ru-RU" sz="2700" dirty="0"/>
              <a:t> </a:t>
            </a:r>
            <a:r>
              <a:rPr lang="ru-RU" sz="2700" dirty="0" err="1"/>
              <a:t>Color</a:t>
            </a:r>
            <a:r>
              <a:rPr lang="ru-RU" sz="2700" dirty="0"/>
              <a:t>) или 16.7 млн. (</a:t>
            </a:r>
            <a:r>
              <a:rPr lang="ru-RU" sz="2700" dirty="0" err="1"/>
              <a:t>True</a:t>
            </a:r>
            <a:r>
              <a:rPr lang="ru-RU" sz="2700" dirty="0"/>
              <a:t> </a:t>
            </a:r>
            <a:r>
              <a:rPr lang="ru-RU" sz="2700" dirty="0" err="1"/>
              <a:t>Color</a:t>
            </a:r>
            <a:r>
              <a:rPr lang="ru-RU" sz="2700" dirty="0"/>
              <a:t>). Также добавляются расширенные текстовые режимы формата 132x25, 132x43, 132x50. Из дополнительного сервиса добавлена поддержка VBE. Фактический стандарт видеоадаптера примерно с 1992 г.</a:t>
            </a:r>
          </a:p>
          <a:p>
            <a:pPr marL="0" indent="0">
              <a:buNone/>
            </a:pPr>
            <a:endParaRPr lang="ru-RU" sz="2700"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28</a:t>
            </a:fld>
            <a:endParaRPr lang="ru-RU" noProof="0" dirty="0"/>
          </a:p>
        </p:txBody>
      </p:sp>
    </p:spTree>
    <p:extLst>
      <p:ext uri="{BB962C8B-B14F-4D97-AF65-F5344CB8AC3E}">
        <p14:creationId xmlns:p14="http://schemas.microsoft.com/office/powerpoint/2010/main" val="15952730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Что менялось в </a:t>
            </a:r>
            <a:r>
              <a:rPr lang="ru-RU" b="1" dirty="0" smtClean="0"/>
              <a:t>видеоадаптерах</a:t>
            </a:r>
            <a:endParaRPr lang="ru-RU" dirty="0"/>
          </a:p>
        </p:txBody>
      </p:sp>
      <p:sp>
        <p:nvSpPr>
          <p:cNvPr id="3" name="Объект 2"/>
          <p:cNvSpPr>
            <a:spLocks noGrp="1"/>
          </p:cNvSpPr>
          <p:nvPr>
            <p:ph idx="1"/>
          </p:nvPr>
        </p:nvSpPr>
        <p:spPr/>
        <p:txBody>
          <a:bodyPr>
            <a:normAutofit/>
          </a:bodyPr>
          <a:lstStyle/>
          <a:p>
            <a:r>
              <a:rPr lang="ru-RU" dirty="0" smtClean="0"/>
              <a:t>Эволюция </a:t>
            </a:r>
            <a:r>
              <a:rPr lang="ru-RU" dirty="0"/>
              <a:t>видеоконтроллеров отражает гонку за плотностью информации и скоростью доступа к ней. </a:t>
            </a:r>
          </a:p>
          <a:p>
            <a:r>
              <a:rPr lang="ru-RU" b="1" dirty="0"/>
              <a:t>Память:</a:t>
            </a:r>
            <a:r>
              <a:rPr lang="ru-RU" dirty="0"/>
              <a:t> От единиц килобайт в эпоху MDA/CGA (текстовые режимы, монохром) через мегабайты эпохи SVGA и революцию 3Dfx </a:t>
            </a:r>
            <a:r>
              <a:rPr lang="ru-RU" dirty="0" err="1"/>
              <a:t>Voodoo</a:t>
            </a:r>
            <a:r>
              <a:rPr lang="ru-RU" dirty="0"/>
              <a:t> (локальная память для текстур) к десяткам гигабайт современной GDDR6X/HBM. Память перестала быть просто буфером кадра, став сверхбыстрым хранилищем геометрических данных и </a:t>
            </a:r>
            <a:r>
              <a:rPr lang="ru-RU" dirty="0" err="1"/>
              <a:t>шейдерного</a:t>
            </a:r>
            <a:r>
              <a:rPr lang="ru-RU" dirty="0"/>
              <a:t> кода.</a:t>
            </a:r>
          </a:p>
          <a:p>
            <a:r>
              <a:rPr lang="ru-RU" b="1" dirty="0"/>
              <a:t>Разрешение и цветность:</a:t>
            </a:r>
            <a:r>
              <a:rPr lang="ru-RU" dirty="0"/>
              <a:t> Переход от текстового режима </a:t>
            </a:r>
            <a:r>
              <a:rPr lang="ru-RU" dirty="0" smtClean="0"/>
              <a:t>80×25</a:t>
            </a:r>
            <a:r>
              <a:rPr lang="en-US" dirty="0" smtClean="0"/>
              <a:t> </a:t>
            </a:r>
            <a:r>
              <a:rPr lang="ru-RU" dirty="0" smtClean="0"/>
              <a:t>символов </a:t>
            </a:r>
            <a:r>
              <a:rPr lang="ru-RU" dirty="0"/>
              <a:t>к графическим стандартам CGA (</a:t>
            </a:r>
            <a:r>
              <a:rPr lang="ru-RU" dirty="0" smtClean="0"/>
              <a:t>320×200,</a:t>
            </a:r>
            <a:r>
              <a:rPr lang="en-US" dirty="0" smtClean="0"/>
              <a:t> </a:t>
            </a:r>
            <a:r>
              <a:rPr lang="ru-RU" dirty="0" smtClean="0"/>
              <a:t>4</a:t>
            </a:r>
            <a:r>
              <a:rPr lang="en-US" dirty="0" smtClean="0"/>
              <a:t> </a:t>
            </a:r>
            <a:r>
              <a:rPr lang="ru-RU" dirty="0" smtClean="0"/>
              <a:t>цвета</a:t>
            </a:r>
            <a:r>
              <a:rPr lang="ru-RU" dirty="0"/>
              <a:t>), EGA, затем VGA (</a:t>
            </a:r>
            <a:r>
              <a:rPr lang="ru-RU" dirty="0" smtClean="0"/>
              <a:t>640×480</a:t>
            </a:r>
            <a:r>
              <a:rPr lang="ru-RU" dirty="0"/>
              <a:t>,</a:t>
            </a:r>
            <a:r>
              <a:rPr lang="en-US" dirty="0" smtClean="0"/>
              <a:t> </a:t>
            </a:r>
            <a:r>
              <a:rPr lang="ru-RU" dirty="0" smtClean="0"/>
              <a:t>256 </a:t>
            </a:r>
            <a:r>
              <a:rPr lang="ru-RU" dirty="0"/>
              <a:t>цветов). Далее последовал массовый переход к HD (</a:t>
            </a:r>
            <a:r>
              <a:rPr lang="ru-RU" dirty="0" smtClean="0"/>
              <a:t>1280×720), </a:t>
            </a:r>
            <a:r>
              <a:rPr lang="ru-RU" dirty="0" err="1"/>
              <a:t>Full</a:t>
            </a:r>
            <a:r>
              <a:rPr lang="ru-RU" dirty="0"/>
              <a:t> HD и 4K/UHD, сопровождавшийся ростом шины адресации</a:t>
            </a:r>
            <a:r>
              <a:rPr lang="ru-RU" dirty="0" smtClean="0"/>
              <a:t>.</a:t>
            </a:r>
            <a:endParaRPr lang="ru-RU" dirty="0"/>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29</a:t>
            </a:fld>
            <a:endParaRPr lang="ru-RU" noProof="0" dirty="0"/>
          </a:p>
        </p:txBody>
      </p:sp>
    </p:spTree>
    <p:extLst>
      <p:ext uri="{BB962C8B-B14F-4D97-AF65-F5344CB8AC3E}">
        <p14:creationId xmlns:p14="http://schemas.microsoft.com/office/powerpoint/2010/main" val="2579781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Что менялось в </a:t>
            </a:r>
            <a:r>
              <a:rPr lang="ru-RU" b="1" dirty="0" smtClean="0"/>
              <a:t>видеоадаптерах</a:t>
            </a:r>
            <a:endParaRPr lang="ru-RU" dirty="0"/>
          </a:p>
        </p:txBody>
      </p:sp>
      <p:sp>
        <p:nvSpPr>
          <p:cNvPr id="3" name="Объект 2"/>
          <p:cNvSpPr>
            <a:spLocks noGrp="1"/>
          </p:cNvSpPr>
          <p:nvPr>
            <p:ph idx="1"/>
          </p:nvPr>
        </p:nvSpPr>
        <p:spPr/>
        <p:txBody>
          <a:bodyPr>
            <a:normAutofit/>
          </a:bodyPr>
          <a:lstStyle/>
          <a:p>
            <a:r>
              <a:rPr lang="ru-RU" b="1" dirty="0"/>
              <a:t>Интерфейсы:</a:t>
            </a:r>
            <a:r>
              <a:rPr lang="ru-RU" dirty="0"/>
              <a:t> Физическая эволюция разъемов шла параллельно росту пропускной способности: от </a:t>
            </a:r>
            <a:r>
              <a:rPr lang="ru-RU" dirty="0" err="1"/>
              <a:t>проприетарных</a:t>
            </a:r>
            <a:r>
              <a:rPr lang="ru-RU" dirty="0"/>
              <a:t> шлейфов и DB-9/VGA (аналоговый сигнал) к полностью цифровым DVI, HDMI (интеграция звука) и </a:t>
            </a:r>
            <a:r>
              <a:rPr lang="ru-RU" dirty="0" err="1"/>
              <a:t>DisplayPort</a:t>
            </a:r>
            <a:r>
              <a:rPr lang="ru-RU" dirty="0"/>
              <a:t> (высокая </a:t>
            </a:r>
            <a:r>
              <a:rPr lang="ru-RU" dirty="0" err="1"/>
              <a:t>герцовка</a:t>
            </a:r>
            <a:r>
              <a:rPr lang="ru-RU" dirty="0"/>
              <a:t>, пакетная передача данных, цепочки экранов).</a:t>
            </a:r>
          </a:p>
          <a:p>
            <a:r>
              <a:rPr lang="ru-RU" b="1" dirty="0"/>
              <a:t>Режимы работы:</a:t>
            </a:r>
            <a:r>
              <a:rPr lang="ru-RU" dirty="0"/>
              <a:t> Ключевым сдвигом стал отказ от жестко прошитых 2D-режимов в пользу программируемого конвейера. Появление GPU позволило перенести расчет трансформации вершин, освещения и растеризации с центрального процессора на специализированный чип, открыв эру массового 3D-моделирования и современных вычислений общего назначения (</a:t>
            </a:r>
            <a:r>
              <a:rPr lang="ru-RU" i="1" dirty="0"/>
              <a:t>GPGPU</a:t>
            </a:r>
            <a:r>
              <a:rPr lang="ru-RU" dirty="0"/>
              <a:t>).</a:t>
            </a:r>
          </a:p>
          <a:p>
            <a:endParaRPr lang="ru-RU" dirty="0"/>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30</a:t>
            </a:fld>
            <a:endParaRPr lang="ru-RU" noProof="0" dirty="0"/>
          </a:p>
        </p:txBody>
      </p:sp>
    </p:spTree>
    <p:extLst>
      <p:ext uri="{BB962C8B-B14F-4D97-AF65-F5344CB8AC3E}">
        <p14:creationId xmlns:p14="http://schemas.microsoft.com/office/powerpoint/2010/main" val="2067176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ltLang="ru-RU" dirty="0"/>
              <a:t>История мониторов</a:t>
            </a:r>
            <a:endParaRPr lang="ru-RU" dirty="0"/>
          </a:p>
        </p:txBody>
      </p:sp>
      <p:sp>
        <p:nvSpPr>
          <p:cNvPr id="4" name="Объект 3"/>
          <p:cNvSpPr>
            <a:spLocks noGrp="1"/>
          </p:cNvSpPr>
          <p:nvPr>
            <p:ph idx="1"/>
          </p:nvPr>
        </p:nvSpPr>
        <p:spPr>
          <a:xfrm>
            <a:off x="432000" y="1088967"/>
            <a:ext cx="11328000" cy="5102283"/>
          </a:xfrm>
        </p:spPr>
        <p:txBody>
          <a:bodyPr>
            <a:normAutofit fontScale="92500"/>
          </a:bodyPr>
          <a:lstStyle/>
          <a:p>
            <a:pPr marL="0" indent="0">
              <a:buNone/>
            </a:pPr>
            <a:r>
              <a:rPr lang="ru-RU" sz="2700" dirty="0"/>
              <a:t>Векторные мониторы (произвольное сканирование луча). При перемещении луча по экрану в точке, на которую попал луч, возбуждается свечение люминофора экрана. Это свечение достаточно быстро прекращается при перемещении луча в другую позицию (обычное время послесвечения менее 0.1 с). Поэтому, для того чтобы изображение было постоянно видимым, приходится его перерисовывать (регенерировать изображение).   </a:t>
            </a:r>
          </a:p>
          <a:p>
            <a:pPr marL="0" indent="0">
              <a:buNone/>
            </a:pPr>
            <a:r>
              <a:rPr lang="ru-RU" sz="2700" dirty="0" smtClean="0"/>
              <a:t>Необходимость </a:t>
            </a:r>
            <a:r>
              <a:rPr lang="ru-RU" sz="2700" dirty="0"/>
              <a:t>регенерации изображения требует сохранения его описания в специально выделенной памяти, называемой памятью регенерации. Само описание изображения называется дисплейным файлом. Понятно, что такой дисплей требует достаточно быстрого процессора для обработки дисплейного файла и управления перемещением луча по экрану. В  то же время легко стирать любой элемент изображения – достаточно просто удалить стираемый элемент из дисплейного файла.</a:t>
            </a:r>
          </a:p>
          <a:p>
            <a:pPr marL="0" indent="0">
              <a:buNone/>
            </a:pPr>
            <a:endParaRPr lang="ru-RU" sz="2700"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31</a:t>
            </a:fld>
            <a:endParaRPr lang="ru-RU" noProof="0" dirty="0"/>
          </a:p>
        </p:txBody>
      </p:sp>
    </p:spTree>
    <p:extLst>
      <p:ext uri="{BB962C8B-B14F-4D97-AF65-F5344CB8AC3E}">
        <p14:creationId xmlns:p14="http://schemas.microsoft.com/office/powerpoint/2010/main" val="14464050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ltLang="ru-RU" dirty="0"/>
              <a:t>История мониторов</a:t>
            </a:r>
            <a:endParaRPr lang="ru-RU" dirty="0"/>
          </a:p>
        </p:txBody>
      </p:sp>
      <p:sp>
        <p:nvSpPr>
          <p:cNvPr id="4" name="Объект 3"/>
          <p:cNvSpPr>
            <a:spLocks noGrp="1"/>
          </p:cNvSpPr>
          <p:nvPr>
            <p:ph idx="1"/>
          </p:nvPr>
        </p:nvSpPr>
        <p:spPr>
          <a:xfrm>
            <a:off x="432000" y="1088967"/>
            <a:ext cx="11328000" cy="5102283"/>
          </a:xfrm>
        </p:spPr>
        <p:txBody>
          <a:bodyPr>
            <a:normAutofit fontScale="92500"/>
          </a:bodyPr>
          <a:lstStyle/>
          <a:p>
            <a:pPr marL="0" indent="0">
              <a:buNone/>
            </a:pPr>
            <a:r>
              <a:rPr lang="ru-RU" sz="2700" dirty="0"/>
              <a:t>Первые серийные векторные дисплеи за рубежом появились в конце 60-х годов. В 1963 г. Был разработан прототип дисплейной станции IBM 2250 (до осени 1964 г. работы были засекречены). </a:t>
            </a:r>
          </a:p>
          <a:p>
            <a:pPr marL="0" indent="0">
              <a:buNone/>
            </a:pPr>
            <a:r>
              <a:rPr lang="ru-RU" sz="2700" dirty="0"/>
              <a:t>Отличительной чертой векторных дисплеев являлась возможность непосредственного графического диалога, заключающаяся в простом указании с помощью светового пера объектов на экране (линий, символов и т.д.). </a:t>
            </a:r>
          </a:p>
          <a:p>
            <a:pPr marL="0" indent="0">
              <a:buNone/>
            </a:pPr>
            <a:r>
              <a:rPr lang="ru-RU" sz="2700" dirty="0" smtClean="0"/>
              <a:t>Векторные </a:t>
            </a:r>
            <a:r>
              <a:rPr lang="ru-RU" sz="2700" dirty="0"/>
              <a:t>мониторы с памятью. В конце 60-х годов появились ЭЛТ, способные достаточно длительное время (до часа) прямо на экране хранить построенное изображение. Следовательно, не обязательна память регенерации и не нужен быстрый процессор для выполнения регенерации изображения. Сложность изображения практически не ограничена. Разрешение, достигнутое на дисплеях на запоминающей трубке, такое же как и на векторных или выше до 4096 точек.</a:t>
            </a:r>
          </a:p>
          <a:p>
            <a:pPr marL="0" indent="0">
              <a:buNone/>
            </a:pPr>
            <a:endParaRPr lang="ru-RU" sz="2700"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32</a:t>
            </a:fld>
            <a:endParaRPr lang="ru-RU" noProof="0" dirty="0"/>
          </a:p>
        </p:txBody>
      </p:sp>
    </p:spTree>
    <p:extLst>
      <p:ext uri="{BB962C8B-B14F-4D97-AF65-F5344CB8AC3E}">
        <p14:creationId xmlns:p14="http://schemas.microsoft.com/office/powerpoint/2010/main" val="30852390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ltLang="ru-RU" dirty="0">
                <a:solidFill>
                  <a:schemeClr val="tx2"/>
                </a:solidFill>
                <a:latin typeface="Tahoma" panose="020B0604030504040204" pitchFamily="34" charset="0"/>
              </a:rPr>
              <a:t>Недостатки векторных мониторов</a:t>
            </a:r>
            <a:endParaRPr lang="ru-RU" altLang="ru-RU" dirty="0">
              <a:latin typeface="Tahoma" panose="020B0604030504040204" pitchFamily="34" charset="0"/>
            </a:endParaRPr>
          </a:p>
        </p:txBody>
      </p:sp>
      <p:sp>
        <p:nvSpPr>
          <p:cNvPr id="4" name="Объект 3"/>
          <p:cNvSpPr>
            <a:spLocks noGrp="1"/>
          </p:cNvSpPr>
          <p:nvPr>
            <p:ph idx="1"/>
          </p:nvPr>
        </p:nvSpPr>
        <p:spPr>
          <a:xfrm>
            <a:off x="432000" y="1088967"/>
            <a:ext cx="11328000" cy="5102283"/>
          </a:xfrm>
        </p:spPr>
        <p:txBody>
          <a:bodyPr/>
          <a:lstStyle/>
          <a:p>
            <a:pPr marL="0" indent="0">
              <a:buNone/>
            </a:pPr>
            <a:r>
              <a:rPr lang="ru-RU" sz="2700" dirty="0"/>
              <a:t>Обычно серийные векторные дисплеи успевали 50 раз в секунду строить только около 3000 4000 отрезков. При большем числе отрезков изображение начинает мерцать, так как отрезки, построенные в начале очередного цикла, полностью погасают к тому моменту, когда будут строиться последние.</a:t>
            </a:r>
          </a:p>
          <a:p>
            <a:pPr marL="0" indent="0">
              <a:buNone/>
            </a:pPr>
            <a:r>
              <a:rPr lang="ru-RU" sz="2700" dirty="0"/>
              <a:t>Другим недостатком векторных дисплеев является малое число градаций по яркости (обычно 2-4). Были разработаны, но не нашли широкого применения двух-трехцветные ЭЛТ, также обеспечивавшие несколько градаций яркости.</a:t>
            </a:r>
          </a:p>
          <a:p>
            <a:pPr marL="0" indent="0">
              <a:buNone/>
            </a:pPr>
            <a:endParaRPr lang="ru-RU" sz="2700"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33</a:t>
            </a:fld>
            <a:endParaRPr lang="ru-RU" noProof="0" dirty="0"/>
          </a:p>
        </p:txBody>
      </p:sp>
    </p:spTree>
    <p:extLst>
      <p:ext uri="{BB962C8B-B14F-4D97-AF65-F5344CB8AC3E}">
        <p14:creationId xmlns:p14="http://schemas.microsoft.com/office/powerpoint/2010/main" val="24922825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ltLang="ru-RU" dirty="0"/>
              <a:t>История мониторов</a:t>
            </a:r>
            <a:endParaRPr lang="ru-RU" altLang="ru-RU" dirty="0">
              <a:latin typeface="Tahoma" panose="020B0604030504040204" pitchFamily="34" charset="0"/>
            </a:endParaRPr>
          </a:p>
        </p:txBody>
      </p:sp>
      <p:sp>
        <p:nvSpPr>
          <p:cNvPr id="4" name="Объект 3"/>
          <p:cNvSpPr>
            <a:spLocks noGrp="1"/>
          </p:cNvSpPr>
          <p:nvPr>
            <p:ph idx="1"/>
          </p:nvPr>
        </p:nvSpPr>
        <p:spPr>
          <a:xfrm>
            <a:off x="432000" y="1088967"/>
            <a:ext cx="11328000" cy="5102283"/>
          </a:xfrm>
        </p:spPr>
        <p:txBody>
          <a:bodyPr/>
          <a:lstStyle/>
          <a:p>
            <a:pPr marL="0" indent="0">
              <a:buNone/>
            </a:pPr>
            <a:r>
              <a:rPr lang="ru-RU" sz="2700" dirty="0"/>
              <a:t>Растровое сканирование луча. Прогресс в технологии микроэлектроники привел к тому, с середины 70-х годов подавляющее распространение получили дисплеи с растровым сканированием луча.</a:t>
            </a:r>
          </a:p>
          <a:p>
            <a:pPr marL="0" indent="0">
              <a:buNone/>
            </a:pPr>
            <a:r>
              <a:rPr lang="ru-RU" sz="2700" dirty="0" smtClean="0"/>
              <a:t>Плазменная </a:t>
            </a:r>
            <a:r>
              <a:rPr lang="ru-RU" sz="2700" dirty="0"/>
              <a:t>панель. В 1966 г. была изобретена плазменная панель, которую упрощенно можно представить как матрицу из маленьких разноцветных неоновых лампочек, каждая из которых включается независимо и может светиться с регулируемой яркостью. В определенном смысле эти дисплеи объединяют в себе многие полезные свойства векторных и растровых устройств. К недостаткам следует отнести большую стоимость, недостаточно высокое разрешение и большое напряжение питания. </a:t>
            </a:r>
          </a:p>
          <a:p>
            <a:pPr marL="0" indent="0">
              <a:buNone/>
            </a:pPr>
            <a:endParaRPr lang="ru-RU" sz="2700"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34</a:t>
            </a:fld>
            <a:endParaRPr lang="ru-RU" noProof="0" dirty="0"/>
          </a:p>
        </p:txBody>
      </p:sp>
    </p:spTree>
    <p:extLst>
      <p:ext uri="{BB962C8B-B14F-4D97-AF65-F5344CB8AC3E}">
        <p14:creationId xmlns:p14="http://schemas.microsoft.com/office/powerpoint/2010/main" val="8732067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altLang="ru-RU" dirty="0"/>
              <a:t>История мониторов</a:t>
            </a:r>
            <a:endParaRPr lang="ru-RU" altLang="ru-RU" dirty="0">
              <a:latin typeface="Tahoma" panose="020B0604030504040204" pitchFamily="34" charset="0"/>
            </a:endParaRPr>
          </a:p>
        </p:txBody>
      </p:sp>
      <p:sp>
        <p:nvSpPr>
          <p:cNvPr id="4" name="Объект 3"/>
          <p:cNvSpPr>
            <a:spLocks noGrp="1"/>
          </p:cNvSpPr>
          <p:nvPr>
            <p:ph idx="1"/>
          </p:nvPr>
        </p:nvSpPr>
        <p:spPr>
          <a:xfrm>
            <a:off x="432000" y="1088967"/>
            <a:ext cx="11328000" cy="5102283"/>
          </a:xfrm>
        </p:spPr>
        <p:txBody>
          <a:bodyPr>
            <a:normAutofit lnSpcReduction="10000"/>
          </a:bodyPr>
          <a:lstStyle/>
          <a:p>
            <a:pPr marL="0" indent="0">
              <a:buNone/>
            </a:pPr>
            <a:r>
              <a:rPr lang="ru-RU" sz="2700" dirty="0"/>
              <a:t>Жидкокристаллические индикаторы. Дисплеи на ЖКИ работают аналогично индикаторам в электронных часах, но изображение состоит не из нескольких сегментов, а из большого числа отдельно управляемых точек. Имеют наименьшие габариты и энергопотребление и заметно большую цену, чем растровые дисплеи на ЭЛТ. </a:t>
            </a:r>
          </a:p>
          <a:p>
            <a:pPr marL="0" indent="0">
              <a:buNone/>
            </a:pPr>
            <a:r>
              <a:rPr lang="ru-RU" sz="2700" dirty="0" err="1" smtClean="0"/>
              <a:t>Электролюминисцентные</a:t>
            </a:r>
            <a:r>
              <a:rPr lang="ru-RU" sz="2700" dirty="0" smtClean="0"/>
              <a:t> </a:t>
            </a:r>
            <a:r>
              <a:rPr lang="ru-RU" sz="2700" dirty="0"/>
              <a:t>индикаторы. Принцип работы основан на свечении люминофора под воздействием относительно высокого переменного напряжения, прикладываемого к взаимно перпендикулярным наборам электродов, между которыми находится люминофор.</a:t>
            </a:r>
          </a:p>
          <a:p>
            <a:pPr marL="0" indent="0">
              <a:buNone/>
            </a:pPr>
            <a:r>
              <a:rPr lang="ru-RU" sz="2700" dirty="0" smtClean="0"/>
              <a:t>Дисплеи </a:t>
            </a:r>
            <a:r>
              <a:rPr lang="ru-RU" sz="2700" dirty="0"/>
              <a:t>с эмиссией полем - развитие мониторов на электронно-лучевых трубках. Являются плоскими дисплеями с эмиссией электронов полем с холодных катодов (заостренных микроигл).</a:t>
            </a:r>
          </a:p>
          <a:p>
            <a:pPr marL="0" indent="0">
              <a:buNone/>
            </a:pPr>
            <a:endParaRPr lang="ru-RU" sz="2700"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35</a:t>
            </a:fld>
            <a:endParaRPr lang="ru-RU" noProof="0" dirty="0"/>
          </a:p>
        </p:txBody>
      </p:sp>
    </p:spTree>
    <p:extLst>
      <p:ext uri="{BB962C8B-B14F-4D97-AF65-F5344CB8AC3E}">
        <p14:creationId xmlns:p14="http://schemas.microsoft.com/office/powerpoint/2010/main" val="21757098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Современный экран как матрица </a:t>
            </a:r>
            <a:r>
              <a:rPr lang="ru-RU" b="1" dirty="0" smtClean="0"/>
              <a:t>пикселей</a:t>
            </a:r>
            <a:endParaRPr lang="ru-RU" dirty="0"/>
          </a:p>
        </p:txBody>
      </p:sp>
      <p:sp>
        <p:nvSpPr>
          <p:cNvPr id="3" name="Объект 2"/>
          <p:cNvSpPr>
            <a:spLocks noGrp="1"/>
          </p:cNvSpPr>
          <p:nvPr>
            <p:ph idx="1"/>
          </p:nvPr>
        </p:nvSpPr>
        <p:spPr/>
        <p:txBody>
          <a:bodyPr>
            <a:normAutofit/>
          </a:bodyPr>
          <a:lstStyle/>
          <a:p>
            <a:r>
              <a:rPr lang="ru-RU" dirty="0" smtClean="0"/>
              <a:t>Фундаментальное </a:t>
            </a:r>
            <a:r>
              <a:rPr lang="ru-RU" dirty="0"/>
              <a:t>заблуждение начинающего пользователя заключается в восприятии компьютера как системы, «рисующей» объекты. На самом деле современный дисплей абсолютно ничего не знает об окнах, кнопках или персонажах игры. Экран — это пассивная физическая матрица излучающих или модулирующих свет ячеек. </a:t>
            </a:r>
          </a:p>
          <a:p>
            <a:r>
              <a:rPr lang="ru-RU" dirty="0"/>
              <a:t>Видеосистема (графический процессор и контроллер передачи) ежесекундно формирует и отправляет на панель полный кадр — двухмерный массив готовых значений цвета для каждой координаты. Частота этого обновления составляет сегодня от 60 до 360 Гц и выше. Панель лишь преобразует полученный электрический или оптический сигнал в свет. </a:t>
            </a:r>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36</a:t>
            </a:fld>
            <a:endParaRPr lang="ru-RU" noProof="0" dirty="0"/>
          </a:p>
        </p:txBody>
      </p:sp>
    </p:spTree>
    <p:extLst>
      <p:ext uri="{BB962C8B-B14F-4D97-AF65-F5344CB8AC3E}">
        <p14:creationId xmlns:p14="http://schemas.microsoft.com/office/powerpoint/2010/main" val="144005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Современный экран как матрица </a:t>
            </a:r>
            <a:r>
              <a:rPr lang="ru-RU" b="1" dirty="0" smtClean="0"/>
              <a:t>пикселей</a:t>
            </a:r>
            <a:endParaRPr lang="ru-RU" dirty="0"/>
          </a:p>
        </p:txBody>
      </p:sp>
      <p:sp>
        <p:nvSpPr>
          <p:cNvPr id="3" name="Объект 2"/>
          <p:cNvSpPr>
            <a:spLocks noGrp="1"/>
          </p:cNvSpPr>
          <p:nvPr>
            <p:ph idx="1"/>
          </p:nvPr>
        </p:nvSpPr>
        <p:spPr/>
        <p:txBody>
          <a:bodyPr>
            <a:normAutofit/>
          </a:bodyPr>
          <a:lstStyle/>
          <a:p>
            <a:r>
              <a:rPr lang="ru-RU" dirty="0"/>
              <a:t>В ЖК-панелях жидкие кристаллы поворачиваются под напряжением, работая как крошечные жалюзи перед светодиодной подсветкой, изменяя поляризацию света. В OLED-матрицах каждый органический диод сам является источником излучения. Никаких «объектов» внутри панели нет; если видеопоток прервется, экран застынет на последней полученной матрице значений, демонстрируя статичную картинку вплоть до выгорания органических светодиодов. Именно поэтому любое движение мы воспринимаем как плавное только благодаря инерционности зрения и высокой частоте подачи новых матриц кадров.</a:t>
            </a:r>
          </a:p>
          <a:p>
            <a:endParaRPr lang="ru-RU" dirty="0"/>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37</a:t>
            </a:fld>
            <a:endParaRPr lang="ru-RU" noProof="0" dirty="0"/>
          </a:p>
        </p:txBody>
      </p:sp>
    </p:spTree>
    <p:extLst>
      <p:ext uri="{BB962C8B-B14F-4D97-AF65-F5344CB8AC3E}">
        <p14:creationId xmlns:p14="http://schemas.microsoft.com/office/powerpoint/2010/main" val="2261474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ltLang="ru-RU" dirty="0"/>
              <a:t>Обработка изображений</a:t>
            </a:r>
            <a:endParaRPr lang="ru-RU" dirty="0"/>
          </a:p>
        </p:txBody>
      </p:sp>
      <p:sp>
        <p:nvSpPr>
          <p:cNvPr id="3" name="Текст 2"/>
          <p:cNvSpPr>
            <a:spLocks noGrp="1"/>
          </p:cNvSpPr>
          <p:nvPr>
            <p:ph type="body" idx="1"/>
          </p:nvPr>
        </p:nvSpPr>
        <p:spPr/>
        <p:txBody>
          <a:bodyPr/>
          <a:lstStyle/>
          <a:p>
            <a:endParaRPr lang="ru-RU"/>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38</a:t>
            </a:fld>
            <a:endParaRPr lang="ru-RU" noProof="0" dirty="0"/>
          </a:p>
        </p:txBody>
      </p:sp>
    </p:spTree>
    <p:extLst>
      <p:ext uri="{BB962C8B-B14F-4D97-AF65-F5344CB8AC3E}">
        <p14:creationId xmlns:p14="http://schemas.microsoft.com/office/powerpoint/2010/main" val="1851493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39</a:t>
            </a:fld>
            <a:endParaRPr lang="ru-RU" noProof="0" dirty="0"/>
          </a:p>
        </p:txBody>
      </p:sp>
      <p:sp>
        <p:nvSpPr>
          <p:cNvPr id="4" name="Объект 3"/>
          <p:cNvSpPr>
            <a:spLocks noGrp="1"/>
          </p:cNvSpPr>
          <p:nvPr>
            <p:ph idx="1"/>
          </p:nvPr>
        </p:nvSpPr>
        <p:spPr>
          <a:xfrm>
            <a:off x="432000" y="1055716"/>
            <a:ext cx="11328000" cy="5135534"/>
          </a:xfrm>
        </p:spPr>
        <p:txBody>
          <a:bodyPr/>
          <a:lstStyle/>
          <a:p>
            <a:pPr marL="0" indent="0" fontAlgn="base">
              <a:buNone/>
            </a:pPr>
            <a:r>
              <a:rPr lang="ru-RU" sz="3200" dirty="0"/>
              <a:t>Семейство методов и задач, где входной и выходной информацией являются изображения. Примеры :</a:t>
            </a:r>
          </a:p>
          <a:p>
            <a:pPr fontAlgn="base"/>
            <a:r>
              <a:rPr lang="ru-RU" sz="3200" dirty="0" smtClean="0"/>
              <a:t>Устранение </a:t>
            </a:r>
            <a:r>
              <a:rPr lang="ru-RU" sz="3200" dirty="0"/>
              <a:t>шума в изображениях</a:t>
            </a:r>
          </a:p>
          <a:p>
            <a:pPr fontAlgn="base"/>
            <a:r>
              <a:rPr lang="ru-RU" sz="3200" dirty="0"/>
              <a:t>Улучшение качества изображения </a:t>
            </a:r>
          </a:p>
          <a:p>
            <a:pPr fontAlgn="base"/>
            <a:r>
              <a:rPr lang="ru-RU" sz="3200" dirty="0"/>
              <a:t>Усиления полезной и подавления нежелательной (в контексте конкретной задачи) информации</a:t>
            </a:r>
          </a:p>
          <a:p>
            <a:pPr fontAlgn="base"/>
            <a:endParaRPr lang="ru-RU" sz="3200" dirty="0"/>
          </a:p>
        </p:txBody>
      </p:sp>
    </p:spTree>
    <p:extLst>
      <p:ext uri="{BB962C8B-B14F-4D97-AF65-F5344CB8AC3E}">
        <p14:creationId xmlns:p14="http://schemas.microsoft.com/office/powerpoint/2010/main" val="3378484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40</a:t>
            </a:fld>
            <a:endParaRPr lang="ru-RU" noProof="0" dirty="0"/>
          </a:p>
        </p:txBody>
      </p:sp>
      <p:pic>
        <p:nvPicPr>
          <p:cNvPr id="6" name="Picture 1027"/>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17596" y="1113906"/>
            <a:ext cx="7074465" cy="5104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577946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41</a:t>
            </a:fld>
            <a:endParaRPr lang="ru-RU" noProof="0" dirty="0"/>
          </a:p>
        </p:txBody>
      </p:sp>
      <p:pic>
        <p:nvPicPr>
          <p:cNvPr id="7" name="Picture 1027"/>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43531" y="1188721"/>
            <a:ext cx="6417341" cy="4949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799199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42</a:t>
            </a:fld>
            <a:endParaRPr lang="ru-RU" noProof="0" dirty="0"/>
          </a:p>
        </p:txBody>
      </p:sp>
      <p:sp>
        <p:nvSpPr>
          <p:cNvPr id="3" name="Объект 2"/>
          <p:cNvSpPr>
            <a:spLocks noGrp="1"/>
          </p:cNvSpPr>
          <p:nvPr>
            <p:ph idx="1"/>
          </p:nvPr>
        </p:nvSpPr>
        <p:spPr/>
        <p:txBody>
          <a:bodyPr/>
          <a:lstStyle/>
          <a:p>
            <a:endParaRPr lang="ru-RU"/>
          </a:p>
        </p:txBody>
      </p:sp>
      <p:pic>
        <p:nvPicPr>
          <p:cNvPr id="6" name="Picture 10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5341" y="1066800"/>
            <a:ext cx="7467600"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549570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dirty="0"/>
          </a:p>
        </p:txBody>
      </p:sp>
      <p:sp>
        <p:nvSpPr>
          <p:cNvPr id="5" name="Номер слайда 4"/>
          <p:cNvSpPr>
            <a:spLocks noGrp="1"/>
          </p:cNvSpPr>
          <p:nvPr>
            <p:ph type="sldNum" sz="quarter" idx="33"/>
          </p:nvPr>
        </p:nvSpPr>
        <p:spPr/>
        <p:txBody>
          <a:bodyPr/>
          <a:lstStyle/>
          <a:p>
            <a:pPr rtl="0"/>
            <a:fld id="{19B51A1E-902D-48AF-9020-955120F399B6}" type="slidenum">
              <a:rPr lang="ru-RU" noProof="0" smtClean="0"/>
              <a:pPr rtl="0"/>
              <a:t>43</a:t>
            </a:fld>
            <a:endParaRPr lang="ru-RU" noProof="0" dirty="0"/>
          </a:p>
        </p:txBody>
      </p:sp>
      <p:pic>
        <p:nvPicPr>
          <p:cNvPr id="7" name="Picture 1027"/>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86488" y="1138844"/>
            <a:ext cx="6765577" cy="508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313863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ltLang="ru-RU" dirty="0"/>
              <a:t>Распознавание образов</a:t>
            </a:r>
            <a:endParaRPr lang="ru-RU" dirty="0"/>
          </a:p>
        </p:txBody>
      </p:sp>
      <p:sp>
        <p:nvSpPr>
          <p:cNvPr id="3" name="Текст 2"/>
          <p:cNvSpPr>
            <a:spLocks noGrp="1"/>
          </p:cNvSpPr>
          <p:nvPr>
            <p:ph type="body" idx="1"/>
          </p:nvPr>
        </p:nvSpPr>
        <p:spPr/>
        <p:txBody>
          <a:bodyPr/>
          <a:lstStyle/>
          <a:p>
            <a:endParaRPr lang="ru-RU"/>
          </a:p>
        </p:txBody>
      </p:sp>
      <p:sp>
        <p:nvSpPr>
          <p:cNvPr id="4" name="Номер слайда 3"/>
          <p:cNvSpPr>
            <a:spLocks noGrp="1"/>
          </p:cNvSpPr>
          <p:nvPr>
            <p:ph type="sldNum" sz="quarter" idx="12"/>
          </p:nvPr>
        </p:nvSpPr>
        <p:spPr/>
        <p:txBody>
          <a:bodyPr/>
          <a:lstStyle/>
          <a:p>
            <a:pPr rtl="0"/>
            <a:fld id="{CA8D9AD5-F248-4919-864A-CFD76CC027D6}" type="slidenum">
              <a:rPr lang="ru-RU" noProof="0" smtClean="0"/>
              <a:t>44</a:t>
            </a:fld>
            <a:endParaRPr lang="ru-RU" noProof="0" dirty="0"/>
          </a:p>
        </p:txBody>
      </p:sp>
    </p:spTree>
    <p:extLst>
      <p:ext uri="{BB962C8B-B14F-4D97-AF65-F5344CB8AC3E}">
        <p14:creationId xmlns:p14="http://schemas.microsoft.com/office/powerpoint/2010/main" val="445611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бъект 4"/>
          <p:cNvSpPr>
            <a:spLocks noGrp="1"/>
          </p:cNvSpPr>
          <p:nvPr>
            <p:ph sz="half" idx="1"/>
          </p:nvPr>
        </p:nvSpPr>
        <p:spPr>
          <a:xfrm>
            <a:off x="431999" y="1055715"/>
            <a:ext cx="11031252" cy="5221528"/>
          </a:xfrm>
        </p:spPr>
        <p:txBody>
          <a:bodyPr>
            <a:normAutofit fontScale="92500" lnSpcReduction="20000"/>
          </a:bodyPr>
          <a:lstStyle/>
          <a:p>
            <a:pPr marL="0" indent="0">
              <a:buNone/>
            </a:pPr>
            <a:r>
              <a:rPr lang="ru-RU" sz="2600" dirty="0"/>
              <a:t>Практически все приложения </a:t>
            </a:r>
            <a:r>
              <a:rPr lang="ru-RU" sz="2600" dirty="0" smtClean="0"/>
              <a:t>компьютерного зрения </a:t>
            </a:r>
            <a:r>
              <a:rPr lang="ru-RU" sz="2600" dirty="0"/>
              <a:t>решают одну из (или обе) задачи:</a:t>
            </a:r>
          </a:p>
          <a:p>
            <a:r>
              <a:rPr lang="ru-RU" sz="2600" dirty="0" smtClean="0"/>
              <a:t> </a:t>
            </a:r>
            <a:r>
              <a:rPr lang="ru-RU" sz="2600" dirty="0"/>
              <a:t>поиск определенных объектов на изображении</a:t>
            </a:r>
          </a:p>
          <a:p>
            <a:r>
              <a:rPr lang="ru-RU" sz="2600" dirty="0"/>
              <a:t> измерение параметров объектов на изображении</a:t>
            </a:r>
          </a:p>
          <a:p>
            <a:pPr marL="0" indent="0">
              <a:buNone/>
            </a:pPr>
            <a:r>
              <a:rPr lang="ru-RU" sz="2600" dirty="0" smtClean="0"/>
              <a:t>Области применения:</a:t>
            </a:r>
            <a:endParaRPr lang="ru-RU" sz="2600" dirty="0"/>
          </a:p>
          <a:p>
            <a:r>
              <a:rPr lang="ru-RU" sz="2600" dirty="0"/>
              <a:t> Медицинские приложения;</a:t>
            </a:r>
          </a:p>
          <a:p>
            <a:r>
              <a:rPr lang="ru-RU" sz="2600" dirty="0"/>
              <a:t> Дефектоскопия;</a:t>
            </a:r>
          </a:p>
          <a:p>
            <a:r>
              <a:rPr lang="ru-RU" sz="2600" dirty="0"/>
              <a:t> Анализ движущихся объектов в видеопотоке;</a:t>
            </a:r>
          </a:p>
          <a:p>
            <a:r>
              <a:rPr lang="ru-RU" sz="2600" dirty="0"/>
              <a:t> Поиск специальных объектов (маркеров);</a:t>
            </a:r>
          </a:p>
          <a:p>
            <a:r>
              <a:rPr lang="ru-RU" sz="2600" dirty="0"/>
              <a:t> Обнаружение естественных объектов;</a:t>
            </a:r>
          </a:p>
          <a:p>
            <a:r>
              <a:rPr lang="ru-RU" sz="2600" dirty="0"/>
              <a:t> Анализ спутниковых </a:t>
            </a:r>
            <a:r>
              <a:rPr lang="ru-RU" sz="2600" dirty="0" smtClean="0"/>
              <a:t>снимков и др.</a:t>
            </a:r>
            <a:endParaRPr lang="ru-RU" sz="2600" dirty="0"/>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45</a:t>
            </a:fld>
            <a:endParaRPr lang="ru-RU" noProof="0" dirty="0"/>
          </a:p>
        </p:txBody>
      </p:sp>
    </p:spTree>
    <p:extLst>
      <p:ext uri="{BB962C8B-B14F-4D97-AF65-F5344CB8AC3E}">
        <p14:creationId xmlns:p14="http://schemas.microsoft.com/office/powerpoint/2010/main" val="25208754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p:txBody>
          <a:bodyPr>
            <a:normAutofit fontScale="90000"/>
          </a:bodyPr>
          <a:lstStyle/>
          <a:p>
            <a:r>
              <a:rPr lang="ru-RU" altLang="ru-RU" dirty="0"/>
              <a:t>Медицинские приложения</a:t>
            </a:r>
            <a:endParaRPr lang="ru-RU" dirty="0"/>
          </a:p>
        </p:txBody>
      </p:sp>
      <p:sp>
        <p:nvSpPr>
          <p:cNvPr id="5" name="Объект 4"/>
          <p:cNvSpPr>
            <a:spLocks noGrp="1"/>
          </p:cNvSpPr>
          <p:nvPr>
            <p:ph sz="half" idx="1"/>
          </p:nvPr>
        </p:nvSpPr>
        <p:spPr>
          <a:xfrm>
            <a:off x="431999" y="1055715"/>
            <a:ext cx="11031252" cy="5221528"/>
          </a:xfrm>
        </p:spPr>
        <p:txBody>
          <a:bodyPr>
            <a:normAutofit/>
          </a:bodyPr>
          <a:lstStyle/>
          <a:p>
            <a:pPr marL="0" indent="0">
              <a:buNone/>
            </a:pPr>
            <a:r>
              <a:rPr lang="ru-RU" sz="2600" dirty="0"/>
              <a:t>Пример – анализ концентрации клеток определенного типа в крови</a:t>
            </a:r>
          </a:p>
          <a:p>
            <a:pPr marL="0" indent="0">
              <a:buNone/>
            </a:pPr>
            <a:endParaRPr lang="ru-RU" sz="2600" dirty="0"/>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46</a:t>
            </a:fld>
            <a:endParaRPr lang="ru-RU" noProof="0" dirty="0"/>
          </a:p>
        </p:txBody>
      </p:sp>
      <p:pic>
        <p:nvPicPr>
          <p:cNvPr id="7" name="Picture 4" descr="img7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9925" y="1785331"/>
            <a:ext cx="4248150" cy="318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138779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a:xfrm>
            <a:off x="431999" y="432000"/>
            <a:ext cx="10923185" cy="432000"/>
          </a:xfrm>
        </p:spPr>
        <p:txBody>
          <a:bodyPr>
            <a:normAutofit fontScale="90000"/>
          </a:bodyPr>
          <a:lstStyle/>
          <a:p>
            <a:r>
              <a:rPr lang="ru-RU" altLang="ru-RU" dirty="0"/>
              <a:t>Неразрушающая диагностика</a:t>
            </a:r>
            <a:endParaRPr lang="ru-RU" dirty="0"/>
          </a:p>
        </p:txBody>
      </p:sp>
      <p:sp>
        <p:nvSpPr>
          <p:cNvPr id="5" name="Объект 4"/>
          <p:cNvSpPr>
            <a:spLocks noGrp="1"/>
          </p:cNvSpPr>
          <p:nvPr>
            <p:ph sz="half" idx="1"/>
          </p:nvPr>
        </p:nvSpPr>
        <p:spPr>
          <a:xfrm>
            <a:off x="431999" y="1055715"/>
            <a:ext cx="11031252" cy="5221528"/>
          </a:xfrm>
        </p:spPr>
        <p:txBody>
          <a:bodyPr>
            <a:normAutofit/>
          </a:bodyPr>
          <a:lstStyle/>
          <a:p>
            <a:pPr marL="0" indent="0">
              <a:buNone/>
            </a:pPr>
            <a:r>
              <a:rPr lang="ru-RU" sz="2600" dirty="0"/>
              <a:t>Поиск и анализ дефектов без разрушения объекта исследования</a:t>
            </a:r>
          </a:p>
          <a:p>
            <a:pPr marL="0" indent="0">
              <a:buNone/>
            </a:pPr>
            <a:r>
              <a:rPr lang="ru-RU" sz="2600" dirty="0"/>
              <a:t> Автоматизированный поиск дефектов по изображениям</a:t>
            </a:r>
          </a:p>
          <a:p>
            <a:pPr marL="0" indent="0">
              <a:buNone/>
            </a:pPr>
            <a:r>
              <a:rPr lang="ru-RU" sz="2600" dirty="0"/>
              <a:t>Пример – автоматический поиск трещин в асфальте по ИК изображениям</a:t>
            </a:r>
          </a:p>
          <a:p>
            <a:pPr marL="0" indent="0">
              <a:buNone/>
            </a:pPr>
            <a:endParaRPr lang="ru-RU" sz="2600" dirty="0"/>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47</a:t>
            </a:fld>
            <a:endParaRPr lang="ru-RU" noProof="0" dirty="0"/>
          </a:p>
        </p:txBody>
      </p:sp>
      <p:pic>
        <p:nvPicPr>
          <p:cNvPr id="8" name="Picture 6" descr="asphal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689" y="2648027"/>
            <a:ext cx="10057077" cy="3813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636066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a:xfrm>
            <a:off x="431999" y="432000"/>
            <a:ext cx="9335455" cy="432000"/>
          </a:xfrm>
        </p:spPr>
        <p:txBody>
          <a:bodyPr>
            <a:normAutofit fontScale="90000"/>
          </a:bodyPr>
          <a:lstStyle/>
          <a:p>
            <a:r>
              <a:rPr lang="ru-RU" altLang="ru-RU" dirty="0"/>
              <a:t>Анализ движущихся объектов в видео</a:t>
            </a:r>
            <a:endParaRPr lang="ru-RU" dirty="0"/>
          </a:p>
        </p:txBody>
      </p:sp>
      <p:sp>
        <p:nvSpPr>
          <p:cNvPr id="5" name="Объект 4"/>
          <p:cNvSpPr>
            <a:spLocks noGrp="1"/>
          </p:cNvSpPr>
          <p:nvPr>
            <p:ph sz="half" idx="1"/>
          </p:nvPr>
        </p:nvSpPr>
        <p:spPr>
          <a:xfrm>
            <a:off x="431999" y="1055715"/>
            <a:ext cx="11031252" cy="5221528"/>
          </a:xfrm>
        </p:spPr>
        <p:txBody>
          <a:bodyPr>
            <a:normAutofit/>
          </a:bodyPr>
          <a:lstStyle/>
          <a:p>
            <a:pPr marL="0" indent="0">
              <a:buNone/>
            </a:pPr>
            <a:r>
              <a:rPr lang="ru-RU" sz="2600" dirty="0"/>
              <a:t>Обнаружение изменяющихся областей видео</a:t>
            </a:r>
            <a:r>
              <a:rPr lang="ru-RU" sz="2600" dirty="0" smtClean="0"/>
              <a:t>, анализ </a:t>
            </a:r>
            <a:r>
              <a:rPr lang="ru-RU" sz="2600" dirty="0"/>
              <a:t>их формы и динамики изменения </a:t>
            </a:r>
            <a:r>
              <a:rPr lang="ru-RU" sz="2600" dirty="0" smtClean="0"/>
              <a:t>(</a:t>
            </a:r>
            <a:r>
              <a:rPr lang="ru-RU" sz="2600" dirty="0"/>
              <a:t>обычно для систем безопасности)</a:t>
            </a:r>
          </a:p>
          <a:p>
            <a:pPr marL="0" indent="0">
              <a:buNone/>
            </a:pPr>
            <a:endParaRPr lang="ru-RU" sz="2600" dirty="0"/>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48</a:t>
            </a:fld>
            <a:endParaRPr lang="ru-RU" noProof="0" dirty="0"/>
          </a:p>
        </p:txBody>
      </p:sp>
      <p:pic>
        <p:nvPicPr>
          <p:cNvPr id="7" name="Picture 5" descr="image10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7417" y="2137120"/>
            <a:ext cx="4136678" cy="3058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6" descr="image1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0422" y="2135049"/>
            <a:ext cx="4139479" cy="3060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432239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a:xfrm>
            <a:off x="432000" y="432000"/>
            <a:ext cx="10723680" cy="432000"/>
          </a:xfrm>
        </p:spPr>
        <p:txBody>
          <a:bodyPr>
            <a:normAutofit fontScale="90000"/>
          </a:bodyPr>
          <a:lstStyle/>
          <a:p>
            <a:r>
              <a:rPr lang="ru-RU" altLang="ru-RU" dirty="0"/>
              <a:t>Поиск специальных объектов (маркеров)</a:t>
            </a:r>
            <a:endParaRPr lang="ru-RU" dirty="0"/>
          </a:p>
        </p:txBody>
      </p:sp>
      <p:sp>
        <p:nvSpPr>
          <p:cNvPr id="5" name="Объект 4"/>
          <p:cNvSpPr>
            <a:spLocks noGrp="1"/>
          </p:cNvSpPr>
          <p:nvPr>
            <p:ph sz="half" idx="1"/>
          </p:nvPr>
        </p:nvSpPr>
        <p:spPr>
          <a:xfrm>
            <a:off x="431999" y="1055715"/>
            <a:ext cx="4528190" cy="5221528"/>
          </a:xfrm>
        </p:spPr>
        <p:txBody>
          <a:bodyPr>
            <a:normAutofit/>
          </a:bodyPr>
          <a:lstStyle/>
          <a:p>
            <a:pPr marL="0" indent="0">
              <a:buNone/>
            </a:pPr>
            <a:r>
              <a:rPr lang="ru-RU" sz="2600" dirty="0"/>
              <a:t>Для решения ряда задач требуется обнаружение специальных маркеров на изображении:</a:t>
            </a:r>
          </a:p>
          <a:p>
            <a:r>
              <a:rPr lang="ru-RU" sz="2600" dirty="0"/>
              <a:t> дорожные знаки, </a:t>
            </a:r>
            <a:endParaRPr lang="ru-RU" sz="2600" dirty="0" smtClean="0"/>
          </a:p>
          <a:p>
            <a:r>
              <a:rPr lang="ru-RU" sz="2600" dirty="0" smtClean="0"/>
              <a:t>дорожная разметка,</a:t>
            </a:r>
            <a:endParaRPr lang="ru-RU" sz="2600" dirty="0"/>
          </a:p>
          <a:p>
            <a:r>
              <a:rPr lang="ru-RU" sz="2600" dirty="0"/>
              <a:t> объект для калибровки камеры</a:t>
            </a:r>
          </a:p>
          <a:p>
            <a:pPr marL="0" indent="0">
              <a:buNone/>
            </a:pPr>
            <a:endParaRPr lang="ru-RU" sz="2600" dirty="0"/>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49</a:t>
            </a:fld>
            <a:endParaRPr lang="ru-RU" noProof="0" dirty="0"/>
          </a:p>
        </p:txBody>
      </p:sp>
      <p:pic>
        <p:nvPicPr>
          <p:cNvPr id="7" name="Picture 5" descr="c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71210" y="1055715"/>
            <a:ext cx="2939791" cy="2191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6" descr="c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08152" y="1071706"/>
            <a:ext cx="2942284" cy="2194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7" descr="c_res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71210" y="3592457"/>
            <a:ext cx="2939791" cy="2191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8" descr="c_res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51591" y="3592458"/>
            <a:ext cx="2939791" cy="2191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848542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a:xfrm>
            <a:off x="431999" y="432000"/>
            <a:ext cx="10923185" cy="432000"/>
          </a:xfrm>
        </p:spPr>
        <p:txBody>
          <a:bodyPr>
            <a:normAutofit fontScale="90000"/>
          </a:bodyPr>
          <a:lstStyle/>
          <a:p>
            <a:r>
              <a:rPr lang="ru-RU" altLang="ru-RU" dirty="0"/>
              <a:t>Обнаружение естественных объектов</a:t>
            </a:r>
            <a:endParaRPr lang="ru-RU" dirty="0"/>
          </a:p>
        </p:txBody>
      </p:sp>
      <p:sp>
        <p:nvSpPr>
          <p:cNvPr id="5" name="Объект 4"/>
          <p:cNvSpPr>
            <a:spLocks noGrp="1"/>
          </p:cNvSpPr>
          <p:nvPr>
            <p:ph sz="half" idx="1"/>
          </p:nvPr>
        </p:nvSpPr>
        <p:spPr>
          <a:xfrm>
            <a:off x="431999" y="1055715"/>
            <a:ext cx="6589903" cy="5221528"/>
          </a:xfrm>
        </p:spPr>
        <p:txBody>
          <a:bodyPr>
            <a:normAutofit/>
          </a:bodyPr>
          <a:lstStyle/>
          <a:p>
            <a:pPr marL="0" indent="0">
              <a:buNone/>
            </a:pPr>
            <a:r>
              <a:rPr lang="ru-RU" sz="2600" dirty="0"/>
              <a:t>Примеры:</a:t>
            </a:r>
          </a:p>
          <a:p>
            <a:r>
              <a:rPr lang="ru-RU" sz="2600" dirty="0"/>
              <a:t> Обнаружение лиц</a:t>
            </a:r>
          </a:p>
          <a:p>
            <a:r>
              <a:rPr lang="ru-RU" sz="2600" dirty="0"/>
              <a:t> Обнаружение красных глаз на фото (для коррекции)</a:t>
            </a:r>
          </a:p>
          <a:p>
            <a:r>
              <a:rPr lang="ru-RU" sz="2600" dirty="0"/>
              <a:t> Обнаружение антропометрических точек лица</a:t>
            </a:r>
          </a:p>
          <a:p>
            <a:pPr marL="0" indent="0">
              <a:buNone/>
            </a:pPr>
            <a:endParaRPr lang="ru-RU" sz="2600" dirty="0"/>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50</a:t>
            </a:fld>
            <a:endParaRPr lang="ru-RU" noProof="0" dirty="0"/>
          </a:p>
        </p:txBody>
      </p:sp>
      <p:pic>
        <p:nvPicPr>
          <p:cNvPr id="7" name="Picture 5" descr="ex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15097" y="1236017"/>
            <a:ext cx="3240087" cy="243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682216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a:xfrm>
            <a:off x="431999" y="432000"/>
            <a:ext cx="10923185" cy="432000"/>
          </a:xfrm>
        </p:spPr>
        <p:txBody>
          <a:bodyPr>
            <a:normAutofit fontScale="90000"/>
          </a:bodyPr>
          <a:lstStyle/>
          <a:p>
            <a:r>
              <a:rPr lang="ru-RU" altLang="ru-RU" dirty="0"/>
              <a:t>Обнаружение естественных объектов</a:t>
            </a:r>
            <a:endParaRPr lang="ru-RU" dirty="0"/>
          </a:p>
        </p:txBody>
      </p:sp>
      <p:sp>
        <p:nvSpPr>
          <p:cNvPr id="5" name="Объект 4"/>
          <p:cNvSpPr>
            <a:spLocks noGrp="1"/>
          </p:cNvSpPr>
          <p:nvPr>
            <p:ph sz="half" idx="1"/>
          </p:nvPr>
        </p:nvSpPr>
        <p:spPr>
          <a:xfrm>
            <a:off x="431999" y="1055715"/>
            <a:ext cx="11031252" cy="5221528"/>
          </a:xfrm>
        </p:spPr>
        <p:txBody>
          <a:bodyPr>
            <a:normAutofit/>
          </a:bodyPr>
          <a:lstStyle/>
          <a:p>
            <a:pPr marL="0" indent="0">
              <a:buNone/>
            </a:pPr>
            <a:r>
              <a:rPr lang="ru-RU" sz="2600" dirty="0"/>
              <a:t>Примеры:</a:t>
            </a:r>
          </a:p>
          <a:p>
            <a:r>
              <a:rPr lang="ru-RU" sz="2600" dirty="0"/>
              <a:t> Обнаружение лиц</a:t>
            </a:r>
          </a:p>
          <a:p>
            <a:r>
              <a:rPr lang="ru-RU" sz="2600" dirty="0"/>
              <a:t> Обнаружение красных глаз на фото (для коррекции)</a:t>
            </a:r>
          </a:p>
          <a:p>
            <a:r>
              <a:rPr lang="ru-RU" sz="2600" dirty="0"/>
              <a:t> Обнаружение антропометрических точек лица</a:t>
            </a:r>
          </a:p>
          <a:p>
            <a:pPr marL="0" indent="0">
              <a:buNone/>
            </a:pPr>
            <a:endParaRPr lang="ru-RU" sz="2600" dirty="0"/>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51</a:t>
            </a:fld>
            <a:endParaRPr lang="ru-RU" noProof="0" dirty="0"/>
          </a:p>
        </p:txBody>
      </p:sp>
      <p:pic>
        <p:nvPicPr>
          <p:cNvPr id="8" name="Picture 5" descr="picture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9966" y="3278909"/>
            <a:ext cx="2166938" cy="275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6" descr="picture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6629" y="3278909"/>
            <a:ext cx="2100262" cy="274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7" descr="picture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7579" y="3278909"/>
            <a:ext cx="2146300" cy="2763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293361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a:xfrm>
            <a:off x="431999" y="432000"/>
            <a:ext cx="10923185" cy="432000"/>
          </a:xfrm>
        </p:spPr>
        <p:txBody>
          <a:bodyPr>
            <a:normAutofit fontScale="90000"/>
          </a:bodyPr>
          <a:lstStyle/>
          <a:p>
            <a:r>
              <a:rPr lang="ru-RU" altLang="ru-RU" dirty="0"/>
              <a:t>Обнаружение естественных объектов</a:t>
            </a:r>
            <a:endParaRPr lang="ru-RU" dirty="0"/>
          </a:p>
        </p:txBody>
      </p:sp>
      <p:sp>
        <p:nvSpPr>
          <p:cNvPr id="5" name="Объект 4"/>
          <p:cNvSpPr>
            <a:spLocks noGrp="1"/>
          </p:cNvSpPr>
          <p:nvPr>
            <p:ph sz="half" idx="1"/>
          </p:nvPr>
        </p:nvSpPr>
        <p:spPr>
          <a:xfrm>
            <a:off x="431999" y="1055715"/>
            <a:ext cx="11031252" cy="5221528"/>
          </a:xfrm>
        </p:spPr>
        <p:txBody>
          <a:bodyPr>
            <a:normAutofit/>
          </a:bodyPr>
          <a:lstStyle/>
          <a:p>
            <a:pPr marL="0" indent="0">
              <a:buNone/>
            </a:pPr>
            <a:r>
              <a:rPr lang="ru-RU" sz="2600" dirty="0"/>
              <a:t>Примеры:</a:t>
            </a:r>
          </a:p>
          <a:p>
            <a:r>
              <a:rPr lang="ru-RU" sz="2600" dirty="0"/>
              <a:t> Обнаружение лиц</a:t>
            </a:r>
          </a:p>
          <a:p>
            <a:r>
              <a:rPr lang="ru-RU" sz="2600" dirty="0"/>
              <a:t> Обнаружение красных глаз на фото (для коррекции)</a:t>
            </a:r>
          </a:p>
          <a:p>
            <a:r>
              <a:rPr lang="ru-RU" sz="2600" dirty="0"/>
              <a:t> Обнаружение антропометрических точек лица</a:t>
            </a:r>
          </a:p>
          <a:p>
            <a:pPr marL="0" indent="0">
              <a:buNone/>
            </a:pPr>
            <a:endParaRPr lang="ru-RU" sz="2600" dirty="0"/>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52</a:t>
            </a:fld>
            <a:endParaRPr lang="ru-RU" noProof="0" dirty="0"/>
          </a:p>
        </p:txBody>
      </p:sp>
      <p:pic>
        <p:nvPicPr>
          <p:cNvPr id="8" name="Picture 5" descr="features_bi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4465" y="3303483"/>
            <a:ext cx="4870450" cy="316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6" descr="model_img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3863" y="3303483"/>
            <a:ext cx="3714029" cy="3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430445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a:xfrm>
            <a:off x="431999" y="432000"/>
            <a:ext cx="10923185" cy="432000"/>
          </a:xfrm>
        </p:spPr>
        <p:txBody>
          <a:bodyPr>
            <a:normAutofit fontScale="90000"/>
          </a:bodyPr>
          <a:lstStyle/>
          <a:p>
            <a:r>
              <a:rPr lang="ru-RU" altLang="ru-RU" dirty="0"/>
              <a:t>Анализ спутниковых снимков</a:t>
            </a:r>
            <a:endParaRPr lang="ru-RU" dirty="0"/>
          </a:p>
        </p:txBody>
      </p:sp>
      <p:sp>
        <p:nvSpPr>
          <p:cNvPr id="5" name="Объект 4"/>
          <p:cNvSpPr>
            <a:spLocks noGrp="1"/>
          </p:cNvSpPr>
          <p:nvPr>
            <p:ph sz="half" idx="1"/>
          </p:nvPr>
        </p:nvSpPr>
        <p:spPr>
          <a:xfrm>
            <a:off x="431999" y="1055715"/>
            <a:ext cx="5166544" cy="5221528"/>
          </a:xfrm>
        </p:spPr>
        <p:txBody>
          <a:bodyPr>
            <a:normAutofit/>
          </a:bodyPr>
          <a:lstStyle/>
          <a:p>
            <a:pPr marL="0" indent="0">
              <a:buNone/>
            </a:pPr>
            <a:r>
              <a:rPr lang="ru-RU" sz="2600" dirty="0"/>
              <a:t>Погода</a:t>
            </a:r>
          </a:p>
          <a:p>
            <a:pPr marL="0" indent="0">
              <a:buNone/>
            </a:pPr>
            <a:r>
              <a:rPr lang="ru-RU" sz="2600" dirty="0"/>
              <a:t> Геологические процессы (напр. таяние ледников)</a:t>
            </a:r>
          </a:p>
          <a:p>
            <a:pPr marL="0" indent="0">
              <a:buNone/>
            </a:pPr>
            <a:r>
              <a:rPr lang="ru-RU" sz="2600" dirty="0"/>
              <a:t> Экология</a:t>
            </a:r>
          </a:p>
          <a:p>
            <a:pPr marL="0" indent="0">
              <a:buNone/>
            </a:pPr>
            <a:endParaRPr lang="ru-RU" sz="2600" dirty="0"/>
          </a:p>
        </p:txBody>
      </p:sp>
      <p:sp>
        <p:nvSpPr>
          <p:cNvPr id="6" name="Номер слайда 5"/>
          <p:cNvSpPr>
            <a:spLocks noGrp="1"/>
          </p:cNvSpPr>
          <p:nvPr>
            <p:ph type="sldNum" sz="quarter" idx="33"/>
          </p:nvPr>
        </p:nvSpPr>
        <p:spPr/>
        <p:txBody>
          <a:bodyPr/>
          <a:lstStyle/>
          <a:p>
            <a:pPr rtl="0"/>
            <a:fld id="{19B51A1E-902D-48AF-9020-955120F399B6}" type="slidenum">
              <a:rPr lang="ru-RU" noProof="0" smtClean="0"/>
              <a:pPr rtl="0"/>
              <a:t>53</a:t>
            </a:fld>
            <a:endParaRPr lang="ru-RU" noProof="0" dirty="0"/>
          </a:p>
        </p:txBody>
      </p:sp>
      <p:pic>
        <p:nvPicPr>
          <p:cNvPr id="8" name="Picture 5" descr="indonesia_satellite_da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90689" y="534838"/>
            <a:ext cx="5620465" cy="5836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67781733"/>
      </p:ext>
    </p:extLst>
  </p:cSld>
  <p:clrMapOvr>
    <a:masterClrMapping/>
  </p:clrMapOvr>
</p:sld>
</file>

<file path=ppt/theme/theme1.xml><?xml version="1.0" encoding="utf-8"?>
<a:theme xmlns:a="http://schemas.openxmlformats.org/drawingml/2006/main" name="Сине-зеленые полосы (16:9)">
  <a:themeElements>
    <a:clrScheme name="Banded_Design_Teal">
      <a:dk1>
        <a:srgbClr val="363D3D"/>
      </a:dk1>
      <a:lt1>
        <a:sysClr val="window" lastClr="FFFFFF"/>
      </a:lt1>
      <a:dk2>
        <a:srgbClr val="000000"/>
      </a:dk2>
      <a:lt2>
        <a:srgbClr val="E5E8E8"/>
      </a:lt2>
      <a:accent1>
        <a:srgbClr val="3AAFB2"/>
      </a:accent1>
      <a:accent2>
        <a:srgbClr val="6ABD45"/>
      </a:accent2>
      <a:accent3>
        <a:srgbClr val="EBCA21"/>
      </a:accent3>
      <a:accent4>
        <a:srgbClr val="EB8D21"/>
      </a:accent4>
      <a:accent5>
        <a:srgbClr val="EB5638"/>
      </a:accent5>
      <a:accent6>
        <a:srgbClr val="5172B1"/>
      </a:accent6>
      <a:hlink>
        <a:srgbClr val="3A9CDB"/>
      </a:hlink>
      <a:folHlink>
        <a:srgbClr val="5172B1"/>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13247022_TF02895254.potx" id="{198CF2A0-90BF-459D-9533-A31A2DA98B2D}" vid="{4210E57F-7762-4228-BD18-F5500C92346E}"/>
    </a:ext>
  </a:extLst>
</a:theme>
</file>

<file path=ppt/theme/theme2.xml><?xml version="1.0" encoding="utf-8"?>
<a:theme xmlns:a="http://schemas.openxmlformats.org/drawingml/2006/main" name="Тема Office">
  <a:themeElements>
    <a:clrScheme name="Banded_Design_Teal">
      <a:dk1>
        <a:srgbClr val="363D3D"/>
      </a:dk1>
      <a:lt1>
        <a:sysClr val="window" lastClr="FFFFFF"/>
      </a:lt1>
      <a:dk2>
        <a:srgbClr val="000000"/>
      </a:dk2>
      <a:lt2>
        <a:srgbClr val="E5E8E8"/>
      </a:lt2>
      <a:accent1>
        <a:srgbClr val="3AAFB2"/>
      </a:accent1>
      <a:accent2>
        <a:srgbClr val="6ABD45"/>
      </a:accent2>
      <a:accent3>
        <a:srgbClr val="EBCA21"/>
      </a:accent3>
      <a:accent4>
        <a:srgbClr val="EB8D21"/>
      </a:accent4>
      <a:accent5>
        <a:srgbClr val="EB5638"/>
      </a:accent5>
      <a:accent6>
        <a:srgbClr val="5172B1"/>
      </a:accent6>
      <a:hlink>
        <a:srgbClr val="3A9CDB"/>
      </a:hlink>
      <a:folHlink>
        <a:srgbClr val="5172B1"/>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Тема Office">
  <a:themeElements>
    <a:clrScheme name="Banded_Design_Teal">
      <a:dk1>
        <a:srgbClr val="363D3D"/>
      </a:dk1>
      <a:lt1>
        <a:sysClr val="window" lastClr="FFFFFF"/>
      </a:lt1>
      <a:dk2>
        <a:srgbClr val="000000"/>
      </a:dk2>
      <a:lt2>
        <a:srgbClr val="E5E8E8"/>
      </a:lt2>
      <a:accent1>
        <a:srgbClr val="3AAFB2"/>
      </a:accent1>
      <a:accent2>
        <a:srgbClr val="6ABD45"/>
      </a:accent2>
      <a:accent3>
        <a:srgbClr val="EBCA21"/>
      </a:accent3>
      <a:accent4>
        <a:srgbClr val="EB8D21"/>
      </a:accent4>
      <a:accent5>
        <a:srgbClr val="EB5638"/>
      </a:accent5>
      <a:accent6>
        <a:srgbClr val="5172B1"/>
      </a:accent6>
      <a:hlink>
        <a:srgbClr val="3A9CDB"/>
      </a:hlink>
      <a:folHlink>
        <a:srgbClr val="5172B1"/>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VSO_x0020_item_x0020_id xmlns="40262f94-9f35-4ac3-9a90-690165a166b7" xsi:nil="true"/>
    <Assetid_x0020_ xmlns="40262f94-9f35-4ac3-9a90-690165a166b7" xsi:nil="true"/>
    <Item_x0020_Details xmlns="40262f94-9f35-4ac3-9a90-690165a166b7" xsi:nil="true"/>
    <Template_x0020_details xmlns="40262f94-9f35-4ac3-9a90-690165a166b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A3F7D94069FF64A86F7DFF56D60E3BE" ma:contentTypeVersion="6" ma:contentTypeDescription="Create a new document." ma:contentTypeScope="" ma:versionID="c32302c77d4085ecf495bdddb7f5e889">
  <xsd:schema xmlns:xsd="http://www.w3.org/2001/XMLSchema" xmlns:xs="http://www.w3.org/2001/XMLSchema" xmlns:p="http://schemas.microsoft.com/office/2006/metadata/properties" xmlns:ns2="a4f35948-e619-41b3-aa29-22878b09cfd2" xmlns:ns3="40262f94-9f35-4ac3-9a90-690165a166b7" targetNamespace="http://schemas.microsoft.com/office/2006/metadata/properties" ma:root="true" ma:fieldsID="4ab5ae46be95f9d0be6107e8200be7a2" ns2:_="" ns3:_="">
    <xsd:import namespace="a4f35948-e619-41b3-aa29-22878b09cfd2"/>
    <xsd:import namespace="40262f94-9f35-4ac3-9a90-690165a166b7"/>
    <xsd:element name="properties">
      <xsd:complexType>
        <xsd:sequence>
          <xsd:element name="documentManagement">
            <xsd:complexType>
              <xsd:all>
                <xsd:element ref="ns2:SharedWithUsers" minOccurs="0"/>
                <xsd:element ref="ns2:SharedWithDetails" minOccurs="0"/>
                <xsd:element ref="ns3:VSO_x0020_item_x0020_id" minOccurs="0"/>
                <xsd:element ref="ns3:Item_x0020_Details" minOccurs="0"/>
                <xsd:element ref="ns3:Template_x0020_details" minOccurs="0"/>
                <xsd:element ref="ns3:Assetid_x0020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f35948-e619-41b3-aa29-22878b09cfd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0262f94-9f35-4ac3-9a90-690165a166b7" elementFormDefault="qualified">
    <xsd:import namespace="http://schemas.microsoft.com/office/2006/documentManagement/types"/>
    <xsd:import namespace="http://schemas.microsoft.com/office/infopath/2007/PartnerControls"/>
    <xsd:element name="VSO_x0020_item_x0020_id" ma:index="10" nillable="true" ma:displayName="VSO item id" ma:description="Please add the bug number to refer to VSO items." ma:internalName="VSO_x0020_item_x0020_id">
      <xsd:simpleType>
        <xsd:restriction base="dms:Text">
          <xsd:maxLength value="255"/>
        </xsd:restriction>
      </xsd:simpleType>
    </xsd:element>
    <xsd:element name="Item_x0020_Details" ma:index="11" nillable="true" ma:displayName="Item Details" ma:internalName="Item_x0020_Details">
      <xsd:simpleType>
        <xsd:restriction base="dms:Note">
          <xsd:maxLength value="255"/>
        </xsd:restriction>
      </xsd:simpleType>
    </xsd:element>
    <xsd:element name="Template_x0020_details" ma:index="12" nillable="true" ma:displayName="Template details" ma:internalName="Template_x0020_details">
      <xsd:simpleType>
        <xsd:restriction base="dms:Text"/>
      </xsd:simpleType>
    </xsd:element>
    <xsd:element name="Assetid_x0020_" ma:index="13" nillable="true" ma:displayName="Assetid " ma:internalName="Assetid_x0020_">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0B0D886-CB8D-4564-A797-C05BC7D513A8}">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40262f94-9f35-4ac3-9a90-690165a166b7"/>
    <ds:schemaRef ds:uri="a4f35948-e619-41b3-aa29-22878b09cfd2"/>
    <ds:schemaRef ds:uri="http://www.w3.org/XML/1998/namespace"/>
    <ds:schemaRef ds:uri="http://purl.org/dc/dcmitype/"/>
  </ds:schemaRefs>
</ds:datastoreItem>
</file>

<file path=customXml/itemProps2.xml><?xml version="1.0" encoding="utf-8"?>
<ds:datastoreItem xmlns:ds="http://schemas.openxmlformats.org/officeDocument/2006/customXml" ds:itemID="{FAC2023F-644C-4F7E-8E8C-CDBE4A63C7D1}">
  <ds:schemaRefs>
    <ds:schemaRef ds:uri="http://schemas.microsoft.com/sharepoint/v3/contenttype/forms"/>
  </ds:schemaRefs>
</ds:datastoreItem>
</file>

<file path=customXml/itemProps3.xml><?xml version="1.0" encoding="utf-8"?>
<ds:datastoreItem xmlns:ds="http://schemas.openxmlformats.org/officeDocument/2006/customXml" ds:itemID="{ED65A2C9-CB67-4F36-A412-EEC1AD297F3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f35948-e619-41b3-aa29-22878b09cfd2"/>
    <ds:schemaRef ds:uri="40262f94-9f35-4ac3-9a90-690165a166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Презентация с сине-зеленой каймой (широкоэкранный формат)</Template>
  <TotalTime>219</TotalTime>
  <Words>3691</Words>
  <Application>Microsoft Office PowerPoint</Application>
  <PresentationFormat>Широкоэкранный</PresentationFormat>
  <Paragraphs>217</Paragraphs>
  <Slides>53</Slides>
  <Notes>2</Notes>
  <HiddenSlides>0</HiddenSlides>
  <MMClips>0</MMClips>
  <ScaleCrop>false</ScaleCrop>
  <HeadingPairs>
    <vt:vector size="8" baseType="variant">
      <vt:variant>
        <vt:lpstr>Использованные шрифты</vt:lpstr>
      </vt:variant>
      <vt:variant>
        <vt:i4>5</vt:i4>
      </vt:variant>
      <vt:variant>
        <vt:lpstr>Тема</vt:lpstr>
      </vt:variant>
      <vt:variant>
        <vt:i4>1</vt:i4>
      </vt:variant>
      <vt:variant>
        <vt:lpstr>Внедренные серверы OLE</vt:lpstr>
      </vt:variant>
      <vt:variant>
        <vt:i4>1</vt:i4>
      </vt:variant>
      <vt:variant>
        <vt:lpstr>Заголовки слайдов</vt:lpstr>
      </vt:variant>
      <vt:variant>
        <vt:i4>53</vt:i4>
      </vt:variant>
    </vt:vector>
  </HeadingPairs>
  <TitlesOfParts>
    <vt:vector size="60" baseType="lpstr">
      <vt:lpstr>Arial</vt:lpstr>
      <vt:lpstr>Calibri</vt:lpstr>
      <vt:lpstr>Cambria Math</vt:lpstr>
      <vt:lpstr>Tahoma</vt:lpstr>
      <vt:lpstr>Times New Roman</vt:lpstr>
      <vt:lpstr>Сине-зеленые полосы (16:9)</vt:lpstr>
      <vt:lpstr>Image</vt:lpstr>
      <vt:lpstr>Компьютерные изображения</vt:lpstr>
      <vt:lpstr>Добавим еще определений</vt:lpstr>
      <vt:lpstr>Изображение</vt:lpstr>
      <vt:lpstr>Презентация PowerPoint</vt:lpstr>
      <vt:lpstr>Пиксель как элемент изображения</vt:lpstr>
      <vt:lpstr>Пиксель как элемент изображения</vt:lpstr>
      <vt:lpstr>Дискретизация изображения</vt:lpstr>
      <vt:lpstr>Дискретизация изображения</vt:lpstr>
      <vt:lpstr>Каналы изображения</vt:lpstr>
      <vt:lpstr>Каналы изображения</vt:lpstr>
      <vt:lpstr>Полутоновое и цветное изображение</vt:lpstr>
      <vt:lpstr>Полутоновое и цветное изображение</vt:lpstr>
      <vt:lpstr>Глубина цвета</vt:lpstr>
      <vt:lpstr>Разрешение изображения</vt:lpstr>
      <vt:lpstr>Объём данных изображения</vt:lpstr>
      <vt:lpstr>Векторные и растровые изображения</vt:lpstr>
      <vt:lpstr>Векторные и растровые изображения</vt:lpstr>
      <vt:lpstr>Векторные и растровые изображения</vt:lpstr>
      <vt:lpstr>Связность </vt:lpstr>
      <vt:lpstr>Типы изображений</vt:lpstr>
      <vt:lpstr>Палитровые и беспалитровые изображения</vt:lpstr>
      <vt:lpstr>Изображения в компьютере</vt:lpstr>
      <vt:lpstr>История видеоадаптеров</vt:lpstr>
      <vt:lpstr>История видеоадаптеров</vt:lpstr>
      <vt:lpstr>История видеоадаптеров</vt:lpstr>
      <vt:lpstr>История видеоадаптеров</vt:lpstr>
      <vt:lpstr>История видеоадаптеров</vt:lpstr>
      <vt:lpstr>История видеоадаптеров</vt:lpstr>
      <vt:lpstr>Что менялось в видеоадаптерах</vt:lpstr>
      <vt:lpstr>Что менялось в видеоадаптерах</vt:lpstr>
      <vt:lpstr>История мониторов</vt:lpstr>
      <vt:lpstr>История мониторов</vt:lpstr>
      <vt:lpstr>Недостатки векторных мониторов</vt:lpstr>
      <vt:lpstr>История мониторов</vt:lpstr>
      <vt:lpstr>История мониторов</vt:lpstr>
      <vt:lpstr>Современный экран как матрица пикселей</vt:lpstr>
      <vt:lpstr>Современный экран как матрица пикселей</vt:lpstr>
      <vt:lpstr>Обработка изображений</vt:lpstr>
      <vt:lpstr>Презентация PowerPoint</vt:lpstr>
      <vt:lpstr>Презентация PowerPoint</vt:lpstr>
      <vt:lpstr>Презентация PowerPoint</vt:lpstr>
      <vt:lpstr>Презентация PowerPoint</vt:lpstr>
      <vt:lpstr>Презентация PowerPoint</vt:lpstr>
      <vt:lpstr>Распознавание образов</vt:lpstr>
      <vt:lpstr>Презентация PowerPoint</vt:lpstr>
      <vt:lpstr>Медицинские приложения</vt:lpstr>
      <vt:lpstr>Неразрушающая диагностика</vt:lpstr>
      <vt:lpstr>Анализ движущихся объектов в видео</vt:lpstr>
      <vt:lpstr>Поиск специальных объектов (маркеров)</vt:lpstr>
      <vt:lpstr>Обнаружение естественных объектов</vt:lpstr>
      <vt:lpstr>Обнаружение естественных объектов</vt:lpstr>
      <vt:lpstr>Обнаружение естественных объектов</vt:lpstr>
      <vt:lpstr>Анализ спутниковых снимков</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Макет заголовка</dc:title>
  <dc:creator>Сергей Н. Ткаченко</dc:creator>
  <cp:lastModifiedBy>Сергей Н. Ткаченко</cp:lastModifiedBy>
  <cp:revision>41</cp:revision>
  <dcterms:created xsi:type="dcterms:W3CDTF">2026-07-22T14:53:45Z</dcterms:created>
  <dcterms:modified xsi:type="dcterms:W3CDTF">2026-07-23T13:00:15Z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0x010100AA3F7D94069FF64A86F7DFF56D60E3BE</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
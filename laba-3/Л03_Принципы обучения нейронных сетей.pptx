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56" r:id="rId5"/>
    <p:sldId id="273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2" r:id="rId17"/>
    <p:sldId id="383" r:id="rId18"/>
    <p:sldId id="384" r:id="rId19"/>
    <p:sldId id="385" r:id="rId20"/>
    <p:sldId id="386" r:id="rId21"/>
    <p:sldId id="395" r:id="rId22"/>
    <p:sldId id="396" r:id="rId23"/>
    <p:sldId id="399" r:id="rId24"/>
    <p:sldId id="400" r:id="rId25"/>
    <p:sldId id="401" r:id="rId26"/>
    <p:sldId id="402" r:id="rId27"/>
    <p:sldId id="403" r:id="rId28"/>
    <p:sldId id="397" r:id="rId29"/>
    <p:sldId id="408" r:id="rId30"/>
    <p:sldId id="391" r:id="rId31"/>
    <p:sldId id="394" r:id="rId32"/>
    <p:sldId id="388" r:id="rId33"/>
    <p:sldId id="404" r:id="rId34"/>
    <p:sldId id="405" r:id="rId35"/>
    <p:sldId id="406" r:id="rId36"/>
    <p:sldId id="409" r:id="rId37"/>
    <p:sldId id="410" r:id="rId38"/>
    <p:sldId id="411" r:id="rId39"/>
    <p:sldId id="407" r:id="rId40"/>
    <p:sldId id="412" r:id="rId41"/>
    <p:sldId id="413" r:id="rId42"/>
    <p:sldId id="414" r:id="rId4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294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79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6E5D075-ABA8-4C7E-84CB-BCB64A05DF7B}" type="datetime1">
              <a:rPr lang="ru-RU" smtClean="0"/>
              <a:t>23.07.2026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BAE14B8-3CC9-472D-9BC5-A84D80684DE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36B297E-E64E-45A1-B633-5E623F46F5D1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B667E1-E601-4AAF-B95C-B25720D70A60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ru-RU" noProof="0" smtClean="0"/>
              <a:t>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75291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ru-RU" noProof="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7487" y="467360"/>
            <a:ext cx="10579693" cy="549590"/>
          </a:xfrm>
        </p:spPr>
        <p:txBody>
          <a:bodyPr rtlCol="0"/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14" y="1179320"/>
            <a:ext cx="11058258" cy="4850259"/>
          </a:xfrm>
        </p:spPr>
        <p:txBody>
          <a:bodyPr rtlCol="0"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</a:lstStyle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75F84F-F23A-4559-8AD5-0957D7B63ED4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A8351B-C5B2-4962-9672-191E18DBB102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типа объе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532498"/>
          </a:xfrm>
        </p:spPr>
        <p:txBody>
          <a:bodyPr rtlCol="0"/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25883A-FDC3-4CD9-95EB-A5983C2ACA0E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D06EF73-9DB8-4763-865F-2F88181A473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515406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802A47-3994-4721-BB8C-5D1988D6D667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541044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016468-5B71-45B9-A742-593D86E67B80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C9301C-4F5A-41D7-B5DF-F74C403F3355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6585C5-E142-42DC-8E17-9800035DFB5C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требуется добавить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2A3B7-AF95-41C1-A6AB-C19ED7F5464C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523952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C48E98-A324-45B5-B75E-58518888E80F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86FC24-964D-46E1-9401-22426D49172E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5752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875776" y="6614000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fld id="{8A5C2E86-A2F8-4ED0-A740-2D6B3F8A43D6}" type="datetime1">
              <a:rPr lang="ru-RU" noProof="0" smtClean="0"/>
              <a:t>23.07.2026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fld id="{CA8D9AD5-F248-4919-864A-CFD76CC027D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r>
              <a:rPr lang="ru-RU" dirty="0"/>
              <a:t>Принципы обучения нейронных сетей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Лекция №03</a:t>
            </a:r>
          </a:p>
          <a:p>
            <a:r>
              <a:rPr lang="ru-RU" dirty="0"/>
              <a:t>Методы обработки и распознавания изображений</a:t>
            </a:r>
          </a:p>
        </p:txBody>
      </p:sp>
    </p:spTree>
    <p:extLst>
      <p:ext uri="{BB962C8B-B14F-4D97-AF65-F5344CB8AC3E}">
        <p14:creationId xmlns:p14="http://schemas.microsoft.com/office/powerpoint/2010/main" val="32506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Изучение искусственных нейронных сетей (ИНС) сегодня выходит за рамки академического интереса и становится необходимым условием для работы в современной науке, </a:t>
            </a:r>
            <a:r>
              <a:rPr lang="ru-RU" b="1" dirty="0"/>
              <a:t>инженерии</a:t>
            </a:r>
            <a:r>
              <a:rPr lang="ru-RU" dirty="0"/>
              <a:t> и бизнесе. Традиционные алгоритмы программирования требуют явного описания правил «если — то», что эффективно лишь для строго формализованных задач. Реальный мир полон хаоса, шума и многомерных зависимостей, которые невозможно описать набором логических условий. Нейросети предлагают принципиально иной подход: они не программируются, а обучаются на примерах, находя скрытые закономерности там, где </a:t>
            </a:r>
            <a:r>
              <a:rPr lang="ru-RU" dirty="0" smtClean="0"/>
              <a:t>не справляется </a:t>
            </a:r>
            <a:r>
              <a:rPr lang="ru-RU" dirty="0"/>
              <a:t>классическая статистика.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1411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Главное преимущество нейронных сетей заключается в их способности к обучению (</a:t>
            </a:r>
            <a:r>
              <a:rPr lang="ru-RU" i="1" dirty="0" err="1"/>
              <a:t>learning</a:t>
            </a:r>
            <a:r>
              <a:rPr lang="ru-RU" dirty="0"/>
              <a:t>) и последующему обобщению. Технически этот процесс представляет собой оптимизацию — поиск коэффициентов связей (весов) между искусственными нейронами таким образом, чтобы минимизировать ошибку предсказания на обучающей выборке. В отличие от жестких алгоритмов, ИНС способны выявлять сложные, нелинейные зависимости между входными и выходными данными.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4698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Ключевым свойством является способность к </a:t>
            </a:r>
            <a:r>
              <a:rPr lang="ru-RU" i="1" dirty="0"/>
              <a:t>обобщению</a:t>
            </a:r>
            <a:r>
              <a:rPr lang="ru-RU" dirty="0"/>
              <a:t>. Успешно обученная сеть возвращает верный результат не только для тех данных, которые она видела, но и для новых, ранее отсутствовавших в выборке, а также для частично искаженных или зашумленных сигналов. Это позволяет строить системы распознавания речи, понимающие разные акценты, или автопилоты, реагирующие на нестандартную дорожную разметку. Однако эта мощь требует дисциплины: если архитектура сети слишком сложна относительно объема данных, возникает переобучение (</a:t>
            </a:r>
            <a:r>
              <a:rPr lang="ru-RU" i="1" dirty="0" err="1"/>
              <a:t>overfitting</a:t>
            </a:r>
            <a:r>
              <a:rPr lang="ru-RU" dirty="0"/>
              <a:t>). Сеть перестает аппроксимировать общую зависимость и начинает просто запоминать конкретные примеры из базы, теряя работоспособность на практике. Контроль этого баланса через разделение данных на обучающие, тестовые и </a:t>
            </a:r>
            <a:r>
              <a:rPr lang="ru-RU" dirty="0" err="1"/>
              <a:t>валидационные</a:t>
            </a:r>
            <a:r>
              <a:rPr lang="ru-RU" dirty="0"/>
              <a:t> множества — фундаментальная часть изучения ИНС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491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Исторически первой и одной из самых сильных сторон нейросетей является задача численного предсказания, часто называемая регрессией или аппроксимацией функций. Согласно теореме об универсальной аппроксимации, многослойная сеть прямого распространения с одним скрытым слоем и достаточным количеством нейронов способна сколь угодно точно воспроизвести любую непрерывную функцию на замкнутом множестве.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204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Это делает ИНС незаменимыми в прогнозировании временных рядов (курсы валют, потребление электроэнергии), моделировании физических процессов и систем управления. Там, где линейная регрессия бессильна из-за кривизны реальных зависимостей, нейросеть находит оптимальный путь в пространстве параметров. Например, в промышленности это позволяет предсказывать износ оборудования на основе сотен косвенных признаков вибрации и температуры, экономя миллионы на превентивном ремонте. Изучение механизмов активации нейронов и градиентных методов оптимизации необходимо для того, чтобы понимать, как именно модель «сгибает» гиперплоскость решения под форму данных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5938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Хотя аппроксимация была первичной задачей, массовую известность </a:t>
            </a:r>
            <a:r>
              <a:rPr lang="ru-RU" dirty="0" err="1"/>
              <a:t>нейросетям</a:t>
            </a:r>
            <a:r>
              <a:rPr lang="ru-RU" dirty="0"/>
              <a:t> принесла классификация — отнесение объекта к одному из заранее известных классов. Эта область неразрывно связана с концепцией распознавания образов. Человеческий мозг мгновенно узнает лицо в толпе или кошку на фотографии, несмотря на разный ракурс, освещение и фон. Для классического компьютера изображение — это лишь массив чисел, лишенный семантики.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7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5286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Зачем изучать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Нейронные сети решают эту проблему путем иерархической трансформации пространства признаков. Входной слой получает сырые данные (например, яркость пикселей). Первый скрытый слой может научиться находить простые границы и углы. Второй слой объединяет их в примитивы (глаза, колеса, текстуры). Глубокие слои собирают из этих примитивов высокоуровневые концепции. Таким образом, классификация происходит не в исходном двумерном пространстве пикселей, а в абстрактном многомерном пространстве смыслов, созданном самой сетью. Именно поэтому сверточные нейронные сети (</a:t>
            </a:r>
            <a:r>
              <a:rPr lang="ru-RU" i="1" dirty="0"/>
              <a:t>CNN</a:t>
            </a:r>
            <a:r>
              <a:rPr lang="ru-RU" dirty="0"/>
              <a:t>) произвели революцию в компьютерном зрении, обеспечив качественный скачок в точности детекции объектов, сегментации медицинских снимков и биометрической аутентификации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6904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биологии к формальной модели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7697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Биологический нейрон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/>
              <a:t>В мозге человека порядка 20 млрд. нейронов и 300 млрд. нейронных связей</a:t>
            </a:r>
            <a:r>
              <a:rPr lang="ru-RU" dirty="0" smtClean="0"/>
              <a:t>.</a:t>
            </a:r>
          </a:p>
        </p:txBody>
      </p:sp>
      <p:pic>
        <p:nvPicPr>
          <p:cNvPr id="1026" name="Picture 2" descr="http://www.innoros.ru/sites/default/files/news_img/xw_9518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670" y="1866875"/>
            <a:ext cx="68580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501449" y="5825364"/>
            <a:ext cx="6095253" cy="326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762" dirty="0"/>
              <a:t>https://lh3.googleusercontent.com/xWrmnXKn2zYa0j6-CKS_R5rLFEdnfA09DRcfVdF4BYgKM-8dootWcwVnmHgOpf96tbsjrzRdANNMu4hixxqVnLQgmhrQMAOcIsJWNWKkK4VZC0oCi_aq4s_8vjU6ZyZQlvBINECk</a:t>
            </a:r>
          </a:p>
        </p:txBody>
      </p:sp>
    </p:spTree>
    <p:extLst>
      <p:ext uri="{BB962C8B-B14F-4D97-AF65-F5344CB8AC3E}">
        <p14:creationId xmlns:p14="http://schemas.microsoft.com/office/powerpoint/2010/main" val="87572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Идея </a:t>
            </a:r>
            <a:r>
              <a:rPr lang="ru-RU" dirty="0"/>
              <a:t>нейронных сетей родилась в рамках теории искусственного интеллекта, в результате попыток имитировать </a:t>
            </a:r>
            <a:r>
              <a:rPr lang="ru-RU" dirty="0" smtClean="0"/>
              <a:t>способность биологических </a:t>
            </a:r>
            <a:r>
              <a:rPr lang="ru-RU" dirty="0"/>
              <a:t>нервных систем обучаться и исправлять ошибки</a:t>
            </a:r>
            <a:r>
              <a:rPr lang="ru-RU" dirty="0" smtClean="0"/>
              <a:t>.</a:t>
            </a:r>
          </a:p>
          <a:p>
            <a:r>
              <a:rPr lang="ru-RU" dirty="0"/>
              <a:t>Нейронные сети (</a:t>
            </a:r>
            <a:r>
              <a:rPr lang="ru-RU" dirty="0" err="1"/>
              <a:t>Neural</a:t>
            </a:r>
            <a:r>
              <a:rPr lang="ru-RU" dirty="0"/>
              <a:t> </a:t>
            </a:r>
            <a:r>
              <a:rPr lang="ru-RU" dirty="0" err="1"/>
              <a:t>Networks</a:t>
            </a:r>
            <a:r>
              <a:rPr lang="ru-RU" dirty="0"/>
              <a:t>) - это модели биологических нейронных сетей мозга, в которых нейроны имитируются относительно простыми, </a:t>
            </a:r>
            <a:r>
              <a:rPr lang="ru-RU" dirty="0" smtClean="0"/>
              <a:t>часто однотипными</a:t>
            </a:r>
            <a:r>
              <a:rPr lang="ru-RU" dirty="0"/>
              <a:t>, </a:t>
            </a:r>
            <a:r>
              <a:rPr lang="ru-RU" dirty="0" smtClean="0"/>
              <a:t>элементами (</a:t>
            </a:r>
            <a:r>
              <a:rPr lang="ru-RU" dirty="0"/>
              <a:t>искусственными нейронами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525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Нейронная сеть </a:t>
            </a:r>
            <a:r>
              <a:rPr lang="ru-RU" dirty="0"/>
              <a:t>(или </a:t>
            </a:r>
            <a:r>
              <a:rPr lang="ru-RU" i="1" dirty="0"/>
              <a:t>искусственная </a:t>
            </a:r>
            <a:r>
              <a:rPr lang="ru-RU" i="1" dirty="0" smtClean="0"/>
              <a:t>нейронная сеть </a:t>
            </a:r>
            <a:r>
              <a:rPr lang="ru-RU" dirty="0"/>
              <a:t>-</a:t>
            </a:r>
            <a:r>
              <a:rPr lang="ru-RU" dirty="0" smtClean="0"/>
              <a:t> </a:t>
            </a:r>
            <a:r>
              <a:rPr lang="ru-RU" dirty="0"/>
              <a:t>ориентированный граф</a:t>
            </a:r>
            <a:r>
              <a:rPr lang="ru-RU" dirty="0" smtClean="0"/>
              <a:t>, вершинам которого </a:t>
            </a:r>
            <a:r>
              <a:rPr lang="ru-RU" dirty="0"/>
              <a:t>соответствуют функции (</a:t>
            </a:r>
            <a:r>
              <a:rPr lang="ru-RU" i="1" dirty="0" smtClean="0"/>
              <a:t>функции активации</a:t>
            </a:r>
            <a:r>
              <a:rPr lang="ru-RU" dirty="0"/>
              <a:t>), а каждой </a:t>
            </a:r>
            <a:r>
              <a:rPr lang="ru-RU" dirty="0" smtClean="0"/>
              <a:t>входящей в </a:t>
            </a:r>
            <a:r>
              <a:rPr lang="ru-RU" dirty="0"/>
              <a:t>вершину дуге (</a:t>
            </a:r>
            <a:r>
              <a:rPr lang="ru-RU" i="1" dirty="0" smtClean="0"/>
              <a:t>синапсу</a:t>
            </a:r>
            <a:r>
              <a:rPr lang="ru-RU" dirty="0"/>
              <a:t>) </a:t>
            </a:r>
            <a:r>
              <a:rPr lang="ru-RU" dirty="0" smtClean="0"/>
              <a:t>- </a:t>
            </a:r>
            <a:r>
              <a:rPr lang="ru-RU" dirty="0"/>
              <a:t>ее аргумент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Слоистая </a:t>
            </a:r>
            <a:r>
              <a:rPr lang="ru-RU" dirty="0"/>
              <a:t>нейронная сеть представляет собой совокупность нейронов, которые группируются в слои. В каждом слое нейроны между собой никак не связаны, но связаны с нейронами предыдущего и следующего слоев. Информация поступает с первого на второй слой, со второго - на третий и т.д.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68845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Нейрофизиолог Фрэнк </a:t>
            </a:r>
            <a:r>
              <a:rPr lang="ru-RU" dirty="0" err="1"/>
              <a:t>Розенблатт</a:t>
            </a:r>
            <a:r>
              <a:rPr lang="ru-RU" dirty="0"/>
              <a:t> предложил схему устройства, моделирующего процесс человеческого восприятия, и назвал его «</a:t>
            </a:r>
            <a:r>
              <a:rPr lang="ru-RU" dirty="0" err="1"/>
              <a:t>перцептроном</a:t>
            </a:r>
            <a:r>
              <a:rPr lang="ru-RU" dirty="0"/>
              <a:t>». </a:t>
            </a:r>
            <a:r>
              <a:rPr lang="ru-RU" dirty="0" err="1"/>
              <a:t>Перцептрон</a:t>
            </a:r>
            <a:r>
              <a:rPr lang="ru-RU" dirty="0"/>
              <a:t> (также </a:t>
            </a:r>
            <a:r>
              <a:rPr lang="ru-RU" dirty="0" smtClean="0"/>
              <a:t>используется </a:t>
            </a:r>
            <a:r>
              <a:rPr lang="ru-RU" dirty="0"/>
              <a:t>и вариант </a:t>
            </a:r>
            <a:r>
              <a:rPr lang="ru-RU" dirty="0" smtClean="0"/>
              <a:t>персептрон</a:t>
            </a:r>
            <a:r>
              <a:rPr lang="ru-RU" dirty="0"/>
              <a:t>) передавал сигналы от фотоэлементов, представляющих собой сенсорное поле, в блоки электромеханических ячеек памяти. Эти ячейки соединялись между собой случайным образом в соответствии с принципами </a:t>
            </a:r>
            <a:r>
              <a:rPr lang="ru-RU" dirty="0" err="1"/>
              <a:t>коннективизма</a:t>
            </a:r>
            <a:r>
              <a:rPr lang="ru-RU" dirty="0"/>
              <a:t>. В 1957 году в </a:t>
            </a:r>
            <a:r>
              <a:rPr lang="ru-RU" dirty="0" err="1"/>
              <a:t>Корнеллской</a:t>
            </a:r>
            <a:r>
              <a:rPr lang="ru-RU" dirty="0"/>
              <a:t> Лаборатории Аэронавтики было успешно завершено моделирование работы </a:t>
            </a:r>
            <a:r>
              <a:rPr lang="ru-RU" dirty="0" err="1"/>
              <a:t>перцептрона</a:t>
            </a:r>
            <a:r>
              <a:rPr lang="ru-RU" dirty="0"/>
              <a:t> на компьютере IBM 704, а два года спустя, 23 июня 1960 года в </a:t>
            </a:r>
            <a:r>
              <a:rPr lang="ru-RU" dirty="0" err="1"/>
              <a:t>Корнеллском</a:t>
            </a:r>
            <a:r>
              <a:rPr lang="ru-RU" dirty="0"/>
              <a:t> университете, был продемонстрирован первый нейрокомпьютер — «Марк-1», который был способен распознавать некоторые буквы английского </a:t>
            </a:r>
            <a:r>
              <a:rPr lang="ru-RU" dirty="0" smtClean="0"/>
              <a:t>алфавита.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55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14" y="1179320"/>
            <a:ext cx="7053263" cy="4850259"/>
          </a:xfrm>
        </p:spPr>
        <p:txBody>
          <a:bodyPr/>
          <a:lstStyle/>
          <a:p>
            <a:r>
              <a:rPr lang="ru-RU" dirty="0"/>
              <a:t>Искусственный нейрон (формальный нейрон) - элемент искусственных нейронных сетей, моделирующий некоторые функции биологического нейрона. </a:t>
            </a:r>
            <a:endParaRPr lang="ru-RU" dirty="0" smtClean="0"/>
          </a:p>
          <a:p>
            <a:r>
              <a:rPr lang="ru-RU" dirty="0" smtClean="0"/>
              <a:t>Главная </a:t>
            </a:r>
            <a:r>
              <a:rPr lang="ru-RU" dirty="0"/>
              <a:t>функция искусственного нейрона - формировать выходной сигнал в зависимости от сигналов, поступающих на его входы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Простейшая модель искусственного нейрона – однослойный </a:t>
            </a:r>
            <a:r>
              <a:rPr lang="ru-RU" dirty="0" err="1" smtClean="0"/>
              <a:t>перцептрон</a:t>
            </a:r>
            <a:r>
              <a:rPr lang="ru-RU" dirty="0" smtClean="0"/>
              <a:t> или </a:t>
            </a:r>
            <a:r>
              <a:rPr lang="ru-RU" dirty="0" err="1" smtClean="0"/>
              <a:t>перцептрон</a:t>
            </a:r>
            <a:r>
              <a:rPr lang="ru-RU" dirty="0" smtClean="0"/>
              <a:t> Розенблатта.</a:t>
            </a:r>
            <a:endParaRPr lang="ru-RU" dirty="0"/>
          </a:p>
        </p:txBody>
      </p:sp>
      <p:pic>
        <p:nvPicPr>
          <p:cNvPr id="1026" name="Picture 2" descr="https://upload.wikimedia.org/wikipedia/ru/8/8b/Rosenbla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401" y="742155"/>
            <a:ext cx="3686175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479401" y="4961210"/>
            <a:ext cx="376974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700" dirty="0"/>
              <a:t>https://upload.wikimedia.org/wikipedia/ru/thumb/8/8b/Rosenblatt.jpg/250px-Rosenblatt.jpg</a:t>
            </a:r>
          </a:p>
        </p:txBody>
      </p:sp>
    </p:spTree>
    <p:extLst>
      <p:ext uri="{BB962C8B-B14F-4D97-AF65-F5344CB8AC3E}">
        <p14:creationId xmlns:p14="http://schemas.microsoft.com/office/powerpoint/2010/main" val="367422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Модель биологического нейрона</a:t>
            </a:r>
            <a:endParaRPr lang="ru-RU" dirty="0"/>
          </a:p>
        </p:txBody>
      </p:sp>
      <p:pic>
        <p:nvPicPr>
          <p:cNvPr id="5" name="Picture 2" descr="http://www.bestreferat.ru/images/paper/07/93/7849307.jpe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676" y="1593657"/>
            <a:ext cx="657877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504017" y="4329961"/>
            <a:ext cx="3097323" cy="209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62" dirty="0"/>
              <a:t>http://masters.donntu.org/2012/fknt/pachadgi/library/images/neir1.png</a:t>
            </a:r>
          </a:p>
        </p:txBody>
      </p:sp>
    </p:spTree>
    <p:extLst>
      <p:ext uri="{BB962C8B-B14F-4D97-AF65-F5344CB8AC3E}">
        <p14:creationId xmlns:p14="http://schemas.microsoft.com/office/powerpoint/2010/main" val="179934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pic>
        <p:nvPicPr>
          <p:cNvPr id="4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524" y="1455474"/>
            <a:ext cx="7728286" cy="3904362"/>
          </a:xfrm>
        </p:spPr>
      </p:pic>
      <p:sp>
        <p:nvSpPr>
          <p:cNvPr id="5" name="Прямоугольник 4"/>
          <p:cNvSpPr/>
          <p:nvPr/>
        </p:nvSpPr>
        <p:spPr>
          <a:xfrm>
            <a:off x="4434641" y="5359836"/>
            <a:ext cx="2981907" cy="209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62" dirty="0"/>
              <a:t>https://miro.medium.com/max/875/1*v88ySSMr7JLaIBjwr4chTw.jpeg</a:t>
            </a:r>
          </a:p>
        </p:txBody>
      </p:sp>
    </p:spTree>
    <p:extLst>
      <p:ext uri="{BB962C8B-B14F-4D97-AF65-F5344CB8AC3E}">
        <p14:creationId xmlns:p14="http://schemas.microsoft.com/office/powerpoint/2010/main" val="42280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Перцептрон</a:t>
            </a:r>
            <a:r>
              <a:rPr lang="ru-RU" dirty="0" smtClean="0"/>
              <a:t> </a:t>
            </a:r>
            <a:r>
              <a:rPr lang="ru-RU" dirty="0"/>
              <a:t>– это нейронная сеть, которая представляет собой алгоритм для выполнения двоичной классификации. Он определяет, относится ли объект к определенной категории (например, является ли животное на рисунке кошкой или нет</a:t>
            </a:r>
            <a:r>
              <a:rPr lang="ru-RU" dirty="0" smtClean="0"/>
              <a:t>).</a:t>
            </a:r>
          </a:p>
          <a:p>
            <a:r>
              <a:rPr lang="ru-RU" dirty="0"/>
              <a:t>Нейрон характеризуется текущим состоянием и обладает группой синапсов - однонаправленных входных связей, соединенных с выходами других нейронов. </a:t>
            </a:r>
          </a:p>
          <a:p>
            <a:r>
              <a:rPr lang="ru-RU" dirty="0"/>
              <a:t>Нейрон имеет аксон - выходную связь данного нейрона, с которой сигнал (возбуждения или торможения) поступает на синапсы следующих нейронов. </a:t>
            </a:r>
          </a:p>
          <a:p>
            <a:r>
              <a:rPr lang="ru-RU" dirty="0"/>
              <a:t>Каждый синапс характеризуется величиной </a:t>
            </a:r>
            <a:r>
              <a:rPr lang="ru-RU" dirty="0" err="1"/>
              <a:t>синаптической</a:t>
            </a:r>
            <a:r>
              <a:rPr lang="ru-RU" dirty="0"/>
              <a:t> связи (ее весом </a:t>
            </a:r>
            <a:r>
              <a:rPr lang="ru-RU" dirty="0" err="1"/>
              <a:t>w</a:t>
            </a:r>
            <a:r>
              <a:rPr lang="ru-RU" baseline="-25000" dirty="0" err="1"/>
              <a:t>i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8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контексте машинного обучения </a:t>
            </a:r>
            <a:r>
              <a:rPr lang="ru-RU" dirty="0" err="1"/>
              <a:t>перцептрон</a:t>
            </a:r>
            <a:r>
              <a:rPr lang="ru-RU" dirty="0"/>
              <a:t> рассматривается как фундаментальный строительный блок — одиночный искусственный нейрон, предназначенный для решения задач линейной дискриминации, то есть разделения объектов на две группы. Именно с изучения этой элементарной модели начинается понимание принципов работы современных глубоких архитектур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18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0502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Любой искусственный нейрон, включая простейший </a:t>
            </a:r>
            <a:r>
              <a:rPr lang="ru-RU" dirty="0" err="1"/>
              <a:t>перцептрон</a:t>
            </a:r>
            <a:r>
              <a:rPr lang="ru-RU" dirty="0"/>
              <a:t>, является вычислительным узлом, который агрегирует информацию из внешнего мира или от предыдущих слоев сети. Для этого у него есть три типа параметров: входы, </a:t>
            </a:r>
            <a:r>
              <a:rPr lang="ru-RU" dirty="0" err="1"/>
              <a:t>синаптические</a:t>
            </a:r>
            <a:r>
              <a:rPr lang="ru-RU" dirty="0"/>
              <a:t> веса и порог сдвига (смещение</a:t>
            </a:r>
            <a:r>
              <a:rPr lang="ru-RU" dirty="0" smtClean="0"/>
              <a:t>).</a:t>
            </a:r>
          </a:p>
          <a:p>
            <a:endParaRPr lang="ru-RU" dirty="0"/>
          </a:p>
          <a:p>
            <a:r>
              <a:rPr lang="ru-RU" b="1" dirty="0"/>
              <a:t>Входы (x</a:t>
            </a:r>
            <a:r>
              <a:rPr lang="ru-RU" b="1" baseline="-25000" dirty="0"/>
              <a:t>1</a:t>
            </a:r>
            <a:r>
              <a:rPr lang="ru-RU" b="1" dirty="0"/>
              <a:t>,x</a:t>
            </a:r>
            <a:r>
              <a:rPr lang="ru-RU" b="1" baseline="-25000" dirty="0"/>
              <a:t>2</a:t>
            </a:r>
            <a:r>
              <a:rPr lang="ru-RU" b="1" dirty="0"/>
              <a:t>,...,</a:t>
            </a:r>
            <a:r>
              <a:rPr lang="ru-RU" b="1" dirty="0" err="1" smtClean="0"/>
              <a:t>x</a:t>
            </a:r>
            <a:r>
              <a:rPr lang="ru-RU" b="1" baseline="-25000" dirty="0" err="1" smtClean="0"/>
              <a:t>n</a:t>
            </a:r>
            <a:r>
              <a:rPr lang="ru-RU" b="1" dirty="0" smtClean="0"/>
              <a:t>​</a:t>
            </a:r>
            <a:r>
              <a:rPr lang="ru-RU" b="1" dirty="0"/>
              <a:t>):</a:t>
            </a:r>
            <a:r>
              <a:rPr lang="ru-RU" dirty="0"/>
              <a:t> Это вектор признаков объекта, который мы пытаемся классифицировать. Если мы определяем спам в письме, входами могут быть частота появления определенных слов, наличие вложений или время отправки. Каждый вход — это числовая величина. Важно понимать, что для математической однородности модели к реальным признакам часто добавляют фиктивный вход </a:t>
            </a:r>
            <a:r>
              <a:rPr lang="ru-RU" dirty="0" smtClean="0"/>
              <a:t>x</a:t>
            </a:r>
            <a:r>
              <a:rPr lang="ru-RU" baseline="-25000" dirty="0" smtClean="0"/>
              <a:t>0</a:t>
            </a:r>
            <a:r>
              <a:rPr lang="ru-RU" dirty="0" smtClean="0"/>
              <a:t>​</a:t>
            </a:r>
            <a:r>
              <a:rPr lang="ru-RU" dirty="0"/>
              <a:t>, всегда равный единице.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19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3252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Синаптические</a:t>
            </a:r>
            <a:r>
              <a:rPr lang="ru-RU" b="1" dirty="0"/>
              <a:t> веса (w</a:t>
            </a:r>
            <a:r>
              <a:rPr lang="ru-RU" b="1" baseline="-25000" dirty="0"/>
              <a:t>1</a:t>
            </a:r>
            <a:r>
              <a:rPr lang="ru-RU" b="1" dirty="0"/>
              <a:t>,w</a:t>
            </a:r>
            <a:r>
              <a:rPr lang="ru-RU" b="1" baseline="-25000" dirty="0"/>
              <a:t>2</a:t>
            </a:r>
            <a:r>
              <a:rPr lang="ru-RU" b="1" dirty="0"/>
              <a:t>,...,</a:t>
            </a:r>
            <a:r>
              <a:rPr lang="ru-RU" b="1" dirty="0" err="1" smtClean="0"/>
              <a:t>w</a:t>
            </a:r>
            <a:r>
              <a:rPr lang="ru-RU" b="1" baseline="-25000" dirty="0" err="1" smtClean="0"/>
              <a:t>n</a:t>
            </a:r>
            <a:r>
              <a:rPr lang="ru-RU" b="1" dirty="0" smtClean="0"/>
              <a:t>​</a:t>
            </a:r>
            <a:r>
              <a:rPr lang="ru-RU" b="1" dirty="0"/>
              <a:t>):</a:t>
            </a:r>
            <a:r>
              <a:rPr lang="ru-RU" dirty="0"/>
              <a:t> Каждому входу соответствует свой вес. Вес определяет степень влияния конкретного признака на итоговое решение. Математически это коэффициент усиления. Если вес положительный, признак способствует отнесению объекта к целевому классу; если отрицательный — препятствует ему. Если вес близок к нулю, сеть фактически игнорирует этот вход, считая его несущественным шумом. Именно значения весов являются «памятью» нейрона — тем, что настраивается в процессе обучения.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1772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Перцептрон</a:t>
            </a:r>
            <a:r>
              <a:rPr lang="ru-RU" dirty="0"/>
              <a:t> Розенблатта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Смещение или </a:t>
            </a:r>
            <a:r>
              <a:rPr lang="ru-RU" b="1" dirty="0" err="1"/>
              <a:t>bias</a:t>
            </a:r>
            <a:r>
              <a:rPr lang="ru-RU" b="1" dirty="0"/>
              <a:t> (</a:t>
            </a:r>
            <a:r>
              <a:rPr lang="ru-RU" b="1" dirty="0" smtClean="0"/>
              <a:t>b </a:t>
            </a:r>
            <a:r>
              <a:rPr lang="ru-RU" b="1" dirty="0"/>
              <a:t>или </a:t>
            </a:r>
            <a:r>
              <a:rPr lang="ru-RU" b="1" dirty="0" smtClean="0"/>
              <a:t>w</a:t>
            </a:r>
            <a:r>
              <a:rPr lang="ru-RU" b="1" baseline="-25000" dirty="0" smtClean="0"/>
              <a:t>0</a:t>
            </a:r>
            <a:r>
              <a:rPr lang="ru-RU" b="1" dirty="0" smtClean="0"/>
              <a:t>​</a:t>
            </a:r>
            <a:r>
              <a:rPr lang="ru-RU" b="1" dirty="0"/>
              <a:t>):</a:t>
            </a:r>
            <a:r>
              <a:rPr lang="ru-RU" dirty="0"/>
              <a:t> Это внутренний параметр нейрона, не привязанный ни к какому внешнему входу. Геометрически смещение отвечает за сдвиг решающей границы (гиперплоскости) относительно начала координат. Без свободного члена линия разделения классов всегда проходила бы строго через точку (0,0</a:t>
            </a:r>
            <a:r>
              <a:rPr lang="ru-RU" dirty="0" smtClean="0"/>
              <a:t>,...), </a:t>
            </a:r>
            <a:r>
              <a:rPr lang="ru-RU" dirty="0"/>
              <a:t>что крайне ограничило бы возможности модели. Наличие смещения позволяет нейрону активироваться даже при нулевых значениях всех входных сигналов. В формулах его удобно записывать как вес </a:t>
            </a:r>
            <a:r>
              <a:rPr lang="ru-RU" dirty="0" smtClean="0"/>
              <a:t>w</a:t>
            </a:r>
            <a:r>
              <a:rPr lang="ru-RU" baseline="-25000" dirty="0" smtClean="0"/>
              <a:t>0</a:t>
            </a:r>
            <a:r>
              <a:rPr lang="ru-RU" dirty="0" smtClean="0"/>
              <a:t>​</a:t>
            </a:r>
            <a:r>
              <a:rPr lang="ru-RU" dirty="0"/>
              <a:t>, умноженный на постоянный вход </a:t>
            </a:r>
            <a:r>
              <a:rPr lang="ru-RU" dirty="0" smtClean="0"/>
              <a:t>x</a:t>
            </a:r>
            <a:r>
              <a:rPr lang="ru-RU" baseline="-25000" dirty="0" smtClean="0"/>
              <a:t>0</a:t>
            </a:r>
            <a:r>
              <a:rPr lang="ru-RU" dirty="0" smtClean="0"/>
              <a:t>=1.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514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Сумматор нейрона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Сумматор </a:t>
            </a:r>
            <a:r>
              <a:rPr lang="ru-RU" dirty="0"/>
              <a:t>(в терминологии </a:t>
            </a:r>
            <a:r>
              <a:rPr lang="ru-RU" dirty="0" err="1"/>
              <a:t>нейроинформатики</a:t>
            </a:r>
            <a:r>
              <a:rPr lang="ru-RU" dirty="0"/>
              <a:t> — индуцированное локальное поле, обозначаемое обычно буквой </a:t>
            </a:r>
            <a:r>
              <a:rPr lang="ru-RU" dirty="0" smtClean="0"/>
              <a:t>z </a:t>
            </a:r>
            <a:r>
              <a:rPr lang="ru-RU" dirty="0"/>
              <a:t>или </a:t>
            </a:r>
            <a:r>
              <a:rPr lang="ru-RU" dirty="0" smtClean="0"/>
              <a:t>v) </a:t>
            </a:r>
            <a:r>
              <a:rPr lang="ru-RU" dirty="0"/>
              <a:t>представляет собой линейную часть нейрона. Его единственная задача — объединить все взвешенные сигналы и смещение в одно результирующее скалярное число.</a:t>
            </a:r>
          </a:p>
          <a:p>
            <a:r>
              <a:rPr lang="ru-RU" dirty="0"/>
              <a:t>Математически расчет сумматора выглядит как скалярное произведение вектора входов на вектор весов плюс свободный член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22</a:t>
            </a:fld>
            <a:endParaRPr lang="ru-RU" noProof="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76" y="3969588"/>
            <a:ext cx="22574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4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Сумматор нейрона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 точки зрения обработки информации роль сумматора критична по трем причинам:</a:t>
            </a:r>
          </a:p>
          <a:p>
            <a:r>
              <a:rPr lang="ru-RU" b="1" dirty="0"/>
              <a:t>Формирование афферентного сигнала.</a:t>
            </a:r>
            <a:r>
              <a:rPr lang="ru-RU" dirty="0"/>
              <a:t> Биологическая аналогия здесь наиболее точна: тело биологического нейрона интегрирует входящие электрические импульсы от дендритов. Сумматор вычисляет суммарный постсинаптический потенциал клетки до того, как он достигнет порога генерации собственного импульса.</a:t>
            </a:r>
          </a:p>
          <a:p>
            <a:r>
              <a:rPr lang="ru-RU" b="1" dirty="0"/>
              <a:t>Создание разделяющей поверхности.</a:t>
            </a:r>
            <a:r>
              <a:rPr lang="ru-RU" dirty="0"/>
              <a:t> Уравнение </a:t>
            </a:r>
            <a:r>
              <a:rPr lang="ru-RU" dirty="0" smtClean="0"/>
              <a:t>z=0 </a:t>
            </a:r>
            <a:r>
              <a:rPr lang="ru-RU" dirty="0"/>
              <a:t>описывает гиперплоскость в пространстве признаков. Все объекты, для которых сумма окажется больше нуля, попадут по одну сторону этой плоскости, а те, для кого она меньше или равна нулю — по другую. Таким образом, именно на уровне сумматора решается вопрос геометрического разделения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9213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Сумматор нейрона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Обеспечение дифференцируемости.</a:t>
            </a:r>
            <a:r>
              <a:rPr lang="ru-RU" dirty="0"/>
              <a:t> Значение </a:t>
            </a:r>
            <a:r>
              <a:rPr lang="ru-RU" dirty="0" smtClean="0"/>
              <a:t>z </a:t>
            </a:r>
            <a:r>
              <a:rPr lang="ru-RU" dirty="0"/>
              <a:t>является непрерывной и гладкой функцией от весов и входов. Это позволяет применять аппарат дифференциального исчисления. Хотя классический </a:t>
            </a:r>
            <a:r>
              <a:rPr lang="ru-RU" dirty="0" err="1"/>
              <a:t>перцептрон</a:t>
            </a:r>
            <a:r>
              <a:rPr lang="ru-RU" dirty="0"/>
              <a:t> Розенблатта использует разрывную функцию активации (что делает невозможным градиентный спуск в чистом виде), во всех современных сетях именно значение сумматора подвергается дифференцированию для расчета поправок весов в алгоритме обратного распространения ошибки.</a:t>
            </a:r>
          </a:p>
          <a:p>
            <a:r>
              <a:rPr lang="ru-RU" dirty="0"/>
              <a:t>После того как сумматор выдал число </a:t>
            </a:r>
            <a:r>
              <a:rPr lang="ru-RU" dirty="0" smtClean="0"/>
              <a:t>z, </a:t>
            </a:r>
            <a:r>
              <a:rPr lang="ru-RU" dirty="0"/>
              <a:t>оно передается на следующий этап — функцию </a:t>
            </a:r>
            <a:r>
              <a:rPr lang="ru-RU" dirty="0" smtClean="0"/>
              <a:t>активации </a:t>
            </a:r>
            <a:r>
              <a:rPr lang="en-US" dirty="0"/>
              <a:t>f(z</a:t>
            </a:r>
            <a:r>
              <a:rPr lang="en-US" dirty="0" smtClean="0"/>
              <a:t>)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1117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Сумматор нейрона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</a:t>
            </a:r>
            <a:r>
              <a:rPr lang="ru-RU" dirty="0"/>
              <a:t>классическом </a:t>
            </a:r>
            <a:r>
              <a:rPr lang="ru-RU" dirty="0" err="1"/>
              <a:t>перцептроне</a:t>
            </a:r>
            <a:r>
              <a:rPr lang="ru-RU" dirty="0"/>
              <a:t> это единичная ступенчатая функция </a:t>
            </a:r>
            <a:r>
              <a:rPr lang="ru-RU" dirty="0" err="1"/>
              <a:t>Хевисайда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/>
              <a:t>Выходное значение y∈{0,1} интерпретируется как принадлежность объекта к одному из двух классов. Геометрически эта операция эквивалентна проверке того, по какую сторону от разделяющей гиперплоскости находится точка в многомерном пространстве признаков. Если данные можно разделить прямой линией (или плоскостью), </a:t>
            </a:r>
            <a:r>
              <a:rPr lang="ru-RU" dirty="0" err="1"/>
              <a:t>перцептрон</a:t>
            </a:r>
            <a:r>
              <a:rPr lang="ru-RU" dirty="0"/>
              <a:t> гарантированно найдет такое решение.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25</a:t>
            </a:fld>
            <a:endParaRPr lang="ru-RU" noProof="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305" y="1698011"/>
            <a:ext cx="300037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7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Сумматор нейрона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Математически это превращает непрерывное пространство признаков в дискретную область решений. Граница между классами проходит ровно там, где аргумент функции переходит через </a:t>
            </a:r>
            <a:r>
              <a:rPr lang="ru-RU" dirty="0" smtClean="0"/>
              <a:t>ноль. </a:t>
            </a:r>
            <a:r>
              <a:rPr lang="ru-RU" dirty="0"/>
              <a:t>Выходное значение y∈{0,1</a:t>
            </a:r>
            <a:r>
              <a:rPr lang="ru-RU" dirty="0" smtClean="0"/>
              <a:t>} является </a:t>
            </a:r>
            <a:r>
              <a:rPr lang="ru-RU" dirty="0"/>
              <a:t>окончательным вердиктом модели. Важно понимать различие: число </a:t>
            </a:r>
            <a:r>
              <a:rPr lang="ru-RU" dirty="0" smtClean="0"/>
              <a:t>z </a:t>
            </a:r>
            <a:r>
              <a:rPr lang="ru-RU" dirty="0"/>
              <a:t>— это «внутренняя уверенность» или расстояние до границы, а </a:t>
            </a:r>
            <a:r>
              <a:rPr lang="ru-RU" dirty="0" smtClean="0"/>
              <a:t>y </a:t>
            </a:r>
            <a:r>
              <a:rPr lang="ru-RU" dirty="0"/>
              <a:t>— это категоричный ответ, готовый к использованию программным кодом или исполнительным механизмом. </a:t>
            </a:r>
          </a:p>
          <a:p>
            <a:r>
              <a:rPr lang="ru-RU" dirty="0"/>
              <a:t>Такой разрывный переход делает классический </a:t>
            </a:r>
            <a:r>
              <a:rPr lang="ru-RU" dirty="0" err="1"/>
              <a:t>перцептрон</a:t>
            </a:r>
            <a:r>
              <a:rPr lang="ru-RU" dirty="0"/>
              <a:t> мощным классификатором, но создает математическую сложность: поскольку производная ступенчатой функции везде (кроме точки разрыва) равна нулю, мы не можем плавно корректировать веса с помощью градиентного спуска. Это историческое ограничение привело к тому, что в современных сетях вместо ступеньки используют сглаженные аналоги (</a:t>
            </a:r>
            <a:r>
              <a:rPr lang="ru-RU" dirty="0" err="1"/>
              <a:t>сигмоиду</a:t>
            </a:r>
            <a:r>
              <a:rPr lang="ru-RU" dirty="0"/>
              <a:t> или </a:t>
            </a:r>
            <a:r>
              <a:rPr lang="ru-RU" dirty="0" err="1"/>
              <a:t>ReLU</a:t>
            </a:r>
            <a:r>
              <a:rPr lang="ru-RU" dirty="0"/>
              <a:t>), которые сохраняют суть порога, но позволяют «протягивать» ошибку назад через сумматор для обучения.</a:t>
            </a:r>
          </a:p>
          <a:p>
            <a:endParaRPr lang="ru-RU" dirty="0" smtClean="0"/>
          </a:p>
          <a:p>
            <a:r>
              <a:rPr lang="ru-RU" dirty="0" smtClean="0"/>
              <a:t>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9400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Сигмоида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8948" y="1268760"/>
            <a:ext cx="10810746" cy="5760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 bwMode="auto">
          <a:xfrm>
            <a:off x="718948" y="2852936"/>
            <a:ext cx="10810746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just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defTabSz="914326">
              <a:lnSpc>
                <a:spcPct val="114000"/>
              </a:lnSpc>
              <a:spcBef>
                <a:spcPts val="0"/>
              </a:spcBef>
              <a:spcAft>
                <a:spcPts val="847"/>
              </a:spcAft>
            </a:pPr>
            <a:endParaRPr lang="ru-RU" sz="211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Picture 4" descr="http://www.saedsayad.com/images/ANN_Sigmoi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690" y="1844824"/>
            <a:ext cx="6077781" cy="327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90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Обучение нейрона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Нейроны обучаются </a:t>
            </a:r>
            <a:r>
              <a:rPr lang="ru-RU" dirty="0"/>
              <a:t>по набору пар входных/выходных объектов и учатся моделировать корреляции (т. е. зависимости) между этими данными. </a:t>
            </a:r>
            <a:endParaRPr lang="ru-RU" dirty="0" smtClean="0"/>
          </a:p>
          <a:p>
            <a:r>
              <a:rPr lang="ru-RU" dirty="0"/>
              <a:t>Обучение включает в себя настройку параметров модели (весовых коэффициентов, смещений) для минимизации погрешности. Для корректировки этих параметров относительно погрешности используется алгоритм обратного </a:t>
            </a:r>
            <a:r>
              <a:rPr lang="ru-RU" dirty="0" smtClean="0"/>
              <a:t>распространения ошибки (это будет в следующей лекции), </a:t>
            </a:r>
            <a:r>
              <a:rPr lang="ru-RU" dirty="0"/>
              <a:t>а сама погрешность может быть вычислена различными способами, в том числе путем вычисления среднеквадратичного отклонения.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16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Геометрическая интерпретация решающей </a:t>
            </a:r>
            <a:r>
              <a:rPr lang="ru-RU" b="1" dirty="0" smtClean="0"/>
              <a:t>границы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Чтобы </a:t>
            </a:r>
            <a:r>
              <a:rPr lang="ru-RU" dirty="0"/>
              <a:t>понять, как именно </a:t>
            </a:r>
            <a:r>
              <a:rPr lang="ru-RU" dirty="0" err="1"/>
              <a:t>перцептрон</a:t>
            </a:r>
            <a:r>
              <a:rPr lang="ru-RU" dirty="0"/>
              <a:t> разделяет объекты, полезно взглянуть на уравнение z</a:t>
            </a:r>
            <a:r>
              <a:rPr lang="ru-RU" dirty="0" smtClean="0"/>
              <a:t>= w</a:t>
            </a:r>
            <a:r>
              <a:rPr lang="ru-RU" dirty="0"/>
              <a:t>⃗⋅x⃗+</a:t>
            </a:r>
            <a:r>
              <a:rPr lang="ru-RU" dirty="0" smtClean="0"/>
              <a:t>b=0 с </a:t>
            </a:r>
            <a:r>
              <a:rPr lang="ru-RU" dirty="0"/>
              <a:t>точки зрения геометрии. В двумерном пространстве (когда у объекта всего два признака, например «рост» и «вес») это уравнение описывает обычную прямую линию. В трехмерном пространстве — плоскость. В общем случае размерности </a:t>
            </a:r>
            <a:r>
              <a:rPr lang="ru-RU" dirty="0" smtClean="0"/>
              <a:t>n </a:t>
            </a:r>
            <a:r>
              <a:rPr lang="ru-RU" dirty="0"/>
              <a:t>— гиперплоскость.</a:t>
            </a:r>
          </a:p>
          <a:p>
            <a:r>
              <a:rPr lang="ru-RU" dirty="0"/>
              <a:t>Вектор весов w</a:t>
            </a:r>
            <a:r>
              <a:rPr lang="ru-RU" dirty="0" smtClean="0"/>
              <a:t>⃗ </a:t>
            </a:r>
            <a:r>
              <a:rPr lang="ru-RU" dirty="0"/>
              <a:t>играет роль нормали к этой плоскости. Он указывает направление самого крутого роста значения суммы </a:t>
            </a:r>
            <a:r>
              <a:rPr lang="ru-RU" dirty="0" smtClean="0"/>
              <a:t>b. </a:t>
            </a:r>
            <a:r>
              <a:rPr lang="ru-RU" dirty="0"/>
              <a:t>Смещение </a:t>
            </a:r>
            <a:r>
              <a:rPr lang="ru-RU" dirty="0" smtClean="0"/>
              <a:t>b </a:t>
            </a:r>
            <a:r>
              <a:rPr lang="ru-RU" dirty="0"/>
              <a:t>определяет дистанцию от начала координат до этой границы. Процесс обучения </a:t>
            </a:r>
            <a:r>
              <a:rPr lang="ru-RU" dirty="0" err="1"/>
              <a:t>перцептрона</a:t>
            </a:r>
            <a:r>
              <a:rPr lang="ru-RU" dirty="0"/>
              <a:t> — это, по сути, процедура поиска такого положения и наклона этой невидимой стены в пространстве данных, чтобы все точки одного класса оказались строго по одну сторону (</a:t>
            </a:r>
            <a:r>
              <a:rPr lang="ru-RU" dirty="0" smtClean="0"/>
              <a:t>z&gt;0), </a:t>
            </a:r>
            <a:r>
              <a:rPr lang="ru-RU" dirty="0"/>
              <a:t>а второго — по другую (</a:t>
            </a:r>
            <a:r>
              <a:rPr lang="ru-RU" dirty="0" smtClean="0"/>
              <a:t>z&lt;0). </a:t>
            </a:r>
            <a:r>
              <a:rPr lang="ru-RU" dirty="0"/>
              <a:t>Если данные зашумлены или классы </a:t>
            </a:r>
            <a:r>
              <a:rPr lang="ru-RU" dirty="0" smtClean="0"/>
              <a:t>накладываются </a:t>
            </a:r>
            <a:r>
              <a:rPr lang="ru-RU" dirty="0"/>
              <a:t>так, что одной прямой их разделить нельзя, простой </a:t>
            </a:r>
            <a:r>
              <a:rPr lang="ru-RU" dirty="0" err="1"/>
              <a:t>перцептрон</a:t>
            </a:r>
            <a:r>
              <a:rPr lang="ru-RU" dirty="0"/>
              <a:t> будет бесконечно циклично менять веса, никогда не достигая идеального разделения, что наглядно демонстрирует его фундаментальное ограничение линейной </a:t>
            </a:r>
            <a:r>
              <a:rPr lang="ru-RU" dirty="0" smtClean="0"/>
              <a:t>разделимостью.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29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3768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Обучающая </a:t>
            </a:r>
            <a:r>
              <a:rPr lang="ru-RU" b="1" dirty="0" smtClean="0"/>
              <a:t>выборка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</a:t>
            </a:r>
            <a:r>
              <a:rPr lang="ru-RU" dirty="0"/>
              <a:t>того чтобы </a:t>
            </a:r>
            <a:r>
              <a:rPr lang="ru-RU" dirty="0" err="1"/>
              <a:t>перцептрон</a:t>
            </a:r>
            <a:r>
              <a:rPr lang="ru-RU" dirty="0"/>
              <a:t> перестал быть просто абстрактной математической функцией и превратился в рабочий классификатор, его необходимо обучить на данных. Обучающая выборка — это конечный набор </a:t>
            </a:r>
            <a:r>
              <a:rPr lang="ru-RU" dirty="0" smtClean="0"/>
              <a:t>прецедентов, в котором обязательно должны быть: x </a:t>
            </a:r>
            <a:r>
              <a:rPr lang="ru-RU" dirty="0"/>
              <a:t>— вектор признаков объекта, а </a:t>
            </a:r>
            <a:r>
              <a:rPr lang="ru-RU" dirty="0" smtClean="0"/>
              <a:t>t </a:t>
            </a:r>
            <a:r>
              <a:rPr lang="ru-RU" dirty="0"/>
              <a:t>— целевая метка класса (в случае двоичной классификации t∈{</a:t>
            </a:r>
            <a:r>
              <a:rPr lang="ru-RU" dirty="0" smtClean="0"/>
              <a:t>0,1}). </a:t>
            </a:r>
            <a:r>
              <a:rPr lang="ru-RU" dirty="0"/>
              <a:t>Смысл обучения заключается в том, чтобы найти такие значения весов </a:t>
            </a:r>
            <a:r>
              <a:rPr lang="ru-RU" dirty="0" smtClean="0"/>
              <a:t>w и </a:t>
            </a:r>
            <a:r>
              <a:rPr lang="ru-RU" dirty="0"/>
              <a:t>смещения </a:t>
            </a:r>
            <a:r>
              <a:rPr lang="ru-RU" dirty="0" smtClean="0"/>
              <a:t>b, </a:t>
            </a:r>
            <a:r>
              <a:rPr lang="ru-RU" dirty="0"/>
              <a:t>при которых выход сети </a:t>
            </a:r>
            <a:r>
              <a:rPr lang="ru-RU" dirty="0" smtClean="0"/>
              <a:t>y </a:t>
            </a:r>
            <a:r>
              <a:rPr lang="ru-RU" dirty="0"/>
              <a:t>будет максимально часто совпадать с эталоном </a:t>
            </a:r>
            <a:r>
              <a:rPr lang="ru-RU" dirty="0" smtClean="0"/>
              <a:t>t </a:t>
            </a:r>
            <a:r>
              <a:rPr lang="ru-RU" dirty="0"/>
              <a:t>для всех примеров из этой выборки.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30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9446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Функция </a:t>
            </a:r>
            <a:r>
              <a:rPr lang="ru-RU" b="1" dirty="0" smtClean="0"/>
              <a:t>ошибки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Чтобы </a:t>
            </a:r>
            <a:r>
              <a:rPr lang="ru-RU" dirty="0"/>
              <a:t>понять, «насколько плохи» текущие веса, нам нужна мера расхождения между желаемым ответом </a:t>
            </a:r>
            <a:r>
              <a:rPr lang="ru-RU" dirty="0" smtClean="0"/>
              <a:t>t </a:t>
            </a:r>
            <a:r>
              <a:rPr lang="ru-RU" dirty="0"/>
              <a:t>и реальным выходом </a:t>
            </a:r>
            <a:r>
              <a:rPr lang="ru-RU" dirty="0" smtClean="0"/>
              <a:t>y</a:t>
            </a:r>
            <a:r>
              <a:rPr lang="ru-RU" dirty="0"/>
              <a:t>. Для классического </a:t>
            </a:r>
            <a:r>
              <a:rPr lang="ru-RU" dirty="0" err="1"/>
              <a:t>перцептрона</a:t>
            </a:r>
            <a:r>
              <a:rPr lang="ru-RU" dirty="0"/>
              <a:t> простейшей функцией ошибки </a:t>
            </a:r>
            <a:r>
              <a:rPr lang="ru-RU" dirty="0" smtClean="0"/>
              <a:t>является: </a:t>
            </a:r>
            <a:r>
              <a:rPr lang="ru-RU" dirty="0"/>
              <a:t>E=</a:t>
            </a:r>
            <a:r>
              <a:rPr lang="ru-RU" dirty="0" err="1"/>
              <a:t>max</a:t>
            </a:r>
            <a:r>
              <a:rPr lang="ru-RU" dirty="0"/>
              <a:t>⁡(0,−t⋅z</a:t>
            </a:r>
            <a:r>
              <a:rPr lang="ru-RU" dirty="0" smtClean="0"/>
              <a:t>). </a:t>
            </a:r>
            <a:r>
              <a:rPr lang="ru-RU" dirty="0"/>
              <a:t>Однако для наглядности процесса оптимизации чаще используют функцию средней квадратичной ошибки (MSE) или её </a:t>
            </a:r>
            <a:r>
              <a:rPr lang="ru-RU" dirty="0" smtClean="0"/>
              <a:t>половину:</a:t>
            </a:r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Функция </a:t>
            </a:r>
            <a:r>
              <a:rPr lang="ru-RU" dirty="0"/>
              <a:t>ошибки превращает задачу настройки нейросети в классическую задачу многомерной оптимизации: мы находимся в «горном пейзаже», где высота точки соответствует величине ошибки, и наша цель — спуститься в самую глубокую долину (минимум).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31</a:t>
            </a:fld>
            <a:endParaRPr lang="ru-RU" noProof="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05" y="3253057"/>
            <a:ext cx="15906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6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Числовой пример: прямой </a:t>
            </a:r>
            <a:r>
              <a:rPr lang="ru-RU" b="1" dirty="0" smtClean="0"/>
              <a:t>проход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Рассмотрим </a:t>
            </a:r>
            <a:r>
              <a:rPr lang="ru-RU" dirty="0"/>
              <a:t>одномерную задачу. Пусть у нас есть один входной признак </a:t>
            </a:r>
            <a:r>
              <a:rPr lang="ru-RU" dirty="0" smtClean="0"/>
              <a:t>x </a:t>
            </a:r>
            <a:r>
              <a:rPr lang="ru-RU" dirty="0"/>
              <a:t>(например, размер плода в сантиметрах). Мы хотим научить </a:t>
            </a:r>
            <a:r>
              <a:rPr lang="ru-RU" dirty="0" err="1"/>
              <a:t>перцептрон</a:t>
            </a:r>
            <a:r>
              <a:rPr lang="ru-RU" dirty="0"/>
              <a:t> отличать яблоки от груш. Допустим, текущие случайные параметры модели: вес </a:t>
            </a:r>
            <a:r>
              <a:rPr lang="ru-RU" dirty="0" smtClean="0"/>
              <a:t>w=0.5, </a:t>
            </a:r>
            <a:r>
              <a:rPr lang="ru-RU" dirty="0"/>
              <a:t>смещение b=−</a:t>
            </a:r>
            <a:r>
              <a:rPr lang="ru-RU" dirty="0" smtClean="0"/>
              <a:t>1.2. </a:t>
            </a:r>
            <a:r>
              <a:rPr lang="ru-RU" dirty="0"/>
              <a:t>Подадим на вход объект: яблоко размером </a:t>
            </a:r>
            <a:r>
              <a:rPr lang="ru-RU" dirty="0" smtClean="0"/>
              <a:t>x=4, </a:t>
            </a:r>
            <a:r>
              <a:rPr lang="ru-RU" dirty="0"/>
              <a:t>истинная метка которого </a:t>
            </a:r>
            <a:r>
              <a:rPr lang="ru-RU" dirty="0" smtClean="0"/>
              <a:t>t=1.</a:t>
            </a:r>
            <a:endParaRPr lang="ru-RU" dirty="0"/>
          </a:p>
          <a:p>
            <a:r>
              <a:rPr lang="ru-RU" dirty="0"/>
              <a:t>Вычисляем индуцированное локальное поле (сумматор): z=</a:t>
            </a:r>
            <a:r>
              <a:rPr lang="ru-RU" dirty="0" err="1"/>
              <a:t>w⋅x+b</a:t>
            </a:r>
            <a:r>
              <a:rPr lang="ru-RU" dirty="0"/>
              <a:t>=0.5⋅4+(−1.2)=2.0−</a:t>
            </a:r>
            <a:r>
              <a:rPr lang="ru-RU" dirty="0" smtClean="0"/>
              <a:t>1.2=0.8.</a:t>
            </a:r>
            <a:endParaRPr lang="ru-RU" dirty="0"/>
          </a:p>
          <a:p>
            <a:r>
              <a:rPr lang="ru-RU" dirty="0"/>
              <a:t>Пропускаем через ступенчатую функцию активации: так как </a:t>
            </a:r>
            <a:r>
              <a:rPr lang="ru-RU" dirty="0" smtClean="0"/>
              <a:t>z&gt;0, </a:t>
            </a:r>
            <a:r>
              <a:rPr lang="ru-RU" dirty="0"/>
              <a:t>то </a:t>
            </a:r>
            <a:r>
              <a:rPr lang="ru-RU" dirty="0" smtClean="0"/>
              <a:t>y=1. </a:t>
            </a:r>
            <a:r>
              <a:rPr lang="ru-RU" dirty="0"/>
              <a:t>В данном конкретном случае сеть выдала правильный ответ сразу, ошибка равна нулю.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086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Числовой пример: вычисление </a:t>
            </a:r>
            <a:r>
              <a:rPr lang="ru-RU" b="1" dirty="0" smtClean="0"/>
              <a:t>ошибки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Возьмем </a:t>
            </a:r>
            <a:r>
              <a:rPr lang="ru-RU" dirty="0"/>
              <a:t>другой объект из выборки: маленькую зеленую грушу. Размер </a:t>
            </a:r>
            <a:r>
              <a:rPr lang="ru-RU" dirty="0" smtClean="0"/>
              <a:t>x=1 см</a:t>
            </a:r>
            <a:r>
              <a:rPr lang="ru-RU" dirty="0"/>
              <a:t>, истинная метка </a:t>
            </a:r>
            <a:r>
              <a:rPr lang="ru-RU" dirty="0" smtClean="0"/>
              <a:t>t=0 (</a:t>
            </a:r>
            <a:r>
              <a:rPr lang="ru-RU" dirty="0"/>
              <a:t>не яблоко).</a:t>
            </a:r>
          </a:p>
          <a:p>
            <a:r>
              <a:rPr lang="ru-RU" dirty="0"/>
              <a:t>Прямой проход: z=0.5⋅1+(−1.2)=−</a:t>
            </a:r>
            <a:r>
              <a:rPr lang="ru-RU" dirty="0" smtClean="0"/>
              <a:t>0.7.</a:t>
            </a:r>
            <a:endParaRPr lang="ru-RU" dirty="0"/>
          </a:p>
          <a:p>
            <a:r>
              <a:rPr lang="ru-RU" dirty="0"/>
              <a:t>Активация: так как </a:t>
            </a:r>
            <a:r>
              <a:rPr lang="ru-RU" dirty="0" smtClean="0"/>
              <a:t>z&lt;0, </a:t>
            </a:r>
            <a:r>
              <a:rPr lang="ru-RU" dirty="0"/>
              <a:t>то </a:t>
            </a:r>
            <a:r>
              <a:rPr lang="ru-RU" dirty="0" smtClean="0"/>
              <a:t>y=0. </a:t>
            </a:r>
            <a:r>
              <a:rPr lang="ru-RU" dirty="0"/>
              <a:t>Снова правильный ответ. </a:t>
            </a:r>
            <a:endParaRPr lang="ru-RU" dirty="0" smtClean="0"/>
          </a:p>
          <a:p>
            <a:r>
              <a:rPr lang="ru-RU" dirty="0" smtClean="0"/>
              <a:t>Но </a:t>
            </a:r>
            <a:r>
              <a:rPr lang="ru-RU" dirty="0"/>
              <a:t>что если параметры были бы другими? Пусть w=0.5</a:t>
            </a:r>
            <a:r>
              <a:rPr lang="ru-RU" dirty="0" smtClean="0"/>
              <a:t>, b=0.1. </a:t>
            </a:r>
            <a:r>
              <a:rPr lang="ru-RU" dirty="0"/>
              <a:t>Для той же груши (x=1</a:t>
            </a:r>
            <a:r>
              <a:rPr lang="ru-RU" dirty="0" smtClean="0"/>
              <a:t>, t=0):</a:t>
            </a:r>
            <a:endParaRPr lang="ru-RU" dirty="0"/>
          </a:p>
          <a:p>
            <a:r>
              <a:rPr lang="ru-RU" dirty="0"/>
              <a:t>z=0.5⋅</a:t>
            </a:r>
            <a:r>
              <a:rPr lang="ru-RU" dirty="0" smtClean="0"/>
              <a:t>1+0.1=0.6.</a:t>
            </a:r>
            <a:endParaRPr lang="ru-RU" dirty="0"/>
          </a:p>
          <a:p>
            <a:r>
              <a:rPr lang="ru-RU" dirty="0" smtClean="0"/>
              <a:t>y=1 (</a:t>
            </a:r>
            <a:r>
              <a:rPr lang="ru-RU" dirty="0"/>
              <a:t>так как </a:t>
            </a:r>
            <a:r>
              <a:rPr lang="ru-RU" dirty="0" smtClean="0"/>
              <a:t>0.6&gt;0). </a:t>
            </a:r>
            <a:r>
              <a:rPr lang="ru-RU" dirty="0"/>
              <a:t>Модель ошиблась. Вычислим ошибку по формуле </a:t>
            </a:r>
            <a:r>
              <a:rPr lang="ru-RU" dirty="0" smtClean="0"/>
              <a:t>L=0.5*(t</a:t>
            </a:r>
            <a:r>
              <a:rPr lang="ru-RU" dirty="0"/>
              <a:t>−</a:t>
            </a:r>
            <a:r>
              <a:rPr lang="ru-RU" dirty="0" smtClean="0"/>
              <a:t>y)</a:t>
            </a:r>
            <a:r>
              <a:rPr lang="ru-RU" baseline="30000" dirty="0" smtClean="0"/>
              <a:t>2</a:t>
            </a:r>
            <a:r>
              <a:rPr lang="ru-RU" dirty="0" smtClean="0"/>
              <a:t>: L=0.5*(0</a:t>
            </a:r>
            <a:r>
              <a:rPr lang="ru-RU" dirty="0"/>
              <a:t>−</a:t>
            </a:r>
            <a:r>
              <a:rPr lang="ru-RU" dirty="0" smtClean="0"/>
              <a:t>1)</a:t>
            </a:r>
            <a:r>
              <a:rPr lang="ru-RU" baseline="30000" dirty="0" smtClean="0"/>
              <a:t>2</a:t>
            </a:r>
            <a:r>
              <a:rPr lang="ru-RU" dirty="0" smtClean="0"/>
              <a:t>=0.5. </a:t>
            </a:r>
            <a:r>
              <a:rPr lang="ru-RU" dirty="0"/>
              <a:t>Это число показывает, что модель уверена в неверном ответе.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2242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Идея градиентного </a:t>
            </a:r>
            <a:r>
              <a:rPr lang="ru-RU" b="1" dirty="0" smtClean="0"/>
              <a:t>спуска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Градиентный </a:t>
            </a:r>
            <a:r>
              <a:rPr lang="ru-RU" dirty="0"/>
              <a:t>спуск — это стратегия поиска минимума функции ошибки. Математический градиент ∇</a:t>
            </a:r>
            <a:r>
              <a:rPr lang="ru-RU" dirty="0" smtClean="0"/>
              <a:t>E </a:t>
            </a:r>
            <a:r>
              <a:rPr lang="ru-RU" dirty="0"/>
              <a:t>— это вектор, который указывает направление самого крутого </a:t>
            </a:r>
            <a:r>
              <a:rPr lang="ru-RU" i="1" dirty="0"/>
              <a:t>подъема</a:t>
            </a:r>
            <a:r>
              <a:rPr lang="ru-RU" dirty="0"/>
              <a:t> функции в данной точке. Следовательно, чтобы уменьшить ошибку, нам нужно двигаться строго в противоположную сторону — антиградиент. Представьте себя в густом тумане на склоне горы: чтобы спуститься вниз, вы щупаете почву вокруг себя и делаете шаг туда, где склон идет круче всего под уклон.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1720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Правило обновления </a:t>
            </a:r>
            <a:r>
              <a:rPr lang="ru-RU" b="1" dirty="0" smtClean="0"/>
              <a:t>весов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</a:t>
            </a:r>
            <a:r>
              <a:rPr lang="ru-RU" dirty="0"/>
              <a:t>дифференцируемых функций активации правило обновления выводится через производную. В классическом </a:t>
            </a:r>
            <a:r>
              <a:rPr lang="ru-RU" dirty="0" err="1"/>
              <a:t>перцептроне</a:t>
            </a:r>
            <a:r>
              <a:rPr lang="ru-RU" dirty="0"/>
              <a:t> со ступенчатой функцией прямое применение градиента невозможно из-за разрывов, поэтому используется упрощенное эвристическое правило Розенблатта</a:t>
            </a:r>
            <a:r>
              <a:rPr lang="ru-RU" dirty="0" smtClean="0"/>
              <a:t>:</a:t>
            </a:r>
          </a:p>
          <a:p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Здесь </a:t>
            </a:r>
            <a:r>
              <a:rPr lang="ru-RU" dirty="0"/>
              <a:t>(t−y</a:t>
            </a:r>
            <a:r>
              <a:rPr lang="ru-RU" dirty="0" smtClean="0"/>
              <a:t>) </a:t>
            </a:r>
            <a:r>
              <a:rPr lang="ru-RU" dirty="0"/>
              <a:t>— это мгновенная ошибка. Если предсказание верно (</a:t>
            </a:r>
            <a:r>
              <a:rPr lang="ru-RU" dirty="0" smtClean="0"/>
              <a:t>t=y), </a:t>
            </a:r>
            <a:r>
              <a:rPr lang="ru-RU" dirty="0"/>
              <a:t>поправка нулевая. Если мы выдали </a:t>
            </a:r>
            <a:r>
              <a:rPr lang="ru-RU" dirty="0" smtClean="0"/>
              <a:t>1 </a:t>
            </a:r>
            <a:r>
              <a:rPr lang="ru-RU" dirty="0"/>
              <a:t>вместо </a:t>
            </a:r>
            <a:r>
              <a:rPr lang="ru-RU" dirty="0" smtClean="0"/>
              <a:t>0, </a:t>
            </a:r>
            <a:r>
              <a:rPr lang="ru-RU" dirty="0"/>
              <a:t>поправка отрицательная (η⋅(−1)⋅</a:t>
            </a:r>
            <a:r>
              <a:rPr lang="ru-RU" dirty="0" smtClean="0"/>
              <a:t>x), </a:t>
            </a:r>
            <a:r>
              <a:rPr lang="ru-RU" dirty="0"/>
              <a:t>и вес уменьшается, отталкивая границу решения от этого объекта.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35</a:t>
            </a:fld>
            <a:endParaRPr lang="ru-RU" noProof="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30" y="2874393"/>
            <a:ext cx="47720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3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Роль коэффициента </a:t>
            </a:r>
            <a:r>
              <a:rPr lang="ru-RU" b="1" dirty="0" smtClean="0"/>
              <a:t>обучения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Коэффициент η </a:t>
            </a:r>
            <a:r>
              <a:rPr lang="ru-RU" dirty="0"/>
              <a:t>(эта) определяет размер шага при обновлении весов.</a:t>
            </a:r>
          </a:p>
          <a:p>
            <a:r>
              <a:rPr lang="ru-RU" dirty="0"/>
              <a:t>Если </a:t>
            </a:r>
            <a:r>
              <a:rPr lang="ru-RU" dirty="0" smtClean="0"/>
              <a:t>η </a:t>
            </a:r>
            <a:r>
              <a:rPr lang="ru-RU" dirty="0"/>
              <a:t>слишком велик (например, </a:t>
            </a:r>
            <a:r>
              <a:rPr lang="ru-RU" dirty="0" smtClean="0"/>
              <a:t>10.0), </a:t>
            </a:r>
            <a:r>
              <a:rPr lang="ru-RU" dirty="0"/>
              <a:t>алгоритм будет постоянно перепрыгивать через оптимальную точку, веса будут бесконечно осциллировать, и обучение не сойдется.</a:t>
            </a:r>
          </a:p>
          <a:p>
            <a:r>
              <a:rPr lang="ru-RU" dirty="0"/>
              <a:t>Если </a:t>
            </a:r>
            <a:r>
              <a:rPr lang="ru-RU" dirty="0" smtClean="0"/>
              <a:t>η </a:t>
            </a:r>
            <a:r>
              <a:rPr lang="ru-RU" dirty="0"/>
              <a:t>слишком мал (например, </a:t>
            </a:r>
            <a:r>
              <a:rPr lang="ru-RU" dirty="0" smtClean="0"/>
              <a:t>0.0000001), </a:t>
            </a:r>
            <a:r>
              <a:rPr lang="ru-RU" dirty="0"/>
              <a:t>процесс обучения займет вечность, хотя и будет стабильным. Оптимальный </a:t>
            </a:r>
            <a:r>
              <a:rPr lang="ru-RU" dirty="0" smtClean="0"/>
              <a:t>η </a:t>
            </a:r>
            <a:r>
              <a:rPr lang="ru-RU" dirty="0"/>
              <a:t>позволяет плавно приближаться к минимуму, гася колебания.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2249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Геометрический смысл </a:t>
            </a:r>
            <a:r>
              <a:rPr lang="ru-RU" b="1" dirty="0" err="1"/>
              <a:t>перцептрона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Уравнение </a:t>
            </a:r>
            <a:r>
              <a:rPr lang="ru-RU" dirty="0"/>
              <a:t>решающей границы </a:t>
            </a:r>
            <a:r>
              <a:rPr lang="ru-RU" dirty="0" smtClean="0"/>
              <a:t>w</a:t>
            </a:r>
            <a:r>
              <a:rPr lang="ru-RU" baseline="-25000" dirty="0" smtClean="0"/>
              <a:t>1</a:t>
            </a:r>
            <a:r>
              <a:rPr lang="ru-RU" dirty="0" smtClean="0"/>
              <a:t>x</a:t>
            </a:r>
            <a:r>
              <a:rPr lang="ru-RU" baseline="-25000" dirty="0" smtClean="0"/>
              <a:t>1</a:t>
            </a:r>
            <a:r>
              <a:rPr lang="ru-RU" dirty="0" smtClean="0"/>
              <a:t>+w</a:t>
            </a:r>
            <a:r>
              <a:rPr lang="ru-RU" baseline="-25000" dirty="0" smtClean="0"/>
              <a:t>2</a:t>
            </a:r>
            <a:r>
              <a:rPr lang="ru-RU" dirty="0" smtClean="0"/>
              <a:t>x</a:t>
            </a:r>
            <a:r>
              <a:rPr lang="ru-RU" baseline="-25000" dirty="0" smtClean="0"/>
              <a:t>2</a:t>
            </a:r>
            <a:r>
              <a:rPr lang="ru-RU" dirty="0" smtClean="0"/>
              <a:t>+b=0 — </a:t>
            </a:r>
            <a:r>
              <a:rPr lang="ru-RU" dirty="0"/>
              <a:t>это уравнение прямой. Вектор весов w=[w</a:t>
            </a:r>
            <a:r>
              <a:rPr lang="ru-RU" baseline="-25000" dirty="0"/>
              <a:t>1</a:t>
            </a:r>
            <a:r>
              <a:rPr lang="ru-RU" dirty="0"/>
              <a:t>,w</a:t>
            </a:r>
            <a:r>
              <a:rPr lang="ru-RU" baseline="-25000" dirty="0"/>
              <a:t>2</a:t>
            </a:r>
            <a:r>
              <a:rPr lang="ru-RU" dirty="0" smtClean="0"/>
              <a:t>] </a:t>
            </a:r>
            <a:r>
              <a:rPr lang="ru-RU" dirty="0"/>
              <a:t>всегда перпендикулярен (нормален) этой прямой. Процесс обучения можно представить буквально: гиперплоскость начинает свое движение из случайной точки пространства и с каждым ошибочным примером медленно поворачивается и сдвигается до тех пор, пока не разделит два облака точек (яблоки и груши) идеально ровным барьером.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37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0117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Ограничения однослойного </a:t>
            </a:r>
            <a:r>
              <a:rPr lang="ru-RU" b="1" dirty="0" err="1" smtClean="0"/>
              <a:t>перцептрона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Главная </a:t>
            </a:r>
            <a:r>
              <a:rPr lang="ru-RU" dirty="0"/>
              <a:t>проблема описанной выше модели была доказана Минским и Пейпертом: однослойный </a:t>
            </a:r>
            <a:r>
              <a:rPr lang="ru-RU" dirty="0" err="1"/>
              <a:t>перцептрон</a:t>
            </a:r>
            <a:r>
              <a:rPr lang="ru-RU" dirty="0"/>
              <a:t> не способен решить задачи, которые не являются линейно разделимыми. Классический пример — функция XOR (исключающее ИЛИ). Невозможно провести одну прямую линию так, чтобы разделить единичные результаты [</a:t>
            </a:r>
            <a:r>
              <a:rPr lang="ru-RU" dirty="0" smtClean="0"/>
              <a:t>0,1] </a:t>
            </a:r>
            <a:r>
              <a:rPr lang="ru-RU" dirty="0"/>
              <a:t>и [</a:t>
            </a:r>
            <a:r>
              <a:rPr lang="ru-RU" dirty="0" smtClean="0"/>
              <a:t>1,0] </a:t>
            </a:r>
            <a:r>
              <a:rPr lang="ru-RU" dirty="0"/>
              <a:t>от нулевых [</a:t>
            </a:r>
            <a:r>
              <a:rPr lang="ru-RU" dirty="0" smtClean="0"/>
              <a:t>0,0] </a:t>
            </a:r>
            <a:r>
              <a:rPr lang="ru-RU" dirty="0"/>
              <a:t>и [</a:t>
            </a:r>
            <a:r>
              <a:rPr lang="ru-RU" dirty="0" smtClean="0"/>
              <a:t>1,1]. </a:t>
            </a:r>
            <a:r>
              <a:rPr lang="ru-RU" dirty="0"/>
              <a:t>Для решения таких задач требуются многослойные сети, где каждый следующий слой строит новую систему координат, делая данные разделимыми.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38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3998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Перцептрон</a:t>
            </a:r>
            <a:r>
              <a:rPr lang="ru-RU" dirty="0" smtClean="0"/>
              <a:t> </a:t>
            </a:r>
            <a:r>
              <a:rPr lang="ru-RU" dirty="0"/>
              <a:t>— это не просто историческая справка, а фундамент глубокого обучения. На его примере </a:t>
            </a:r>
            <a:r>
              <a:rPr lang="ru-RU" dirty="0" smtClean="0"/>
              <a:t>демонстрируются </a:t>
            </a:r>
            <a:r>
              <a:rPr lang="ru-RU" dirty="0"/>
              <a:t>все ключевые понятия машинного обучения: наличие репрезентативной выборки, формализация цели через функцию потерь, итерационная оптимизация параметров с помощью градиента и геометрическая интерпретация разделения пространств. Понимание механики одного нейрона делает прозрачным устройство огромных языковых моделей, разница которых лишь в количестве слоев, форме кривизны активационных функций и объеме обрабатываемых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A8D9AD5-F248-4919-864A-CFD76CC027D6}" type="slidenum">
              <a:rPr lang="ru-RU" noProof="0" smtClean="0"/>
              <a:t>39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5317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Сине-зеленые полосы (16:9)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247022_TF02895254.potx" id="{198CF2A0-90BF-459D-9533-A31A2DA98B2D}" vid="{4210E57F-7762-4228-BD18-F5500C92346E}"/>
    </a:ext>
  </a:extLst>
</a:theme>
</file>

<file path=ppt/theme/theme2.xml><?xml version="1.0" encoding="utf-8"?>
<a:theme xmlns:a="http://schemas.openxmlformats.org/drawingml/2006/main" name="Тема Offic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C2023F-644C-4F7E-8E8C-CDBE4A63C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B0D886-CB8D-4564-A797-C05BC7D513A8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D65A2C9-CB67-4F36-A412-EEC1AD297F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с сине-зеленой каймой (широкоэкранный формат)</Template>
  <TotalTime>353</TotalTime>
  <Words>3004</Words>
  <Application>Microsoft Office PowerPoint</Application>
  <PresentationFormat>Широкоэкранный</PresentationFormat>
  <Paragraphs>150</Paragraphs>
  <Slides>39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Open Sans</vt:lpstr>
      <vt:lpstr>Symbol</vt:lpstr>
      <vt:lpstr>Сине-зеленые полосы (16:9)</vt:lpstr>
      <vt:lpstr>Принципы обучения нейронных сетей</vt:lpstr>
      <vt:lpstr>Зачем изучать нейронные сети</vt:lpstr>
      <vt:lpstr>Зачем изучать нейронные сети</vt:lpstr>
      <vt:lpstr>Зачем изучать нейронные сети</vt:lpstr>
      <vt:lpstr>Зачем изучать нейронные сети</vt:lpstr>
      <vt:lpstr>Зачем изучать нейронные сети</vt:lpstr>
      <vt:lpstr>Зачем изучать нейронные сети</vt:lpstr>
      <vt:lpstr>Зачем изучать нейронные сети</vt:lpstr>
      <vt:lpstr>От биологии к формальной модели</vt:lpstr>
      <vt:lpstr>Биологический нейрон</vt:lpstr>
      <vt:lpstr>Нейронные сети</vt:lpstr>
      <vt:lpstr>Нейронные сети</vt:lpstr>
      <vt:lpstr>Перцептрон Розенблатта</vt:lpstr>
      <vt:lpstr>Перцептрон Розенблатта</vt:lpstr>
      <vt:lpstr>Модель биологического нейрона</vt:lpstr>
      <vt:lpstr>Перцептрон Розенблатта</vt:lpstr>
      <vt:lpstr>Перцептрон Розенблатта</vt:lpstr>
      <vt:lpstr>Перцептрон Розенблатта</vt:lpstr>
      <vt:lpstr>Перцептрон Розенблатта</vt:lpstr>
      <vt:lpstr>Перцептрон Розенблатта</vt:lpstr>
      <vt:lpstr>Перцептрон Розенблатта</vt:lpstr>
      <vt:lpstr>Сумматор нейрона</vt:lpstr>
      <vt:lpstr>Сумматор нейрона</vt:lpstr>
      <vt:lpstr>Сумматор нейрона</vt:lpstr>
      <vt:lpstr>Сумматор нейрона</vt:lpstr>
      <vt:lpstr>Сумматор нейрона</vt:lpstr>
      <vt:lpstr>Сигмоида</vt:lpstr>
      <vt:lpstr>Обучение нейрона</vt:lpstr>
      <vt:lpstr>Геометрическая интерпретация решающей границы</vt:lpstr>
      <vt:lpstr>Обучающая выборка</vt:lpstr>
      <vt:lpstr>Функция ошибки</vt:lpstr>
      <vt:lpstr>Числовой пример: прямой проход</vt:lpstr>
      <vt:lpstr>Числовой пример: вычисление ошибки</vt:lpstr>
      <vt:lpstr>Идея градиентного спуска</vt:lpstr>
      <vt:lpstr>Правило обновления весов</vt:lpstr>
      <vt:lpstr>Роль коэффициента обучения</vt:lpstr>
      <vt:lpstr>Геометрический смысл перцептрона</vt:lpstr>
      <vt:lpstr>Ограничения однослойного перцептрона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 заголовка</dc:title>
  <dc:creator>Сергей Н. Ткаченко</dc:creator>
  <cp:lastModifiedBy>Сергей Н. Ткаченко</cp:lastModifiedBy>
  <cp:revision>70</cp:revision>
  <dcterms:created xsi:type="dcterms:W3CDTF">2026-07-22T14:53:45Z</dcterms:created>
  <dcterms:modified xsi:type="dcterms:W3CDTF">2026-07-23T15:44:54Z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